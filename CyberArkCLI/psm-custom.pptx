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1" y="1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06-Apr-26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06-Apr-26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50000" y="1101725"/>
            <a:ext cx="4801870" cy="4686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1D3A5E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06-Apr-26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06-Apr-26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06-Apr-26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761999"/>
            <a:ext cx="12192000" cy="149860"/>
          </a:xfrm>
          <a:custGeom>
            <a:avLst/>
            <a:gdLst/>
            <a:ahLst/>
            <a:cxnLst/>
            <a:rect l="l" t="t" r="r" b="b"/>
            <a:pathLst>
              <a:path w="12192000" h="149859">
                <a:moveTo>
                  <a:pt x="12191999" y="149351"/>
                </a:moveTo>
                <a:lnTo>
                  <a:pt x="0" y="149351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49351"/>
                </a:lnTo>
                <a:close/>
              </a:path>
            </a:pathLst>
          </a:custGeom>
          <a:solidFill>
            <a:srgbClr val="000000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8300" y="215900"/>
            <a:ext cx="3765550" cy="345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8162" y="1795462"/>
            <a:ext cx="11111230" cy="3652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06-Apr-26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2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5.png"/><Relationship Id="rId7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11" Type="http://schemas.openxmlformats.org/officeDocument/2006/relationships/image" Target="../media/image24.png"/><Relationship Id="rId5" Type="http://schemas.openxmlformats.org/officeDocument/2006/relationships/image" Target="../media/image35.png"/><Relationship Id="rId10" Type="http://schemas.openxmlformats.org/officeDocument/2006/relationships/image" Target="../media/image47.png"/><Relationship Id="rId4" Type="http://schemas.openxmlformats.org/officeDocument/2006/relationships/image" Target="../media/image30.pn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image" Target="../media/image53.png"/><Relationship Id="rId4" Type="http://schemas.openxmlformats.org/officeDocument/2006/relationships/image" Target="../media/image13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48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9.png"/><Relationship Id="rId7" Type="http://schemas.openxmlformats.org/officeDocument/2006/relationships/image" Target="../media/image48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61.png"/><Relationship Id="rId4" Type="http://schemas.openxmlformats.org/officeDocument/2006/relationships/image" Target="../media/image63.png"/><Relationship Id="rId9" Type="http://schemas.openxmlformats.org/officeDocument/2006/relationships/image" Target="../media/image6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48.png"/><Relationship Id="rId4" Type="http://schemas.openxmlformats.org/officeDocument/2006/relationships/image" Target="../media/image6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69.png"/><Relationship Id="rId7" Type="http://schemas.openxmlformats.org/officeDocument/2006/relationships/image" Target="../media/image61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48.png"/><Relationship Id="rId4" Type="http://schemas.openxmlformats.org/officeDocument/2006/relationships/image" Target="../media/image7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48.png"/><Relationship Id="rId4" Type="http://schemas.openxmlformats.org/officeDocument/2006/relationships/image" Target="../media/image7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82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1.png"/><Relationship Id="rId5" Type="http://schemas.openxmlformats.org/officeDocument/2006/relationships/image" Target="../media/image48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84.png"/><Relationship Id="rId7" Type="http://schemas.openxmlformats.org/officeDocument/2006/relationships/image" Target="../media/image3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24.png"/><Relationship Id="rId5" Type="http://schemas.openxmlformats.org/officeDocument/2006/relationships/image" Target="../media/image45.png"/><Relationship Id="rId10" Type="http://schemas.openxmlformats.org/officeDocument/2006/relationships/image" Target="../media/image86.png"/><Relationship Id="rId4" Type="http://schemas.openxmlformats.org/officeDocument/2006/relationships/image" Target="../media/image30.png"/><Relationship Id="rId9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13.png"/><Relationship Id="rId7" Type="http://schemas.openxmlformats.org/officeDocument/2006/relationships/image" Target="../media/image91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0.png"/><Relationship Id="rId11" Type="http://schemas.openxmlformats.org/officeDocument/2006/relationships/image" Target="../media/image64.png"/><Relationship Id="rId5" Type="http://schemas.openxmlformats.org/officeDocument/2006/relationships/image" Target="../media/image89.png"/><Relationship Id="rId10" Type="http://schemas.openxmlformats.org/officeDocument/2006/relationships/image" Target="../media/image24.png"/><Relationship Id="rId4" Type="http://schemas.openxmlformats.org/officeDocument/2006/relationships/image" Target="../media/image53.png"/><Relationship Id="rId9" Type="http://schemas.openxmlformats.org/officeDocument/2006/relationships/image" Target="../media/image9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5.png"/><Relationship Id="rId7" Type="http://schemas.openxmlformats.org/officeDocument/2006/relationships/image" Target="../media/image98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5" Type="http://schemas.openxmlformats.org/officeDocument/2006/relationships/image" Target="../media/image96.png"/><Relationship Id="rId10" Type="http://schemas.openxmlformats.org/officeDocument/2006/relationships/image" Target="../media/image101.png"/><Relationship Id="rId4" Type="http://schemas.openxmlformats.org/officeDocument/2006/relationships/image" Target="../media/image48.png"/><Relationship Id="rId9" Type="http://schemas.openxmlformats.org/officeDocument/2006/relationships/image" Target="../media/image10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61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5.png"/><Relationship Id="rId7" Type="http://schemas.openxmlformats.org/officeDocument/2006/relationships/image" Target="../media/image107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5" Type="http://schemas.openxmlformats.org/officeDocument/2006/relationships/image" Target="../media/image26.png"/><Relationship Id="rId4" Type="http://schemas.openxmlformats.org/officeDocument/2006/relationships/image" Target="../media/image85.png"/><Relationship Id="rId9" Type="http://schemas.openxmlformats.org/officeDocument/2006/relationships/image" Target="../media/image6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10.png"/><Relationship Id="rId7" Type="http://schemas.openxmlformats.org/officeDocument/2006/relationships/image" Target="../media/image112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78.png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48.pn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9.png"/><Relationship Id="rId7" Type="http://schemas.openxmlformats.org/officeDocument/2006/relationships/image" Target="../media/image119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Relationship Id="rId9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793991"/>
            <a:ext cx="12192000" cy="64135"/>
          </a:xfrm>
          <a:custGeom>
            <a:avLst/>
            <a:gdLst/>
            <a:ahLst/>
            <a:cxnLst/>
            <a:rect l="l" t="t" r="r" b="b"/>
            <a:pathLst>
              <a:path w="12192000" h="64134">
                <a:moveTo>
                  <a:pt x="0" y="0"/>
                </a:moveTo>
                <a:lnTo>
                  <a:pt x="12191999" y="0"/>
                </a:lnTo>
                <a:lnTo>
                  <a:pt x="12191999" y="64008"/>
                </a:ln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620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2500" y="952499"/>
              <a:ext cx="1905000" cy="1143000"/>
            </a:xfrm>
            <a:custGeom>
              <a:avLst/>
              <a:gdLst/>
              <a:ahLst/>
              <a:cxnLst/>
              <a:rect l="l" t="t" r="r" b="b"/>
              <a:pathLst>
                <a:path w="1905000" h="1143000">
                  <a:moveTo>
                    <a:pt x="1828800" y="1143000"/>
                  </a:moveTo>
                  <a:lnTo>
                    <a:pt x="76200" y="1143000"/>
                  </a:lnTo>
                  <a:lnTo>
                    <a:pt x="68693" y="1142637"/>
                  </a:lnTo>
                  <a:lnTo>
                    <a:pt x="27882" y="1125733"/>
                  </a:lnTo>
                  <a:lnTo>
                    <a:pt x="3262" y="1088886"/>
                  </a:lnTo>
                  <a:lnTo>
                    <a:pt x="0" y="1066800"/>
                  </a:lnTo>
                  <a:lnTo>
                    <a:pt x="0" y="76200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200" y="0"/>
                  </a:lnTo>
                  <a:lnTo>
                    <a:pt x="1828800" y="0"/>
                  </a:lnTo>
                  <a:lnTo>
                    <a:pt x="1871142" y="12830"/>
                  </a:lnTo>
                  <a:lnTo>
                    <a:pt x="1899199" y="47039"/>
                  </a:lnTo>
                  <a:lnTo>
                    <a:pt x="1905000" y="76200"/>
                  </a:lnTo>
                  <a:lnTo>
                    <a:pt x="1905000" y="1066800"/>
                  </a:lnTo>
                  <a:lnTo>
                    <a:pt x="1892169" y="1109142"/>
                  </a:lnTo>
                  <a:lnTo>
                    <a:pt x="1857960" y="1137199"/>
                  </a:lnTo>
                  <a:lnTo>
                    <a:pt x="1828800" y="1143000"/>
                  </a:lnTo>
                  <a:close/>
                </a:path>
              </a:pathLst>
            </a:custGeom>
            <a:solidFill>
              <a:srgbClr val="3B81F5">
                <a:alpha val="30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52500" y="952500"/>
              <a:ext cx="1905000" cy="1143000"/>
            </a:xfrm>
            <a:custGeom>
              <a:avLst/>
              <a:gdLst/>
              <a:ahLst/>
              <a:cxnLst/>
              <a:rect l="l" t="t" r="r" b="b"/>
              <a:pathLst>
                <a:path w="1905000" h="1143000">
                  <a:moveTo>
                    <a:pt x="1828799" y="1142999"/>
                  </a:moveTo>
                  <a:lnTo>
                    <a:pt x="76199" y="1142999"/>
                  </a:lnTo>
                  <a:lnTo>
                    <a:pt x="68693" y="1142637"/>
                  </a:lnTo>
                  <a:lnTo>
                    <a:pt x="27882" y="1125733"/>
                  </a:lnTo>
                  <a:lnTo>
                    <a:pt x="3262" y="1088886"/>
                  </a:lnTo>
                  <a:lnTo>
                    <a:pt x="0" y="106679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1828799" y="0"/>
                  </a:lnTo>
                  <a:lnTo>
                    <a:pt x="1865620" y="9524"/>
                  </a:lnTo>
                  <a:lnTo>
                    <a:pt x="71822" y="9524"/>
                  </a:lnTo>
                  <a:lnTo>
                    <a:pt x="67486" y="9952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2"/>
                  </a:lnTo>
                  <a:lnTo>
                    <a:pt x="9524" y="1071176"/>
                  </a:lnTo>
                  <a:lnTo>
                    <a:pt x="23194" y="1107481"/>
                  </a:lnTo>
                  <a:lnTo>
                    <a:pt x="54729" y="1130073"/>
                  </a:lnTo>
                  <a:lnTo>
                    <a:pt x="71822" y="1133474"/>
                  </a:lnTo>
                  <a:lnTo>
                    <a:pt x="1865619" y="1133474"/>
                  </a:lnTo>
                  <a:lnTo>
                    <a:pt x="1864756" y="1133991"/>
                  </a:lnTo>
                  <a:lnTo>
                    <a:pt x="1857960" y="1137199"/>
                  </a:lnTo>
                  <a:lnTo>
                    <a:pt x="1850886" y="1139737"/>
                  </a:lnTo>
                  <a:lnTo>
                    <a:pt x="1843668" y="1141550"/>
                  </a:lnTo>
                  <a:lnTo>
                    <a:pt x="1836306" y="1142637"/>
                  </a:lnTo>
                  <a:lnTo>
                    <a:pt x="1828799" y="1142999"/>
                  </a:lnTo>
                  <a:close/>
                </a:path>
                <a:path w="1905000" h="1143000">
                  <a:moveTo>
                    <a:pt x="1865619" y="1133474"/>
                  </a:moveTo>
                  <a:lnTo>
                    <a:pt x="1833176" y="1133474"/>
                  </a:lnTo>
                  <a:lnTo>
                    <a:pt x="1837514" y="1133048"/>
                  </a:lnTo>
                  <a:lnTo>
                    <a:pt x="1846100" y="1131338"/>
                  </a:lnTo>
                  <a:lnTo>
                    <a:pt x="1879040" y="1110849"/>
                  </a:lnTo>
                  <a:lnTo>
                    <a:pt x="1895048" y="1075514"/>
                  </a:lnTo>
                  <a:lnTo>
                    <a:pt x="1895474" y="1071176"/>
                  </a:lnTo>
                  <a:lnTo>
                    <a:pt x="1895474" y="71822"/>
                  </a:lnTo>
                  <a:lnTo>
                    <a:pt x="1881804" y="35517"/>
                  </a:lnTo>
                  <a:lnTo>
                    <a:pt x="1849957" y="12830"/>
                  </a:lnTo>
                  <a:lnTo>
                    <a:pt x="1833176" y="9524"/>
                  </a:lnTo>
                  <a:lnTo>
                    <a:pt x="1865620" y="9524"/>
                  </a:lnTo>
                  <a:lnTo>
                    <a:pt x="1895991" y="40243"/>
                  </a:lnTo>
                  <a:lnTo>
                    <a:pt x="1904999" y="76199"/>
                  </a:lnTo>
                  <a:lnTo>
                    <a:pt x="1904999" y="1066799"/>
                  </a:lnTo>
                  <a:lnTo>
                    <a:pt x="1892169" y="1109142"/>
                  </a:lnTo>
                  <a:lnTo>
                    <a:pt x="1871271" y="1130073"/>
                  </a:lnTo>
                  <a:lnTo>
                    <a:pt x="1865619" y="1133474"/>
                  </a:lnTo>
                  <a:close/>
                </a:path>
              </a:pathLst>
            </a:custGeom>
            <a:solidFill>
              <a:srgbClr val="3B81F5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334500" y="4000499"/>
              <a:ext cx="1428750" cy="952500"/>
            </a:xfrm>
            <a:custGeom>
              <a:avLst/>
              <a:gdLst/>
              <a:ahLst/>
              <a:cxnLst/>
              <a:rect l="l" t="t" r="r" b="b"/>
              <a:pathLst>
                <a:path w="1428750" h="952500">
                  <a:moveTo>
                    <a:pt x="1352550" y="952500"/>
                  </a:moveTo>
                  <a:lnTo>
                    <a:pt x="76200" y="952500"/>
                  </a:lnTo>
                  <a:lnTo>
                    <a:pt x="68693" y="952137"/>
                  </a:lnTo>
                  <a:lnTo>
                    <a:pt x="27882" y="935233"/>
                  </a:lnTo>
                  <a:lnTo>
                    <a:pt x="3262" y="898386"/>
                  </a:lnTo>
                  <a:lnTo>
                    <a:pt x="0" y="876300"/>
                  </a:lnTo>
                  <a:lnTo>
                    <a:pt x="0" y="76200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200" y="0"/>
                  </a:lnTo>
                  <a:lnTo>
                    <a:pt x="1352550" y="0"/>
                  </a:lnTo>
                  <a:lnTo>
                    <a:pt x="1394892" y="12830"/>
                  </a:lnTo>
                  <a:lnTo>
                    <a:pt x="1422949" y="47039"/>
                  </a:lnTo>
                  <a:lnTo>
                    <a:pt x="1428750" y="76200"/>
                  </a:lnTo>
                  <a:lnTo>
                    <a:pt x="1428750" y="876300"/>
                  </a:lnTo>
                  <a:lnTo>
                    <a:pt x="1415919" y="918642"/>
                  </a:lnTo>
                  <a:lnTo>
                    <a:pt x="1381710" y="946699"/>
                  </a:lnTo>
                  <a:lnTo>
                    <a:pt x="1352550" y="952500"/>
                  </a:lnTo>
                  <a:close/>
                </a:path>
              </a:pathLst>
            </a:custGeom>
            <a:solidFill>
              <a:srgbClr val="3B81F5">
                <a:alpha val="20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34499" y="4000499"/>
              <a:ext cx="1428750" cy="952500"/>
            </a:xfrm>
            <a:custGeom>
              <a:avLst/>
              <a:gdLst/>
              <a:ahLst/>
              <a:cxnLst/>
              <a:rect l="l" t="t" r="r" b="b"/>
              <a:pathLst>
                <a:path w="1428750" h="952500">
                  <a:moveTo>
                    <a:pt x="1352549" y="952499"/>
                  </a:moveTo>
                  <a:lnTo>
                    <a:pt x="76199" y="952499"/>
                  </a:lnTo>
                  <a:lnTo>
                    <a:pt x="68693" y="952137"/>
                  </a:lnTo>
                  <a:lnTo>
                    <a:pt x="27882" y="935233"/>
                  </a:lnTo>
                  <a:lnTo>
                    <a:pt x="3262" y="898386"/>
                  </a:lnTo>
                  <a:lnTo>
                    <a:pt x="0" y="87629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1352549" y="0"/>
                  </a:lnTo>
                  <a:lnTo>
                    <a:pt x="1389370" y="9524"/>
                  </a:lnTo>
                  <a:lnTo>
                    <a:pt x="71822" y="9524"/>
                  </a:lnTo>
                  <a:lnTo>
                    <a:pt x="67486" y="9952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2"/>
                  </a:lnTo>
                  <a:lnTo>
                    <a:pt x="9524" y="880676"/>
                  </a:lnTo>
                  <a:lnTo>
                    <a:pt x="9833" y="883806"/>
                  </a:lnTo>
                  <a:lnTo>
                    <a:pt x="9952" y="885014"/>
                  </a:lnTo>
                  <a:lnTo>
                    <a:pt x="25957" y="920349"/>
                  </a:lnTo>
                  <a:lnTo>
                    <a:pt x="58898" y="940838"/>
                  </a:lnTo>
                  <a:lnTo>
                    <a:pt x="71822" y="942974"/>
                  </a:lnTo>
                  <a:lnTo>
                    <a:pt x="1389369" y="942974"/>
                  </a:lnTo>
                  <a:lnTo>
                    <a:pt x="1388506" y="943491"/>
                  </a:lnTo>
                  <a:lnTo>
                    <a:pt x="1381710" y="946699"/>
                  </a:lnTo>
                  <a:lnTo>
                    <a:pt x="1374636" y="949237"/>
                  </a:lnTo>
                  <a:lnTo>
                    <a:pt x="1367418" y="951050"/>
                  </a:lnTo>
                  <a:lnTo>
                    <a:pt x="1360056" y="952137"/>
                  </a:lnTo>
                  <a:lnTo>
                    <a:pt x="1352549" y="952499"/>
                  </a:lnTo>
                  <a:close/>
                </a:path>
                <a:path w="1428750" h="952500">
                  <a:moveTo>
                    <a:pt x="1389369" y="942974"/>
                  </a:moveTo>
                  <a:lnTo>
                    <a:pt x="1356926" y="942974"/>
                  </a:lnTo>
                  <a:lnTo>
                    <a:pt x="1361264" y="942548"/>
                  </a:lnTo>
                  <a:lnTo>
                    <a:pt x="1369850" y="940838"/>
                  </a:lnTo>
                  <a:lnTo>
                    <a:pt x="1402793" y="920349"/>
                  </a:lnTo>
                  <a:lnTo>
                    <a:pt x="1418798" y="885014"/>
                  </a:lnTo>
                  <a:lnTo>
                    <a:pt x="1419224" y="880676"/>
                  </a:lnTo>
                  <a:lnTo>
                    <a:pt x="1419224" y="71822"/>
                  </a:lnTo>
                  <a:lnTo>
                    <a:pt x="1418917" y="68693"/>
                  </a:lnTo>
                  <a:lnTo>
                    <a:pt x="1418798" y="67486"/>
                  </a:lnTo>
                  <a:lnTo>
                    <a:pt x="1402793" y="32149"/>
                  </a:lnTo>
                  <a:lnTo>
                    <a:pt x="1369850" y="11660"/>
                  </a:lnTo>
                  <a:lnTo>
                    <a:pt x="1356926" y="9524"/>
                  </a:lnTo>
                  <a:lnTo>
                    <a:pt x="1389370" y="9524"/>
                  </a:lnTo>
                  <a:lnTo>
                    <a:pt x="1419741" y="40243"/>
                  </a:lnTo>
                  <a:lnTo>
                    <a:pt x="1428749" y="76199"/>
                  </a:lnTo>
                  <a:lnTo>
                    <a:pt x="1428749" y="876299"/>
                  </a:lnTo>
                  <a:lnTo>
                    <a:pt x="1415919" y="918642"/>
                  </a:lnTo>
                  <a:lnTo>
                    <a:pt x="1395021" y="939573"/>
                  </a:lnTo>
                  <a:lnTo>
                    <a:pt x="1389369" y="942974"/>
                  </a:lnTo>
                  <a:close/>
                </a:path>
              </a:pathLst>
            </a:custGeom>
            <a:solidFill>
              <a:srgbClr val="3B81F5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39800" y="564795"/>
            <a:ext cx="160401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70" dirty="0">
                <a:solidFill>
                  <a:srgbClr val="94A2B8"/>
                </a:solidFill>
                <a:latin typeface="Microsoft Sans Serif"/>
                <a:cs typeface="Microsoft Sans Serif"/>
              </a:rPr>
              <a:t>LIVE</a:t>
            </a:r>
            <a:r>
              <a:rPr sz="1150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150" spc="-60" dirty="0">
                <a:solidFill>
                  <a:srgbClr val="94A2B8"/>
                </a:solidFill>
                <a:latin typeface="Microsoft Sans Serif"/>
                <a:cs typeface="Microsoft Sans Serif"/>
              </a:rPr>
              <a:t>TRAINING</a:t>
            </a:r>
            <a:r>
              <a:rPr sz="1150" spc="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150" spc="-70" dirty="0">
                <a:solidFill>
                  <a:srgbClr val="94A2B8"/>
                </a:solidFill>
                <a:latin typeface="Microsoft Sans Serif"/>
                <a:cs typeface="Microsoft Sans Serif"/>
              </a:rPr>
              <a:t>SESSION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30936" y="505968"/>
            <a:ext cx="10123170" cy="1094740"/>
            <a:chOff x="630936" y="505968"/>
            <a:chExt cx="10123170" cy="109474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39409" y="609600"/>
              <a:ext cx="114300" cy="1143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30936" y="505968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5">
                  <a:moveTo>
                    <a:pt x="338327" y="338327"/>
                  </a:moveTo>
                  <a:lnTo>
                    <a:pt x="0" y="338327"/>
                  </a:lnTo>
                  <a:lnTo>
                    <a:pt x="0" y="0"/>
                  </a:lnTo>
                  <a:lnTo>
                    <a:pt x="338327" y="0"/>
                  </a:lnTo>
                  <a:lnTo>
                    <a:pt x="338327" y="141731"/>
                  </a:lnTo>
                  <a:lnTo>
                    <a:pt x="161273" y="141731"/>
                  </a:lnTo>
                  <a:lnTo>
                    <a:pt x="154538" y="144521"/>
                  </a:lnTo>
                  <a:lnTo>
                    <a:pt x="143378" y="155681"/>
                  </a:lnTo>
                  <a:lnTo>
                    <a:pt x="140588" y="162416"/>
                  </a:lnTo>
                  <a:lnTo>
                    <a:pt x="140588" y="178197"/>
                  </a:lnTo>
                  <a:lnTo>
                    <a:pt x="143378" y="184932"/>
                  </a:lnTo>
                  <a:lnTo>
                    <a:pt x="154538" y="196092"/>
                  </a:lnTo>
                  <a:lnTo>
                    <a:pt x="161273" y="198881"/>
                  </a:lnTo>
                  <a:lnTo>
                    <a:pt x="338327" y="198881"/>
                  </a:lnTo>
                  <a:lnTo>
                    <a:pt x="338327" y="338327"/>
                  </a:lnTo>
                  <a:close/>
                </a:path>
                <a:path w="338455" h="338455">
                  <a:moveTo>
                    <a:pt x="338327" y="198881"/>
                  </a:moveTo>
                  <a:lnTo>
                    <a:pt x="177054" y="198881"/>
                  </a:lnTo>
                  <a:lnTo>
                    <a:pt x="183789" y="196092"/>
                  </a:lnTo>
                  <a:lnTo>
                    <a:pt x="194949" y="184932"/>
                  </a:lnTo>
                  <a:lnTo>
                    <a:pt x="197738" y="178197"/>
                  </a:lnTo>
                  <a:lnTo>
                    <a:pt x="197738" y="162416"/>
                  </a:lnTo>
                  <a:lnTo>
                    <a:pt x="194949" y="155681"/>
                  </a:lnTo>
                  <a:lnTo>
                    <a:pt x="183789" y="144521"/>
                  </a:lnTo>
                  <a:lnTo>
                    <a:pt x="177054" y="141731"/>
                  </a:lnTo>
                  <a:lnTo>
                    <a:pt x="338327" y="141731"/>
                  </a:lnTo>
                  <a:lnTo>
                    <a:pt x="338327" y="198881"/>
                  </a:lnTo>
                  <a:close/>
                </a:path>
              </a:pathLst>
            </a:custGeom>
            <a:solidFill>
              <a:srgbClr val="0FB981">
                <a:alpha val="882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000" y="638175"/>
              <a:ext cx="76200" cy="762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62000" y="1333499"/>
              <a:ext cx="1524000" cy="266700"/>
            </a:xfrm>
            <a:custGeom>
              <a:avLst/>
              <a:gdLst/>
              <a:ahLst/>
              <a:cxnLst/>
              <a:rect l="l" t="t" r="r" b="b"/>
              <a:pathLst>
                <a:path w="1524000" h="266700">
                  <a:moveTo>
                    <a:pt x="1485900" y="266700"/>
                  </a:moveTo>
                  <a:lnTo>
                    <a:pt x="38100" y="266700"/>
                  </a:lnTo>
                  <a:lnTo>
                    <a:pt x="30497" y="266002"/>
                  </a:lnTo>
                  <a:lnTo>
                    <a:pt x="697" y="236202"/>
                  </a:lnTo>
                  <a:lnTo>
                    <a:pt x="0" y="228600"/>
                  </a:lnTo>
                  <a:lnTo>
                    <a:pt x="0" y="38100"/>
                  </a:lnTo>
                  <a:lnTo>
                    <a:pt x="23473" y="2789"/>
                  </a:lnTo>
                  <a:lnTo>
                    <a:pt x="38100" y="0"/>
                  </a:lnTo>
                  <a:lnTo>
                    <a:pt x="1485900" y="0"/>
                  </a:lnTo>
                  <a:lnTo>
                    <a:pt x="1521210" y="23473"/>
                  </a:lnTo>
                  <a:lnTo>
                    <a:pt x="1524000" y="38100"/>
                  </a:lnTo>
                  <a:lnTo>
                    <a:pt x="1524000" y="228600"/>
                  </a:lnTo>
                  <a:lnTo>
                    <a:pt x="1500526" y="263910"/>
                  </a:lnTo>
                  <a:lnTo>
                    <a:pt x="1485900" y="266700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1999" y="1333500"/>
              <a:ext cx="1524000" cy="266700"/>
            </a:xfrm>
            <a:custGeom>
              <a:avLst/>
              <a:gdLst/>
              <a:ahLst/>
              <a:cxnLst/>
              <a:rect l="l" t="t" r="r" b="b"/>
              <a:pathLst>
                <a:path w="1524000" h="266700">
                  <a:moveTo>
                    <a:pt x="1485899" y="266699"/>
                  </a:moveTo>
                  <a:lnTo>
                    <a:pt x="38099" y="266699"/>
                  </a:lnTo>
                  <a:lnTo>
                    <a:pt x="30497" y="266002"/>
                  </a:lnTo>
                  <a:lnTo>
                    <a:pt x="697" y="236202"/>
                  </a:lnTo>
                  <a:lnTo>
                    <a:pt x="0" y="38099"/>
                  </a:lnTo>
                  <a:lnTo>
                    <a:pt x="681" y="30665"/>
                  </a:lnTo>
                  <a:lnTo>
                    <a:pt x="697" y="30497"/>
                  </a:lnTo>
                  <a:lnTo>
                    <a:pt x="2732" y="23664"/>
                  </a:lnTo>
                  <a:lnTo>
                    <a:pt x="2789" y="23473"/>
                  </a:lnTo>
                  <a:lnTo>
                    <a:pt x="38099" y="0"/>
                  </a:lnTo>
                  <a:lnTo>
                    <a:pt x="1485899" y="0"/>
                  </a:lnTo>
                  <a:lnTo>
                    <a:pt x="1493502" y="697"/>
                  </a:lnTo>
                  <a:lnTo>
                    <a:pt x="1500526" y="2789"/>
                  </a:lnTo>
                  <a:lnTo>
                    <a:pt x="1506972" y="6276"/>
                  </a:lnTo>
                  <a:lnTo>
                    <a:pt x="1510877" y="9525"/>
                  </a:lnTo>
                  <a:lnTo>
                    <a:pt x="34310" y="9525"/>
                  </a:lnTo>
                  <a:lnTo>
                    <a:pt x="30665" y="10250"/>
                  </a:lnTo>
                  <a:lnTo>
                    <a:pt x="10319" y="30497"/>
                  </a:lnTo>
                  <a:lnTo>
                    <a:pt x="10250" y="30665"/>
                  </a:lnTo>
                  <a:lnTo>
                    <a:pt x="9525" y="34310"/>
                  </a:lnTo>
                  <a:lnTo>
                    <a:pt x="9525" y="232389"/>
                  </a:lnTo>
                  <a:lnTo>
                    <a:pt x="34310" y="257175"/>
                  </a:lnTo>
                  <a:lnTo>
                    <a:pt x="1510877" y="257175"/>
                  </a:lnTo>
                  <a:lnTo>
                    <a:pt x="1506972" y="260423"/>
                  </a:lnTo>
                  <a:lnTo>
                    <a:pt x="1500526" y="263910"/>
                  </a:lnTo>
                  <a:lnTo>
                    <a:pt x="1493502" y="266002"/>
                  </a:lnTo>
                  <a:lnTo>
                    <a:pt x="1485899" y="266699"/>
                  </a:lnTo>
                  <a:close/>
                </a:path>
                <a:path w="1524000" h="266700">
                  <a:moveTo>
                    <a:pt x="1510877" y="257175"/>
                  </a:moveTo>
                  <a:lnTo>
                    <a:pt x="1489688" y="257175"/>
                  </a:lnTo>
                  <a:lnTo>
                    <a:pt x="1493334" y="256449"/>
                  </a:lnTo>
                  <a:lnTo>
                    <a:pt x="1500335" y="253549"/>
                  </a:lnTo>
                  <a:lnTo>
                    <a:pt x="1503425" y="251485"/>
                  </a:lnTo>
                  <a:lnTo>
                    <a:pt x="1508784" y="246126"/>
                  </a:lnTo>
                  <a:lnTo>
                    <a:pt x="1510850" y="243035"/>
                  </a:lnTo>
                  <a:lnTo>
                    <a:pt x="1513680" y="236202"/>
                  </a:lnTo>
                  <a:lnTo>
                    <a:pt x="1513749" y="236034"/>
                  </a:lnTo>
                  <a:lnTo>
                    <a:pt x="1514474" y="232389"/>
                  </a:lnTo>
                  <a:lnTo>
                    <a:pt x="1514474" y="34310"/>
                  </a:lnTo>
                  <a:lnTo>
                    <a:pt x="1489688" y="9525"/>
                  </a:lnTo>
                  <a:lnTo>
                    <a:pt x="1510877" y="9525"/>
                  </a:lnTo>
                  <a:lnTo>
                    <a:pt x="1523999" y="38099"/>
                  </a:lnTo>
                  <a:lnTo>
                    <a:pt x="1523999" y="228599"/>
                  </a:lnTo>
                  <a:lnTo>
                    <a:pt x="1512841" y="255541"/>
                  </a:lnTo>
                  <a:lnTo>
                    <a:pt x="1510877" y="257175"/>
                  </a:lnTo>
                  <a:close/>
                </a:path>
              </a:pathLst>
            </a:custGeom>
            <a:solidFill>
              <a:srgbClr val="3B81F5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817225" y="574323"/>
            <a:ext cx="62547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4A2B8"/>
                </a:solidFill>
                <a:latin typeface="Microsoft Sans Serif"/>
                <a:cs typeface="Microsoft Sans Serif"/>
              </a:rPr>
              <a:t>45</a:t>
            </a:r>
            <a:r>
              <a:rPr sz="950" spc="5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4A2B8"/>
                </a:solidFill>
                <a:latin typeface="Microsoft Sans Serif"/>
                <a:cs typeface="Microsoft Sans Serif"/>
              </a:rPr>
              <a:t>minutes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3125" y="1366760"/>
            <a:ext cx="1306195" cy="1765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40" dirty="0">
                <a:solidFill>
                  <a:srgbClr val="3B81F5"/>
                </a:solidFill>
                <a:latin typeface="Arial"/>
                <a:cs typeface="Arial"/>
              </a:rPr>
              <a:t>TECHNICAL</a:t>
            </a:r>
            <a:r>
              <a:rPr sz="950" b="1" spc="-15" dirty="0">
                <a:solidFill>
                  <a:srgbClr val="3B81F5"/>
                </a:solidFill>
                <a:latin typeface="Arial"/>
                <a:cs typeface="Arial"/>
              </a:rPr>
              <a:t> </a:t>
            </a:r>
            <a:r>
              <a:rPr sz="950" b="1" spc="-70" dirty="0">
                <a:solidFill>
                  <a:srgbClr val="3B81F5"/>
                </a:solidFill>
                <a:latin typeface="Arial"/>
                <a:cs typeface="Arial"/>
              </a:rPr>
              <a:t>DEEP</a:t>
            </a:r>
            <a:r>
              <a:rPr sz="950" b="1" spc="-15" dirty="0">
                <a:solidFill>
                  <a:srgbClr val="3B81F5"/>
                </a:solidFill>
                <a:latin typeface="Arial"/>
                <a:cs typeface="Arial"/>
              </a:rPr>
              <a:t> </a:t>
            </a:r>
            <a:r>
              <a:rPr sz="950" b="1" spc="-20" dirty="0">
                <a:solidFill>
                  <a:srgbClr val="3B81F5"/>
                </a:solidFill>
                <a:latin typeface="Arial"/>
                <a:cs typeface="Arial"/>
              </a:rPr>
              <a:t>DIVE</a:t>
            </a:r>
            <a:endParaRPr sz="9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30014" y="1362723"/>
            <a:ext cx="79121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25" dirty="0">
                <a:solidFill>
                  <a:srgbClr val="94A2B8"/>
                </a:solidFill>
                <a:latin typeface="Microsoft Sans Serif"/>
                <a:cs typeface="Microsoft Sans Serif"/>
              </a:rPr>
              <a:t>Version</a:t>
            </a:r>
            <a:r>
              <a:rPr sz="1150" spc="-40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94A2B8"/>
                </a:solidFill>
                <a:latin typeface="Gill Sans MT"/>
                <a:cs typeface="Gill Sans MT"/>
              </a:rPr>
              <a:t>12.6</a:t>
            </a:r>
            <a:endParaRPr sz="1150">
              <a:latin typeface="Gill Sans MT"/>
              <a:cs typeface="Gill Sans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21208" y="1493519"/>
            <a:ext cx="5020310" cy="835660"/>
          </a:xfrm>
          <a:custGeom>
            <a:avLst/>
            <a:gdLst/>
            <a:ahLst/>
            <a:cxnLst/>
            <a:rect l="l" t="t" r="r" b="b"/>
            <a:pathLst>
              <a:path w="5020310" h="835660">
                <a:moveTo>
                  <a:pt x="5020055" y="835151"/>
                </a:moveTo>
                <a:lnTo>
                  <a:pt x="0" y="835151"/>
                </a:lnTo>
                <a:lnTo>
                  <a:pt x="0" y="0"/>
                </a:lnTo>
                <a:lnTo>
                  <a:pt x="5020055" y="0"/>
                </a:lnTo>
                <a:lnTo>
                  <a:pt x="5020055" y="835151"/>
                </a:lnTo>
                <a:close/>
              </a:path>
            </a:pathLst>
          </a:custGeom>
          <a:solidFill>
            <a:srgbClr val="3B81F5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49300" y="1591557"/>
            <a:ext cx="4542790" cy="1045844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 marR="5080">
              <a:lnSpc>
                <a:spcPts val="3750"/>
              </a:lnSpc>
              <a:spcBef>
                <a:spcPts val="665"/>
              </a:spcBef>
            </a:pPr>
            <a:r>
              <a:rPr sz="3550" b="1" spc="-270" dirty="0">
                <a:solidFill>
                  <a:srgbClr val="3B81F5"/>
                </a:solidFill>
                <a:latin typeface="Arial"/>
                <a:cs typeface="Arial"/>
              </a:rPr>
              <a:t>PSM</a:t>
            </a:r>
            <a:r>
              <a:rPr sz="3550" b="1" spc="-360" dirty="0">
                <a:solidFill>
                  <a:srgbClr val="3B81F5"/>
                </a:solidFill>
                <a:latin typeface="Arial"/>
                <a:cs typeface="Arial"/>
              </a:rPr>
              <a:t> </a:t>
            </a:r>
            <a:r>
              <a:rPr sz="3550" b="1" spc="-270" dirty="0">
                <a:solidFill>
                  <a:srgbClr val="3B81F5"/>
                </a:solidFill>
                <a:latin typeface="Arial"/>
                <a:cs typeface="Arial"/>
              </a:rPr>
              <a:t>Custom</a:t>
            </a:r>
            <a:r>
              <a:rPr sz="3550" b="1" spc="-355" dirty="0">
                <a:solidFill>
                  <a:srgbClr val="3B81F5"/>
                </a:solidFill>
                <a:latin typeface="Arial"/>
                <a:cs typeface="Arial"/>
              </a:rPr>
              <a:t> </a:t>
            </a:r>
            <a:r>
              <a:rPr sz="3550" b="1" spc="-225" dirty="0">
                <a:solidFill>
                  <a:srgbClr val="3B81F5"/>
                </a:solidFill>
                <a:latin typeface="Arial"/>
                <a:cs typeface="Arial"/>
              </a:rPr>
              <a:t>Connector </a:t>
            </a:r>
            <a:r>
              <a:rPr sz="3550" b="1" spc="-240" dirty="0">
                <a:solidFill>
                  <a:srgbClr val="F1F5F9"/>
                </a:solidFill>
                <a:latin typeface="Arial"/>
                <a:cs typeface="Arial"/>
              </a:rPr>
              <a:t>Development</a:t>
            </a:r>
            <a:r>
              <a:rPr sz="3550" b="1" spc="-300" dirty="0">
                <a:solidFill>
                  <a:srgbClr val="F1F5F9"/>
                </a:solidFill>
                <a:latin typeface="Arial"/>
                <a:cs typeface="Arial"/>
              </a:rPr>
              <a:t> </a:t>
            </a:r>
            <a:r>
              <a:rPr sz="3550" b="1" spc="-110" dirty="0">
                <a:solidFill>
                  <a:srgbClr val="F1F5F9"/>
                </a:solidFill>
                <a:latin typeface="Arial"/>
                <a:cs typeface="Arial"/>
              </a:rPr>
              <a:t>Training</a:t>
            </a:r>
            <a:endParaRPr sz="3550" dirty="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61999" y="3238499"/>
            <a:ext cx="7038991" cy="1647825"/>
            <a:chOff x="761999" y="3238499"/>
            <a:chExt cx="7038991" cy="1647825"/>
          </a:xfrm>
        </p:grpSpPr>
        <p:sp>
          <p:nvSpPr>
            <p:cNvPr id="21" name="object 21"/>
            <p:cNvSpPr/>
            <p:nvPr/>
          </p:nvSpPr>
          <p:spPr>
            <a:xfrm>
              <a:off x="761999" y="3238499"/>
              <a:ext cx="3401060" cy="1647825"/>
            </a:xfrm>
            <a:custGeom>
              <a:avLst/>
              <a:gdLst/>
              <a:ahLst/>
              <a:cxnLst/>
              <a:rect l="l" t="t" r="r" b="b"/>
              <a:pathLst>
                <a:path w="3401060" h="1647825">
                  <a:moveTo>
                    <a:pt x="3286140" y="1647809"/>
                  </a:moveTo>
                  <a:lnTo>
                    <a:pt x="114300" y="1647809"/>
                  </a:lnTo>
                  <a:lnTo>
                    <a:pt x="103040" y="1647266"/>
                  </a:lnTo>
                  <a:lnTo>
                    <a:pt x="60364" y="1634316"/>
                  </a:lnTo>
                  <a:lnTo>
                    <a:pt x="25899" y="1606005"/>
                  </a:lnTo>
                  <a:lnTo>
                    <a:pt x="4892" y="1566660"/>
                  </a:lnTo>
                  <a:lnTo>
                    <a:pt x="0" y="1533540"/>
                  </a:lnTo>
                  <a:lnTo>
                    <a:pt x="0" y="114300"/>
                  </a:lnTo>
                  <a:lnTo>
                    <a:pt x="8698" y="70561"/>
                  </a:lnTo>
                  <a:lnTo>
                    <a:pt x="33476" y="33467"/>
                  </a:lnTo>
                  <a:lnTo>
                    <a:pt x="70558" y="8686"/>
                  </a:lnTo>
                  <a:lnTo>
                    <a:pt x="114300" y="0"/>
                  </a:lnTo>
                  <a:lnTo>
                    <a:pt x="3286140" y="0"/>
                  </a:lnTo>
                  <a:lnTo>
                    <a:pt x="3329879" y="8686"/>
                  </a:lnTo>
                  <a:lnTo>
                    <a:pt x="3366942" y="33467"/>
                  </a:lnTo>
                  <a:lnTo>
                    <a:pt x="3391722" y="70561"/>
                  </a:lnTo>
                  <a:lnTo>
                    <a:pt x="3400440" y="114300"/>
                  </a:lnTo>
                  <a:lnTo>
                    <a:pt x="3400440" y="1533540"/>
                  </a:lnTo>
                  <a:lnTo>
                    <a:pt x="3391722" y="1577279"/>
                  </a:lnTo>
                  <a:lnTo>
                    <a:pt x="3366942" y="1614342"/>
                  </a:lnTo>
                  <a:lnTo>
                    <a:pt x="3329879" y="1639122"/>
                  </a:lnTo>
                  <a:lnTo>
                    <a:pt x="3286140" y="1647809"/>
                  </a:lnTo>
                  <a:close/>
                </a:path>
              </a:pathLst>
            </a:custGeom>
            <a:solidFill>
              <a:srgbClr val="1D293B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61999" y="3238499"/>
              <a:ext cx="3401060" cy="1647825"/>
            </a:xfrm>
            <a:custGeom>
              <a:avLst/>
              <a:gdLst/>
              <a:ahLst/>
              <a:cxnLst/>
              <a:rect l="l" t="t" r="r" b="b"/>
              <a:pathLst>
                <a:path w="3401060" h="1647825">
                  <a:moveTo>
                    <a:pt x="3286140" y="1647809"/>
                  </a:moveTo>
                  <a:lnTo>
                    <a:pt x="114299" y="1647809"/>
                  </a:lnTo>
                  <a:lnTo>
                    <a:pt x="103040" y="1647266"/>
                  </a:lnTo>
                  <a:lnTo>
                    <a:pt x="60364" y="1634316"/>
                  </a:lnTo>
                  <a:lnTo>
                    <a:pt x="25899" y="1606005"/>
                  </a:lnTo>
                  <a:lnTo>
                    <a:pt x="4892" y="1566660"/>
                  </a:lnTo>
                  <a:lnTo>
                    <a:pt x="0" y="114299"/>
                  </a:lnTo>
                  <a:lnTo>
                    <a:pt x="543" y="103042"/>
                  </a:lnTo>
                  <a:lnTo>
                    <a:pt x="13510" y="60371"/>
                  </a:lnTo>
                  <a:lnTo>
                    <a:pt x="41823" y="25900"/>
                  </a:lnTo>
                  <a:lnTo>
                    <a:pt x="81169" y="4886"/>
                  </a:lnTo>
                  <a:lnTo>
                    <a:pt x="114299" y="0"/>
                  </a:lnTo>
                  <a:lnTo>
                    <a:pt x="3286140" y="0"/>
                  </a:lnTo>
                  <a:lnTo>
                    <a:pt x="3329878" y="8686"/>
                  </a:lnTo>
                  <a:lnTo>
                    <a:pt x="3331648" y="9525"/>
                  </a:lnTo>
                  <a:lnTo>
                    <a:pt x="107420" y="9525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70"/>
                  </a:lnTo>
                  <a:lnTo>
                    <a:pt x="12880" y="87111"/>
                  </a:lnTo>
                  <a:lnTo>
                    <a:pt x="9525" y="107420"/>
                  </a:lnTo>
                  <a:lnTo>
                    <a:pt x="9525" y="1540404"/>
                  </a:lnTo>
                  <a:lnTo>
                    <a:pt x="20133" y="1579976"/>
                  </a:lnTo>
                  <a:lnTo>
                    <a:pt x="45077" y="1612477"/>
                  </a:lnTo>
                  <a:lnTo>
                    <a:pt x="80560" y="1632956"/>
                  </a:lnTo>
                  <a:lnTo>
                    <a:pt x="107420" y="1638300"/>
                  </a:lnTo>
                  <a:lnTo>
                    <a:pt x="3331622" y="1638300"/>
                  </a:lnTo>
                  <a:lnTo>
                    <a:pt x="3329878" y="1639122"/>
                  </a:lnTo>
                  <a:lnTo>
                    <a:pt x="3319259" y="1642923"/>
                  </a:lnTo>
                  <a:lnTo>
                    <a:pt x="3308432" y="1645638"/>
                  </a:lnTo>
                  <a:lnTo>
                    <a:pt x="3297393" y="1647266"/>
                  </a:lnTo>
                  <a:lnTo>
                    <a:pt x="3286140" y="1647809"/>
                  </a:lnTo>
                  <a:close/>
                </a:path>
                <a:path w="3401060" h="1647825">
                  <a:moveTo>
                    <a:pt x="3331622" y="1638300"/>
                  </a:moveTo>
                  <a:lnTo>
                    <a:pt x="3292998" y="1638300"/>
                  </a:lnTo>
                  <a:lnTo>
                    <a:pt x="3299825" y="1637629"/>
                  </a:lnTo>
                  <a:lnTo>
                    <a:pt x="3313297" y="1634944"/>
                  </a:lnTo>
                  <a:lnTo>
                    <a:pt x="3350056" y="1616820"/>
                  </a:lnTo>
                  <a:lnTo>
                    <a:pt x="3377061" y="1586014"/>
                  </a:lnTo>
                  <a:lnTo>
                    <a:pt x="3382914" y="1573621"/>
                  </a:lnTo>
                  <a:lnTo>
                    <a:pt x="3385565" y="1567263"/>
                  </a:lnTo>
                  <a:lnTo>
                    <a:pt x="3387547" y="1560713"/>
                  </a:lnTo>
                  <a:lnTo>
                    <a:pt x="3390229" y="1547216"/>
                  </a:lnTo>
                  <a:lnTo>
                    <a:pt x="3390899" y="1540404"/>
                  </a:lnTo>
                  <a:lnTo>
                    <a:pt x="3390899" y="107420"/>
                  </a:lnTo>
                  <a:lnTo>
                    <a:pt x="3390229" y="100606"/>
                  </a:lnTo>
                  <a:lnTo>
                    <a:pt x="3387547" y="87111"/>
                  </a:lnTo>
                  <a:lnTo>
                    <a:pt x="3385565" y="80560"/>
                  </a:lnTo>
                  <a:lnTo>
                    <a:pt x="3382914" y="74204"/>
                  </a:lnTo>
                  <a:lnTo>
                    <a:pt x="3380292" y="67848"/>
                  </a:lnTo>
                  <a:lnTo>
                    <a:pt x="3355360" y="35348"/>
                  </a:lnTo>
                  <a:lnTo>
                    <a:pt x="3319851" y="14867"/>
                  </a:lnTo>
                  <a:lnTo>
                    <a:pt x="3292998" y="9525"/>
                  </a:lnTo>
                  <a:lnTo>
                    <a:pt x="3331648" y="9525"/>
                  </a:lnTo>
                  <a:lnTo>
                    <a:pt x="3366942" y="33467"/>
                  </a:lnTo>
                  <a:lnTo>
                    <a:pt x="3391722" y="70561"/>
                  </a:lnTo>
                  <a:lnTo>
                    <a:pt x="3400440" y="114299"/>
                  </a:lnTo>
                  <a:lnTo>
                    <a:pt x="3400440" y="1533540"/>
                  </a:lnTo>
                  <a:lnTo>
                    <a:pt x="3391722" y="1577278"/>
                  </a:lnTo>
                  <a:lnTo>
                    <a:pt x="3366942" y="1614342"/>
                  </a:lnTo>
                  <a:lnTo>
                    <a:pt x="3340063" y="1634316"/>
                  </a:lnTo>
                  <a:lnTo>
                    <a:pt x="3331622" y="1638300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0125" y="3495690"/>
              <a:ext cx="238124" cy="1904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9291" y="3919905"/>
              <a:ext cx="118322" cy="8498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9291" y="4205655"/>
              <a:ext cx="118322" cy="8498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9291" y="4500945"/>
              <a:ext cx="118322" cy="8498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391040" y="3238499"/>
              <a:ext cx="3409950" cy="1647825"/>
            </a:xfrm>
            <a:custGeom>
              <a:avLst/>
              <a:gdLst/>
              <a:ahLst/>
              <a:cxnLst/>
              <a:rect l="l" t="t" r="r" b="b"/>
              <a:pathLst>
                <a:path w="3409950" h="1647825">
                  <a:moveTo>
                    <a:pt x="3295650" y="1647809"/>
                  </a:moveTo>
                  <a:lnTo>
                    <a:pt x="114269" y="1647809"/>
                  </a:lnTo>
                  <a:lnTo>
                    <a:pt x="103016" y="1647266"/>
                  </a:lnTo>
                  <a:lnTo>
                    <a:pt x="60341" y="1634316"/>
                  </a:lnTo>
                  <a:lnTo>
                    <a:pt x="25883" y="1606005"/>
                  </a:lnTo>
                  <a:lnTo>
                    <a:pt x="4882" y="1566660"/>
                  </a:lnTo>
                  <a:lnTo>
                    <a:pt x="0" y="1533540"/>
                  </a:lnTo>
                  <a:lnTo>
                    <a:pt x="0" y="114300"/>
                  </a:lnTo>
                  <a:lnTo>
                    <a:pt x="8686" y="70561"/>
                  </a:lnTo>
                  <a:lnTo>
                    <a:pt x="33467" y="33467"/>
                  </a:lnTo>
                  <a:lnTo>
                    <a:pt x="70530" y="8686"/>
                  </a:lnTo>
                  <a:lnTo>
                    <a:pt x="114269" y="0"/>
                  </a:lnTo>
                  <a:lnTo>
                    <a:pt x="3295650" y="0"/>
                  </a:lnTo>
                  <a:lnTo>
                    <a:pt x="3339388" y="8686"/>
                  </a:lnTo>
                  <a:lnTo>
                    <a:pt x="3376452" y="33467"/>
                  </a:lnTo>
                  <a:lnTo>
                    <a:pt x="3401232" y="70561"/>
                  </a:lnTo>
                  <a:lnTo>
                    <a:pt x="3409950" y="114300"/>
                  </a:lnTo>
                  <a:lnTo>
                    <a:pt x="3409950" y="1533540"/>
                  </a:lnTo>
                  <a:lnTo>
                    <a:pt x="3401232" y="1577279"/>
                  </a:lnTo>
                  <a:lnTo>
                    <a:pt x="3376452" y="1614342"/>
                  </a:lnTo>
                  <a:lnTo>
                    <a:pt x="3339388" y="1639122"/>
                  </a:lnTo>
                  <a:lnTo>
                    <a:pt x="3295650" y="1647809"/>
                  </a:lnTo>
                  <a:close/>
                </a:path>
              </a:pathLst>
            </a:custGeom>
            <a:solidFill>
              <a:srgbClr val="1D293B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91040" y="3238499"/>
              <a:ext cx="3409950" cy="1647825"/>
            </a:xfrm>
            <a:custGeom>
              <a:avLst/>
              <a:gdLst/>
              <a:ahLst/>
              <a:cxnLst/>
              <a:rect l="l" t="t" r="r" b="b"/>
              <a:pathLst>
                <a:path w="3409950" h="1647825">
                  <a:moveTo>
                    <a:pt x="3295649" y="1647809"/>
                  </a:moveTo>
                  <a:lnTo>
                    <a:pt x="114269" y="1647809"/>
                  </a:lnTo>
                  <a:lnTo>
                    <a:pt x="103016" y="1647266"/>
                  </a:lnTo>
                  <a:lnTo>
                    <a:pt x="60341" y="1634316"/>
                  </a:lnTo>
                  <a:lnTo>
                    <a:pt x="25883" y="1606005"/>
                  </a:lnTo>
                  <a:lnTo>
                    <a:pt x="4882" y="1566660"/>
                  </a:lnTo>
                  <a:lnTo>
                    <a:pt x="0" y="1533540"/>
                  </a:lnTo>
                  <a:lnTo>
                    <a:pt x="0" y="114299"/>
                  </a:lnTo>
                  <a:lnTo>
                    <a:pt x="8686" y="70561"/>
                  </a:lnTo>
                  <a:lnTo>
                    <a:pt x="33467" y="33467"/>
                  </a:lnTo>
                  <a:lnTo>
                    <a:pt x="70530" y="8686"/>
                  </a:lnTo>
                  <a:lnTo>
                    <a:pt x="114269" y="0"/>
                  </a:lnTo>
                  <a:lnTo>
                    <a:pt x="3295649" y="0"/>
                  </a:lnTo>
                  <a:lnTo>
                    <a:pt x="3339388" y="8686"/>
                  </a:lnTo>
                  <a:lnTo>
                    <a:pt x="3341159" y="9525"/>
                  </a:lnTo>
                  <a:lnTo>
                    <a:pt x="107405" y="9525"/>
                  </a:lnTo>
                  <a:lnTo>
                    <a:pt x="100591" y="10196"/>
                  </a:lnTo>
                  <a:lnTo>
                    <a:pt x="61795" y="23360"/>
                  </a:lnTo>
                  <a:lnTo>
                    <a:pt x="30989" y="50370"/>
                  </a:lnTo>
                  <a:lnTo>
                    <a:pt x="12865" y="87111"/>
                  </a:lnTo>
                  <a:lnTo>
                    <a:pt x="9509" y="107420"/>
                  </a:lnTo>
                  <a:lnTo>
                    <a:pt x="9509" y="1540404"/>
                  </a:lnTo>
                  <a:lnTo>
                    <a:pt x="20118" y="1579976"/>
                  </a:lnTo>
                  <a:lnTo>
                    <a:pt x="45062" y="1612477"/>
                  </a:lnTo>
                  <a:lnTo>
                    <a:pt x="80545" y="1632956"/>
                  </a:lnTo>
                  <a:lnTo>
                    <a:pt x="107405" y="1638300"/>
                  </a:lnTo>
                  <a:lnTo>
                    <a:pt x="3341133" y="1638300"/>
                  </a:lnTo>
                  <a:lnTo>
                    <a:pt x="3339388" y="1639122"/>
                  </a:lnTo>
                  <a:lnTo>
                    <a:pt x="3328769" y="1642923"/>
                  </a:lnTo>
                  <a:lnTo>
                    <a:pt x="3317942" y="1645638"/>
                  </a:lnTo>
                  <a:lnTo>
                    <a:pt x="3306903" y="1647266"/>
                  </a:lnTo>
                  <a:lnTo>
                    <a:pt x="3295649" y="1647809"/>
                  </a:lnTo>
                  <a:close/>
                </a:path>
                <a:path w="3409950" h="1647825">
                  <a:moveTo>
                    <a:pt x="3341133" y="1638300"/>
                  </a:moveTo>
                  <a:lnTo>
                    <a:pt x="3302508" y="1638300"/>
                  </a:lnTo>
                  <a:lnTo>
                    <a:pt x="3309335" y="1637629"/>
                  </a:lnTo>
                  <a:lnTo>
                    <a:pt x="3322807" y="1634944"/>
                  </a:lnTo>
                  <a:lnTo>
                    <a:pt x="3359566" y="1616820"/>
                  </a:lnTo>
                  <a:lnTo>
                    <a:pt x="3386571" y="1586014"/>
                  </a:lnTo>
                  <a:lnTo>
                    <a:pt x="3392424" y="1573621"/>
                  </a:lnTo>
                  <a:lnTo>
                    <a:pt x="3395075" y="1567263"/>
                  </a:lnTo>
                  <a:lnTo>
                    <a:pt x="3397056" y="1560713"/>
                  </a:lnTo>
                  <a:lnTo>
                    <a:pt x="3399739" y="1547216"/>
                  </a:lnTo>
                  <a:lnTo>
                    <a:pt x="3400409" y="1540404"/>
                  </a:lnTo>
                  <a:lnTo>
                    <a:pt x="3400409" y="107420"/>
                  </a:lnTo>
                  <a:lnTo>
                    <a:pt x="3399739" y="100606"/>
                  </a:lnTo>
                  <a:lnTo>
                    <a:pt x="3397056" y="87111"/>
                  </a:lnTo>
                  <a:lnTo>
                    <a:pt x="3395075" y="80560"/>
                  </a:lnTo>
                  <a:lnTo>
                    <a:pt x="3392424" y="74204"/>
                  </a:lnTo>
                  <a:lnTo>
                    <a:pt x="3389802" y="67848"/>
                  </a:lnTo>
                  <a:lnTo>
                    <a:pt x="3364870" y="35348"/>
                  </a:lnTo>
                  <a:lnTo>
                    <a:pt x="3329360" y="14867"/>
                  </a:lnTo>
                  <a:lnTo>
                    <a:pt x="3302508" y="9525"/>
                  </a:lnTo>
                  <a:lnTo>
                    <a:pt x="3341159" y="9525"/>
                  </a:lnTo>
                  <a:lnTo>
                    <a:pt x="3376452" y="33467"/>
                  </a:lnTo>
                  <a:lnTo>
                    <a:pt x="3401232" y="70561"/>
                  </a:lnTo>
                  <a:lnTo>
                    <a:pt x="3409949" y="114299"/>
                  </a:lnTo>
                  <a:lnTo>
                    <a:pt x="3409949" y="1533540"/>
                  </a:lnTo>
                  <a:lnTo>
                    <a:pt x="3401232" y="1577278"/>
                  </a:lnTo>
                  <a:lnTo>
                    <a:pt x="3376452" y="1614342"/>
                  </a:lnTo>
                  <a:lnTo>
                    <a:pt x="3349577" y="1634316"/>
                  </a:lnTo>
                  <a:lnTo>
                    <a:pt x="3341133" y="1638300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29296" y="3543301"/>
              <a:ext cx="190205" cy="19049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2510792" y="1308361"/>
            <a:ext cx="7227570" cy="934719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4800"/>
              </a:lnSpc>
              <a:spcBef>
                <a:spcPts val="20"/>
              </a:spcBef>
            </a:pPr>
            <a:r>
              <a:rPr sz="1500" spc="-25" dirty="0">
                <a:solidFill>
                  <a:srgbClr val="94A2B8"/>
                </a:solidFill>
                <a:latin typeface="Microsoft Sans Serif"/>
                <a:cs typeface="Microsoft Sans Serif"/>
              </a:rPr>
              <a:t>Master</a:t>
            </a:r>
            <a:r>
              <a:rPr sz="1500" spc="-4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94A2B8"/>
                </a:solidFill>
                <a:latin typeface="Microsoft Sans Serif"/>
                <a:cs typeface="Microsoft Sans Serif"/>
              </a:rPr>
              <a:t>the</a:t>
            </a:r>
            <a:r>
              <a:rPr sz="1500" spc="-30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94A2B8"/>
                </a:solidFill>
                <a:latin typeface="Microsoft Sans Serif"/>
                <a:cs typeface="Microsoft Sans Serif"/>
              </a:rPr>
              <a:t>art</a:t>
            </a:r>
            <a:r>
              <a:rPr sz="1500" spc="-3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94A2B8"/>
                </a:solidFill>
                <a:latin typeface="Microsoft Sans Serif"/>
                <a:cs typeface="Microsoft Sans Serif"/>
              </a:rPr>
              <a:t>of</a:t>
            </a:r>
            <a:r>
              <a:rPr sz="1500" spc="-30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500" spc="-25" dirty="0">
                <a:solidFill>
                  <a:srgbClr val="94A2B8"/>
                </a:solidFill>
                <a:latin typeface="Microsoft Sans Serif"/>
                <a:cs typeface="Microsoft Sans Serif"/>
              </a:rPr>
              <a:t>building</a:t>
            </a:r>
            <a:r>
              <a:rPr sz="1550" spc="-25" dirty="0">
                <a:solidFill>
                  <a:srgbClr val="94A2B8"/>
                </a:solidFill>
                <a:latin typeface="Microsoft Sans Serif"/>
                <a:cs typeface="Microsoft Sans Serif"/>
              </a:rPr>
              <a:t>,</a:t>
            </a:r>
            <a:r>
              <a:rPr sz="1550" spc="-4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500" spc="-20" dirty="0">
                <a:solidFill>
                  <a:srgbClr val="94A2B8"/>
                </a:solidFill>
                <a:latin typeface="Microsoft Sans Serif"/>
                <a:cs typeface="Microsoft Sans Serif"/>
              </a:rPr>
              <a:t>testing</a:t>
            </a:r>
            <a:r>
              <a:rPr sz="1550" spc="-20" dirty="0">
                <a:solidFill>
                  <a:srgbClr val="94A2B8"/>
                </a:solidFill>
                <a:latin typeface="Microsoft Sans Serif"/>
                <a:cs typeface="Microsoft Sans Serif"/>
              </a:rPr>
              <a:t>,</a:t>
            </a:r>
            <a:r>
              <a:rPr sz="1550" spc="-4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500" spc="-30" dirty="0">
                <a:solidFill>
                  <a:srgbClr val="94A2B8"/>
                </a:solidFill>
                <a:latin typeface="Microsoft Sans Serif"/>
                <a:cs typeface="Microsoft Sans Serif"/>
              </a:rPr>
              <a:t>packaging</a:t>
            </a:r>
            <a:r>
              <a:rPr sz="1550" spc="-30" dirty="0">
                <a:solidFill>
                  <a:srgbClr val="94A2B8"/>
                </a:solidFill>
                <a:latin typeface="Microsoft Sans Serif"/>
                <a:cs typeface="Microsoft Sans Serif"/>
              </a:rPr>
              <a:t>,</a:t>
            </a:r>
            <a:r>
              <a:rPr sz="1550" spc="-50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500" spc="-35" dirty="0">
                <a:solidFill>
                  <a:srgbClr val="94A2B8"/>
                </a:solidFill>
                <a:latin typeface="Microsoft Sans Serif"/>
                <a:cs typeface="Microsoft Sans Serif"/>
              </a:rPr>
              <a:t>and</a:t>
            </a:r>
            <a:r>
              <a:rPr sz="1500" spc="-30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500" spc="-20" dirty="0">
                <a:solidFill>
                  <a:srgbClr val="94A2B8"/>
                </a:solidFill>
                <a:latin typeface="Microsoft Sans Serif"/>
                <a:cs typeface="Microsoft Sans Serif"/>
              </a:rPr>
              <a:t>deploying</a:t>
            </a:r>
            <a:r>
              <a:rPr sz="1500" spc="-30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500" spc="-20" dirty="0">
                <a:solidFill>
                  <a:srgbClr val="94A2B8"/>
                </a:solidFill>
                <a:latin typeface="Microsoft Sans Serif"/>
                <a:cs typeface="Microsoft Sans Serif"/>
              </a:rPr>
              <a:t>AutoIt</a:t>
            </a:r>
            <a:r>
              <a:rPr sz="1550" spc="-20" dirty="0">
                <a:solidFill>
                  <a:srgbClr val="94A2B8"/>
                </a:solidFill>
                <a:latin typeface="Microsoft Sans Serif"/>
                <a:cs typeface="Microsoft Sans Serif"/>
              </a:rPr>
              <a:t>-</a:t>
            </a:r>
            <a:r>
              <a:rPr sz="1500" spc="-25" dirty="0">
                <a:solidFill>
                  <a:srgbClr val="94A2B8"/>
                </a:solidFill>
                <a:latin typeface="Microsoft Sans Serif"/>
                <a:cs typeface="Microsoft Sans Serif"/>
              </a:rPr>
              <a:t>based</a:t>
            </a:r>
            <a:r>
              <a:rPr sz="1500" spc="-3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500" spc="-110" dirty="0">
                <a:solidFill>
                  <a:srgbClr val="94A2B8"/>
                </a:solidFill>
                <a:latin typeface="Microsoft Sans Serif"/>
                <a:cs typeface="Microsoft Sans Serif"/>
              </a:rPr>
              <a:t>PSM</a:t>
            </a:r>
            <a:r>
              <a:rPr sz="1500" spc="-20" dirty="0">
                <a:solidFill>
                  <a:srgbClr val="94A2B8"/>
                </a:solidFill>
                <a:latin typeface="Microsoft Sans Serif"/>
                <a:cs typeface="Microsoft Sans Serif"/>
              </a:rPr>
              <a:t> Universal </a:t>
            </a:r>
            <a:r>
              <a:rPr sz="1500" spc="-30" dirty="0">
                <a:solidFill>
                  <a:srgbClr val="94A2B8"/>
                </a:solidFill>
                <a:latin typeface="Microsoft Sans Serif"/>
                <a:cs typeface="Microsoft Sans Serif"/>
              </a:rPr>
              <a:t>Connectors </a:t>
            </a:r>
            <a:r>
              <a:rPr sz="1500" dirty="0">
                <a:solidFill>
                  <a:srgbClr val="94A2B8"/>
                </a:solidFill>
                <a:latin typeface="Microsoft Sans Serif"/>
                <a:cs typeface="Microsoft Sans Serif"/>
              </a:rPr>
              <a:t>with</a:t>
            </a:r>
            <a:r>
              <a:rPr sz="1500" spc="-2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94A2B8"/>
                </a:solidFill>
                <a:latin typeface="Microsoft Sans Serif"/>
                <a:cs typeface="Microsoft Sans Serif"/>
              </a:rPr>
              <a:t>security</a:t>
            </a:r>
            <a:r>
              <a:rPr sz="1550" spc="-10" dirty="0">
                <a:solidFill>
                  <a:srgbClr val="94A2B8"/>
                </a:solidFill>
                <a:latin typeface="Microsoft Sans Serif"/>
                <a:cs typeface="Microsoft Sans Serif"/>
              </a:rPr>
              <a:t>-</a:t>
            </a:r>
            <a:r>
              <a:rPr sz="1500" dirty="0">
                <a:solidFill>
                  <a:srgbClr val="94A2B8"/>
                </a:solidFill>
                <a:latin typeface="Microsoft Sans Serif"/>
                <a:cs typeface="Microsoft Sans Serif"/>
              </a:rPr>
              <a:t>by</a:t>
            </a:r>
            <a:r>
              <a:rPr sz="1550" dirty="0">
                <a:solidFill>
                  <a:srgbClr val="94A2B8"/>
                </a:solidFill>
                <a:latin typeface="Microsoft Sans Serif"/>
                <a:cs typeface="Microsoft Sans Serif"/>
              </a:rPr>
              <a:t>-</a:t>
            </a:r>
            <a:r>
              <a:rPr sz="1500" spc="-20" dirty="0">
                <a:solidFill>
                  <a:srgbClr val="94A2B8"/>
                </a:solidFill>
                <a:latin typeface="Microsoft Sans Serif"/>
                <a:cs typeface="Microsoft Sans Serif"/>
              </a:rPr>
              <a:t>design</a:t>
            </a:r>
            <a:r>
              <a:rPr sz="1500" spc="-2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500" spc="-20" dirty="0">
                <a:solidFill>
                  <a:srgbClr val="94A2B8"/>
                </a:solidFill>
                <a:latin typeface="Microsoft Sans Serif"/>
                <a:cs typeface="Microsoft Sans Serif"/>
              </a:rPr>
              <a:t>principles</a:t>
            </a:r>
            <a:r>
              <a:rPr sz="1500" spc="-30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94A2B8"/>
                </a:solidFill>
                <a:latin typeface="Microsoft Sans Serif"/>
                <a:cs typeface="Microsoft Sans Serif"/>
              </a:rPr>
              <a:t>for</a:t>
            </a:r>
            <a:r>
              <a:rPr sz="1500" spc="-2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94A2B8"/>
                </a:solidFill>
                <a:latin typeface="Microsoft Sans Serif"/>
                <a:cs typeface="Microsoft Sans Serif"/>
              </a:rPr>
              <a:t>privileged</a:t>
            </a:r>
            <a:r>
              <a:rPr sz="1500" spc="-2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500" spc="-30" dirty="0">
                <a:solidFill>
                  <a:srgbClr val="94A2B8"/>
                </a:solidFill>
                <a:latin typeface="Microsoft Sans Serif"/>
                <a:cs typeface="Microsoft Sans Serif"/>
              </a:rPr>
              <a:t>session </a:t>
            </a:r>
            <a:r>
              <a:rPr sz="1500" spc="-10" dirty="0">
                <a:solidFill>
                  <a:srgbClr val="94A2B8"/>
                </a:solidFill>
                <a:latin typeface="Microsoft Sans Serif"/>
                <a:cs typeface="Microsoft Sans Serif"/>
              </a:rPr>
              <a:t>management</a:t>
            </a:r>
            <a:r>
              <a:rPr sz="1550" spc="-10" dirty="0">
                <a:solidFill>
                  <a:srgbClr val="94A2B8"/>
                </a:solidFill>
                <a:latin typeface="Microsoft Sans Serif"/>
                <a:cs typeface="Microsoft Sans Serif"/>
              </a:rPr>
              <a:t>.</a:t>
            </a:r>
            <a:endParaRPr sz="15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350" dirty="0">
              <a:latin typeface="Microsoft Sans Serif"/>
              <a:cs typeface="Microsoft Sans Serif"/>
            </a:endParaRPr>
          </a:p>
          <a:p>
            <a:pPr marL="603250">
              <a:lnSpc>
                <a:spcPct val="100000"/>
              </a:lnSpc>
              <a:tabLst>
                <a:tab pos="4187190" algn="l"/>
              </a:tabLst>
            </a:pPr>
            <a:r>
              <a:rPr sz="1350" b="1" spc="-75" dirty="0">
                <a:solidFill>
                  <a:srgbClr val="F1F5F9"/>
                </a:solidFill>
                <a:latin typeface="Arial"/>
                <a:cs typeface="Arial"/>
              </a:rPr>
              <a:t>Target</a:t>
            </a:r>
            <a:r>
              <a:rPr sz="1350" b="1" spc="-45" dirty="0">
                <a:solidFill>
                  <a:srgbClr val="F1F5F9"/>
                </a:solidFill>
                <a:latin typeface="Arial"/>
                <a:cs typeface="Arial"/>
              </a:rPr>
              <a:t> </a:t>
            </a:r>
            <a:r>
              <a:rPr sz="1350" b="1" spc="-10" dirty="0">
                <a:solidFill>
                  <a:srgbClr val="F1F5F9"/>
                </a:solidFill>
                <a:latin typeface="Arial"/>
                <a:cs typeface="Arial"/>
              </a:rPr>
              <a:t>Audience</a:t>
            </a:r>
            <a:r>
              <a:rPr sz="1350" b="1" dirty="0">
                <a:solidFill>
                  <a:srgbClr val="F1F5F9"/>
                </a:solidFill>
                <a:latin typeface="Arial"/>
                <a:cs typeface="Arial"/>
              </a:rPr>
              <a:t>	</a:t>
            </a:r>
            <a:r>
              <a:rPr sz="1350" b="1" spc="-100" dirty="0">
                <a:solidFill>
                  <a:srgbClr val="F1F5F9"/>
                </a:solidFill>
                <a:latin typeface="Arial"/>
                <a:cs typeface="Arial"/>
              </a:rPr>
              <a:t>Key</a:t>
            </a:r>
            <a:r>
              <a:rPr sz="1350" b="1" spc="-70" dirty="0">
                <a:solidFill>
                  <a:srgbClr val="F1F5F9"/>
                </a:solidFill>
                <a:latin typeface="Arial"/>
                <a:cs typeface="Arial"/>
              </a:rPr>
              <a:t> </a:t>
            </a:r>
            <a:r>
              <a:rPr sz="1350" b="1" spc="-10" dirty="0">
                <a:solidFill>
                  <a:srgbClr val="F1F5F9"/>
                </a:solidFill>
                <a:latin typeface="Arial"/>
                <a:cs typeface="Arial"/>
              </a:rPr>
              <a:t>Objectives</a:t>
            </a:r>
            <a:endParaRPr sz="1350" dirty="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629150" y="3911544"/>
            <a:ext cx="118110" cy="683260"/>
            <a:chOff x="4629150" y="3911544"/>
            <a:chExt cx="118110" cy="683260"/>
          </a:xfrm>
        </p:grpSpPr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29150" y="3911544"/>
              <a:ext cx="117488" cy="10167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29150" y="4197294"/>
              <a:ext cx="117488" cy="10167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29150" y="4492585"/>
              <a:ext cx="117488" cy="101679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180306" y="3848748"/>
            <a:ext cx="5525135" cy="7848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644265" algn="l"/>
              </a:tabLst>
            </a:pPr>
            <a:r>
              <a:rPr sz="1150" spc="-25" dirty="0">
                <a:solidFill>
                  <a:srgbClr val="94A2B8"/>
                </a:solidFill>
                <a:latin typeface="Microsoft Sans Serif"/>
                <a:cs typeface="Microsoft Sans Serif"/>
              </a:rPr>
              <a:t>Senior </a:t>
            </a:r>
            <a:r>
              <a:rPr sz="1150" spc="-20" dirty="0">
                <a:solidFill>
                  <a:srgbClr val="94A2B8"/>
                </a:solidFill>
                <a:latin typeface="Microsoft Sans Serif"/>
                <a:cs typeface="Microsoft Sans Serif"/>
              </a:rPr>
              <a:t>CyberArk Automation </a:t>
            </a:r>
            <a:r>
              <a:rPr sz="1150" spc="-10" dirty="0">
                <a:solidFill>
                  <a:srgbClr val="94A2B8"/>
                </a:solidFill>
                <a:latin typeface="Microsoft Sans Serif"/>
                <a:cs typeface="Microsoft Sans Serif"/>
              </a:rPr>
              <a:t>Engineers</a:t>
            </a:r>
            <a:r>
              <a:rPr sz="1150" dirty="0">
                <a:solidFill>
                  <a:srgbClr val="94A2B8"/>
                </a:solidFill>
                <a:latin typeface="Microsoft Sans Serif"/>
                <a:cs typeface="Microsoft Sans Serif"/>
              </a:rPr>
              <a:t>	</a:t>
            </a:r>
            <a:r>
              <a:rPr sz="1150" spc="-20" dirty="0">
                <a:solidFill>
                  <a:srgbClr val="94A2B8"/>
                </a:solidFill>
                <a:latin typeface="Microsoft Sans Serif"/>
                <a:cs typeface="Microsoft Sans Serif"/>
              </a:rPr>
              <a:t>Build</a:t>
            </a:r>
            <a:r>
              <a:rPr sz="1150" spc="-50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4A2B8"/>
                </a:solidFill>
                <a:latin typeface="Microsoft Sans Serif"/>
                <a:cs typeface="Microsoft Sans Serif"/>
              </a:rPr>
              <a:t>custom</a:t>
            </a:r>
            <a:r>
              <a:rPr sz="1150" spc="-40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4A2B8"/>
                </a:solidFill>
                <a:latin typeface="Microsoft Sans Serif"/>
                <a:cs typeface="Microsoft Sans Serif"/>
              </a:rPr>
              <a:t>connectors</a:t>
            </a:r>
            <a:endParaRPr sz="11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70"/>
              </a:spcBef>
              <a:tabLst>
                <a:tab pos="3644265" algn="l"/>
              </a:tabLst>
            </a:pPr>
            <a:r>
              <a:rPr sz="1150" spc="-25" dirty="0">
                <a:solidFill>
                  <a:srgbClr val="94A2B8"/>
                </a:solidFill>
                <a:latin typeface="Microsoft Sans Serif"/>
                <a:cs typeface="Microsoft Sans Serif"/>
              </a:rPr>
              <a:t>Technical</a:t>
            </a:r>
            <a:r>
              <a:rPr sz="1150" spc="-1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4A2B8"/>
                </a:solidFill>
                <a:latin typeface="Microsoft Sans Serif"/>
                <a:cs typeface="Microsoft Sans Serif"/>
              </a:rPr>
              <a:t>Architects</a:t>
            </a:r>
            <a:r>
              <a:rPr sz="1150" spc="-1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94A2B8"/>
                </a:solidFill>
                <a:latin typeface="Gill Sans MT"/>
                <a:cs typeface="Gill Sans MT"/>
              </a:rPr>
              <a:t>&amp;</a:t>
            </a:r>
            <a:r>
              <a:rPr sz="1150" spc="-25" dirty="0">
                <a:solidFill>
                  <a:srgbClr val="94A2B8"/>
                </a:solidFill>
                <a:latin typeface="Gill Sans MT"/>
                <a:cs typeface="Gill Sans MT"/>
              </a:rPr>
              <a:t> </a:t>
            </a:r>
            <a:r>
              <a:rPr sz="1150" spc="-10" dirty="0">
                <a:solidFill>
                  <a:srgbClr val="94A2B8"/>
                </a:solidFill>
                <a:latin typeface="Microsoft Sans Serif"/>
                <a:cs typeface="Microsoft Sans Serif"/>
              </a:rPr>
              <a:t>Developers</a:t>
            </a:r>
            <a:r>
              <a:rPr sz="1150" dirty="0">
                <a:solidFill>
                  <a:srgbClr val="94A2B8"/>
                </a:solidFill>
                <a:latin typeface="Microsoft Sans Serif"/>
                <a:cs typeface="Microsoft Sans Serif"/>
              </a:rPr>
              <a:t>	</a:t>
            </a:r>
            <a:r>
              <a:rPr sz="1150" spc="-25" dirty="0">
                <a:solidFill>
                  <a:srgbClr val="94A2B8"/>
                </a:solidFill>
                <a:latin typeface="Microsoft Sans Serif"/>
                <a:cs typeface="Microsoft Sans Serif"/>
              </a:rPr>
              <a:t>Implement </a:t>
            </a:r>
            <a:r>
              <a:rPr sz="1150" spc="-10" dirty="0">
                <a:solidFill>
                  <a:srgbClr val="94A2B8"/>
                </a:solidFill>
                <a:latin typeface="Microsoft Sans Serif"/>
                <a:cs typeface="Microsoft Sans Serif"/>
              </a:rPr>
              <a:t>secure</a:t>
            </a:r>
            <a:r>
              <a:rPr sz="1150" spc="-2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4A2B8"/>
                </a:solidFill>
                <a:latin typeface="Microsoft Sans Serif"/>
                <a:cs typeface="Microsoft Sans Serif"/>
              </a:rPr>
              <a:t>automation</a:t>
            </a:r>
            <a:endParaRPr sz="11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  <a:tabLst>
                <a:tab pos="3644265" algn="l"/>
              </a:tabLst>
            </a:pPr>
            <a:r>
              <a:rPr sz="1150" dirty="0">
                <a:solidFill>
                  <a:srgbClr val="94A2B8"/>
                </a:solidFill>
                <a:latin typeface="Microsoft Sans Serif"/>
                <a:cs typeface="Microsoft Sans Serif"/>
              </a:rPr>
              <a:t>Security</a:t>
            </a:r>
            <a:r>
              <a:rPr sz="1150" spc="-7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4A2B8"/>
                </a:solidFill>
                <a:latin typeface="Microsoft Sans Serif"/>
                <a:cs typeface="Microsoft Sans Serif"/>
              </a:rPr>
              <a:t>Engineers</a:t>
            </a:r>
            <a:r>
              <a:rPr sz="1150" dirty="0">
                <a:solidFill>
                  <a:srgbClr val="94A2B8"/>
                </a:solidFill>
                <a:latin typeface="Microsoft Sans Serif"/>
                <a:cs typeface="Microsoft Sans Serif"/>
              </a:rPr>
              <a:t>	</a:t>
            </a:r>
            <a:r>
              <a:rPr sz="1150" spc="-25" dirty="0">
                <a:solidFill>
                  <a:srgbClr val="94A2B8"/>
                </a:solidFill>
                <a:latin typeface="Microsoft Sans Serif"/>
                <a:cs typeface="Microsoft Sans Serif"/>
              </a:rPr>
              <a:t>Deploy </a:t>
            </a:r>
            <a:r>
              <a:rPr sz="1150" dirty="0">
                <a:solidFill>
                  <a:srgbClr val="94A2B8"/>
                </a:solidFill>
                <a:latin typeface="Microsoft Sans Serif"/>
                <a:cs typeface="Microsoft Sans Serif"/>
              </a:rPr>
              <a:t>to</a:t>
            </a:r>
            <a:r>
              <a:rPr sz="1150" spc="-2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4A2B8"/>
                </a:solidFill>
                <a:latin typeface="Microsoft Sans Serif"/>
                <a:cs typeface="Microsoft Sans Serif"/>
              </a:rPr>
              <a:t>production</a:t>
            </a:r>
            <a:endParaRPr sz="1150" dirty="0">
              <a:latin typeface="Microsoft Sans Serif"/>
              <a:cs typeface="Microsoft Sans Serif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8029590" y="3238499"/>
            <a:ext cx="3400425" cy="1647825"/>
            <a:chOff x="8029590" y="3238499"/>
            <a:chExt cx="3400425" cy="1647825"/>
          </a:xfrm>
        </p:grpSpPr>
        <p:sp>
          <p:nvSpPr>
            <p:cNvPr id="37" name="object 37"/>
            <p:cNvSpPr/>
            <p:nvPr/>
          </p:nvSpPr>
          <p:spPr>
            <a:xfrm>
              <a:off x="8029590" y="3238499"/>
              <a:ext cx="3400425" cy="1647825"/>
            </a:xfrm>
            <a:custGeom>
              <a:avLst/>
              <a:gdLst/>
              <a:ahLst/>
              <a:cxnLst/>
              <a:rect l="l" t="t" r="r" b="b"/>
              <a:pathLst>
                <a:path w="3400425" h="1647825">
                  <a:moveTo>
                    <a:pt x="3286109" y="1647809"/>
                  </a:moveTo>
                  <a:lnTo>
                    <a:pt x="114300" y="1647809"/>
                  </a:lnTo>
                  <a:lnTo>
                    <a:pt x="103029" y="1647266"/>
                  </a:lnTo>
                  <a:lnTo>
                    <a:pt x="60341" y="1634316"/>
                  </a:lnTo>
                  <a:lnTo>
                    <a:pt x="25883" y="1606005"/>
                  </a:lnTo>
                  <a:lnTo>
                    <a:pt x="4882" y="1566660"/>
                  </a:lnTo>
                  <a:lnTo>
                    <a:pt x="0" y="1533540"/>
                  </a:lnTo>
                  <a:lnTo>
                    <a:pt x="0" y="114300"/>
                  </a:lnTo>
                  <a:lnTo>
                    <a:pt x="8686" y="70561"/>
                  </a:lnTo>
                  <a:lnTo>
                    <a:pt x="33467" y="33467"/>
                  </a:lnTo>
                  <a:lnTo>
                    <a:pt x="70530" y="8686"/>
                  </a:lnTo>
                  <a:lnTo>
                    <a:pt x="114300" y="0"/>
                  </a:lnTo>
                  <a:lnTo>
                    <a:pt x="3286109" y="0"/>
                  </a:lnTo>
                  <a:lnTo>
                    <a:pt x="3329848" y="8686"/>
                  </a:lnTo>
                  <a:lnTo>
                    <a:pt x="3366942" y="33467"/>
                  </a:lnTo>
                  <a:lnTo>
                    <a:pt x="3391692" y="70561"/>
                  </a:lnTo>
                  <a:lnTo>
                    <a:pt x="3400409" y="114300"/>
                  </a:lnTo>
                  <a:lnTo>
                    <a:pt x="3400409" y="1533540"/>
                  </a:lnTo>
                  <a:lnTo>
                    <a:pt x="3391692" y="1577279"/>
                  </a:lnTo>
                  <a:lnTo>
                    <a:pt x="3366942" y="1614342"/>
                  </a:lnTo>
                  <a:lnTo>
                    <a:pt x="3329848" y="1639122"/>
                  </a:lnTo>
                  <a:lnTo>
                    <a:pt x="3286109" y="1647809"/>
                  </a:lnTo>
                  <a:close/>
                </a:path>
              </a:pathLst>
            </a:custGeom>
            <a:solidFill>
              <a:srgbClr val="1D293B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029590" y="3238499"/>
              <a:ext cx="3400425" cy="1647825"/>
            </a:xfrm>
            <a:custGeom>
              <a:avLst/>
              <a:gdLst/>
              <a:ahLst/>
              <a:cxnLst/>
              <a:rect l="l" t="t" r="r" b="b"/>
              <a:pathLst>
                <a:path w="3400425" h="1647825">
                  <a:moveTo>
                    <a:pt x="3286109" y="1647809"/>
                  </a:moveTo>
                  <a:lnTo>
                    <a:pt x="114299" y="1647809"/>
                  </a:lnTo>
                  <a:lnTo>
                    <a:pt x="103029" y="1647266"/>
                  </a:lnTo>
                  <a:lnTo>
                    <a:pt x="60341" y="1634316"/>
                  </a:lnTo>
                  <a:lnTo>
                    <a:pt x="25883" y="1606005"/>
                  </a:lnTo>
                  <a:lnTo>
                    <a:pt x="4882" y="1566660"/>
                  </a:lnTo>
                  <a:lnTo>
                    <a:pt x="0" y="1533540"/>
                  </a:lnTo>
                  <a:lnTo>
                    <a:pt x="0" y="114299"/>
                  </a:lnTo>
                  <a:lnTo>
                    <a:pt x="8686" y="70561"/>
                  </a:lnTo>
                  <a:lnTo>
                    <a:pt x="33467" y="33467"/>
                  </a:lnTo>
                  <a:lnTo>
                    <a:pt x="70530" y="8686"/>
                  </a:lnTo>
                  <a:lnTo>
                    <a:pt x="114299" y="0"/>
                  </a:lnTo>
                  <a:lnTo>
                    <a:pt x="3286109" y="0"/>
                  </a:lnTo>
                  <a:lnTo>
                    <a:pt x="3329848" y="8686"/>
                  </a:lnTo>
                  <a:lnTo>
                    <a:pt x="3331619" y="9525"/>
                  </a:lnTo>
                  <a:lnTo>
                    <a:pt x="107405" y="9525"/>
                  </a:lnTo>
                  <a:lnTo>
                    <a:pt x="100591" y="10196"/>
                  </a:lnTo>
                  <a:lnTo>
                    <a:pt x="61795" y="23360"/>
                  </a:lnTo>
                  <a:lnTo>
                    <a:pt x="30989" y="50370"/>
                  </a:lnTo>
                  <a:lnTo>
                    <a:pt x="12865" y="87111"/>
                  </a:lnTo>
                  <a:lnTo>
                    <a:pt x="9509" y="107420"/>
                  </a:lnTo>
                  <a:lnTo>
                    <a:pt x="9509" y="1540404"/>
                  </a:lnTo>
                  <a:lnTo>
                    <a:pt x="20118" y="1579976"/>
                  </a:lnTo>
                  <a:lnTo>
                    <a:pt x="45062" y="1612477"/>
                  </a:lnTo>
                  <a:lnTo>
                    <a:pt x="80545" y="1632956"/>
                  </a:lnTo>
                  <a:lnTo>
                    <a:pt x="107405" y="1638300"/>
                  </a:lnTo>
                  <a:lnTo>
                    <a:pt x="3331592" y="1638300"/>
                  </a:lnTo>
                  <a:lnTo>
                    <a:pt x="3329848" y="1639122"/>
                  </a:lnTo>
                  <a:lnTo>
                    <a:pt x="3319242" y="1642923"/>
                  </a:lnTo>
                  <a:lnTo>
                    <a:pt x="3308413" y="1645638"/>
                  </a:lnTo>
                  <a:lnTo>
                    <a:pt x="3297367" y="1647266"/>
                  </a:lnTo>
                  <a:lnTo>
                    <a:pt x="3286109" y="1647809"/>
                  </a:lnTo>
                  <a:close/>
                </a:path>
                <a:path w="3400425" h="1647825">
                  <a:moveTo>
                    <a:pt x="3331592" y="1638300"/>
                  </a:moveTo>
                  <a:lnTo>
                    <a:pt x="3292998" y="1638300"/>
                  </a:lnTo>
                  <a:lnTo>
                    <a:pt x="3299795" y="1637629"/>
                  </a:lnTo>
                  <a:lnTo>
                    <a:pt x="3313298" y="1634944"/>
                  </a:lnTo>
                  <a:lnTo>
                    <a:pt x="3350026" y="1616820"/>
                  </a:lnTo>
                  <a:lnTo>
                    <a:pt x="3377062" y="1586014"/>
                  </a:lnTo>
                  <a:lnTo>
                    <a:pt x="3390199" y="1547216"/>
                  </a:lnTo>
                  <a:lnTo>
                    <a:pt x="3390869" y="1540404"/>
                  </a:lnTo>
                  <a:lnTo>
                    <a:pt x="3390869" y="107420"/>
                  </a:lnTo>
                  <a:lnTo>
                    <a:pt x="3380262" y="67848"/>
                  </a:lnTo>
                  <a:lnTo>
                    <a:pt x="3355329" y="35348"/>
                  </a:lnTo>
                  <a:lnTo>
                    <a:pt x="3319851" y="14867"/>
                  </a:lnTo>
                  <a:lnTo>
                    <a:pt x="3292998" y="9525"/>
                  </a:lnTo>
                  <a:lnTo>
                    <a:pt x="3331619" y="9525"/>
                  </a:lnTo>
                  <a:lnTo>
                    <a:pt x="3366942" y="33467"/>
                  </a:lnTo>
                  <a:lnTo>
                    <a:pt x="3391692" y="70561"/>
                  </a:lnTo>
                  <a:lnTo>
                    <a:pt x="3400409" y="114299"/>
                  </a:lnTo>
                  <a:lnTo>
                    <a:pt x="3400409" y="1533540"/>
                  </a:lnTo>
                  <a:lnTo>
                    <a:pt x="3391692" y="1577278"/>
                  </a:lnTo>
                  <a:lnTo>
                    <a:pt x="3366942" y="1614342"/>
                  </a:lnTo>
                  <a:lnTo>
                    <a:pt x="3340037" y="1634316"/>
                  </a:lnTo>
                  <a:lnTo>
                    <a:pt x="3331592" y="1638300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68295" y="3498666"/>
              <a:ext cx="234408" cy="186853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8604301" y="3463690"/>
            <a:ext cx="49149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75" dirty="0">
                <a:solidFill>
                  <a:srgbClr val="F1F5F9"/>
                </a:solidFill>
                <a:latin typeface="Arial"/>
                <a:cs typeface="Arial"/>
              </a:rPr>
              <a:t>Scope</a:t>
            </a:r>
            <a:endParaRPr sz="1350" dirty="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0" y="3919905"/>
            <a:ext cx="12192000" cy="2938145"/>
            <a:chOff x="0" y="3919905"/>
            <a:chExt cx="12192000" cy="2938145"/>
          </a:xfrm>
        </p:grpSpPr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66866" y="3919905"/>
              <a:ext cx="118322" cy="8498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66866" y="4205655"/>
              <a:ext cx="118322" cy="8498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66866" y="4500945"/>
              <a:ext cx="118322" cy="84984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62000" y="5924549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1066800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10668000" y="0"/>
                  </a:lnTo>
                  <a:lnTo>
                    <a:pt x="10668000" y="9525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6732" y="6115049"/>
              <a:ext cx="142934" cy="152161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0" y="6793991"/>
              <a:ext cx="12192000" cy="64135"/>
            </a:xfrm>
            <a:custGeom>
              <a:avLst/>
              <a:gdLst/>
              <a:ahLst/>
              <a:cxnLst/>
              <a:rect l="l" t="t" r="r" b="b"/>
              <a:pathLst>
                <a:path w="12192000" h="64134">
                  <a:moveTo>
                    <a:pt x="0" y="0"/>
                  </a:moveTo>
                  <a:lnTo>
                    <a:pt x="12191999" y="0"/>
                  </a:lnTo>
                  <a:lnTo>
                    <a:pt x="12191999" y="64008"/>
                  </a:lnTo>
                  <a:lnTo>
                    <a:pt x="0" y="64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8444757" y="3848748"/>
            <a:ext cx="1590675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20" dirty="0">
                <a:solidFill>
                  <a:srgbClr val="94A2B8"/>
                </a:solidFill>
                <a:latin typeface="Microsoft Sans Serif"/>
                <a:cs typeface="Microsoft Sans Serif"/>
              </a:rPr>
              <a:t>Connection</a:t>
            </a:r>
            <a:r>
              <a:rPr sz="1150" spc="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4A2B8"/>
                </a:solidFill>
                <a:latin typeface="Microsoft Sans Serif"/>
                <a:cs typeface="Microsoft Sans Serif"/>
              </a:rPr>
              <a:t>Components</a:t>
            </a:r>
            <a:endParaRPr sz="1150" dirty="0">
              <a:latin typeface="Microsoft Sans Serif"/>
              <a:cs typeface="Microsoft Sans Serif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444757" y="4134498"/>
            <a:ext cx="109220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10" dirty="0">
                <a:solidFill>
                  <a:srgbClr val="94A2B8"/>
                </a:solidFill>
                <a:latin typeface="Microsoft Sans Serif"/>
                <a:cs typeface="Microsoft Sans Serif"/>
              </a:rPr>
              <a:t>AutoIt</a:t>
            </a:r>
            <a:r>
              <a:rPr sz="1150" spc="-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150" spc="-70" dirty="0">
                <a:solidFill>
                  <a:srgbClr val="94A2B8"/>
                </a:solidFill>
                <a:latin typeface="Microsoft Sans Serif"/>
                <a:cs typeface="Microsoft Sans Serif"/>
              </a:rPr>
              <a:t>API</a:t>
            </a:r>
            <a:r>
              <a:rPr sz="1150" spc="-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94A2B8"/>
                </a:solidFill>
                <a:latin typeface="Microsoft Sans Serif"/>
                <a:cs typeface="Microsoft Sans Serif"/>
              </a:rPr>
              <a:t>Usage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444757" y="4429773"/>
            <a:ext cx="145669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25" dirty="0">
                <a:solidFill>
                  <a:srgbClr val="94A2B8"/>
                </a:solidFill>
                <a:latin typeface="Microsoft Sans Serif"/>
                <a:cs typeface="Microsoft Sans Serif"/>
              </a:rPr>
              <a:t>Deployment</a:t>
            </a:r>
            <a:r>
              <a:rPr sz="1150" spc="-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4A2B8"/>
                </a:solidFill>
                <a:latin typeface="Microsoft Sans Serif"/>
                <a:cs typeface="Microsoft Sans Serif"/>
              </a:rPr>
              <a:t>Strategies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77900" y="6077598"/>
            <a:ext cx="135509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dirty="0">
                <a:solidFill>
                  <a:srgbClr val="94A2B8"/>
                </a:solidFill>
                <a:latin typeface="Microsoft Sans Serif"/>
                <a:cs typeface="Microsoft Sans Serif"/>
              </a:rPr>
              <a:t>Security</a:t>
            </a:r>
            <a:r>
              <a:rPr sz="1150" dirty="0">
                <a:solidFill>
                  <a:srgbClr val="94A2B8"/>
                </a:solidFill>
                <a:latin typeface="Gill Sans MT"/>
                <a:cs typeface="Gill Sans MT"/>
              </a:rPr>
              <a:t>-</a:t>
            </a:r>
            <a:r>
              <a:rPr sz="1150" spc="-10" dirty="0">
                <a:solidFill>
                  <a:srgbClr val="94A2B8"/>
                </a:solidFill>
                <a:latin typeface="Microsoft Sans Serif"/>
                <a:cs typeface="Microsoft Sans Serif"/>
              </a:rPr>
              <a:t>First</a:t>
            </a:r>
            <a:r>
              <a:rPr sz="1150" spc="-3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94A2B8"/>
                </a:solidFill>
                <a:latin typeface="Microsoft Sans Serif"/>
                <a:cs typeface="Microsoft Sans Serif"/>
              </a:rPr>
              <a:t>Design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043041" y="6077598"/>
            <a:ext cx="2399665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20" dirty="0">
                <a:solidFill>
                  <a:srgbClr val="94A2B8"/>
                </a:solidFill>
                <a:latin typeface="Microsoft Sans Serif"/>
                <a:cs typeface="Microsoft Sans Serif"/>
              </a:rPr>
              <a:t>CyberArk</a:t>
            </a:r>
            <a:r>
              <a:rPr sz="1150" spc="-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150" spc="-75" dirty="0">
                <a:solidFill>
                  <a:srgbClr val="94A2B8"/>
                </a:solidFill>
                <a:latin typeface="Microsoft Sans Serif"/>
                <a:cs typeface="Microsoft Sans Serif"/>
              </a:rPr>
              <a:t>PSM</a:t>
            </a:r>
            <a:r>
              <a:rPr sz="1150" spc="-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94A2B8"/>
                </a:solidFill>
                <a:latin typeface="Microsoft Sans Serif"/>
                <a:cs typeface="Microsoft Sans Serif"/>
              </a:rPr>
              <a:t>v</a:t>
            </a:r>
            <a:r>
              <a:rPr sz="1150" dirty="0">
                <a:solidFill>
                  <a:srgbClr val="94A2B8"/>
                </a:solidFill>
                <a:latin typeface="Gill Sans MT"/>
                <a:cs typeface="Gill Sans MT"/>
              </a:rPr>
              <a:t>12.6</a:t>
            </a:r>
            <a:r>
              <a:rPr sz="1150" spc="310" dirty="0">
                <a:solidFill>
                  <a:srgbClr val="94A2B8"/>
                </a:solidFill>
                <a:latin typeface="Gill Sans MT"/>
                <a:cs typeface="Gill Sans MT"/>
              </a:rPr>
              <a:t> </a:t>
            </a:r>
            <a:r>
              <a:rPr sz="1150" dirty="0">
                <a:solidFill>
                  <a:srgbClr val="3B81F5"/>
                </a:solidFill>
                <a:latin typeface="Gill Sans MT"/>
                <a:cs typeface="Gill Sans MT"/>
              </a:rPr>
              <a:t>|</a:t>
            </a:r>
            <a:r>
              <a:rPr sz="1150" spc="310" dirty="0">
                <a:solidFill>
                  <a:srgbClr val="3B81F5"/>
                </a:solidFill>
                <a:latin typeface="Gill Sans MT"/>
                <a:cs typeface="Gill Sans MT"/>
              </a:rPr>
              <a:t> </a:t>
            </a:r>
            <a:r>
              <a:rPr sz="1150" spc="-10" dirty="0">
                <a:solidFill>
                  <a:srgbClr val="94A2B8"/>
                </a:solidFill>
                <a:latin typeface="Microsoft Sans Serif"/>
                <a:cs typeface="Microsoft Sans Serif"/>
              </a:rPr>
              <a:t>AutoIt</a:t>
            </a:r>
            <a:r>
              <a:rPr sz="1150" spc="-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4A2B8"/>
                </a:solidFill>
                <a:latin typeface="Gill Sans MT"/>
                <a:cs typeface="Gill Sans MT"/>
              </a:rPr>
              <a:t>3.3.14.2</a:t>
            </a:r>
            <a:endParaRPr sz="1150">
              <a:latin typeface="Gill Sans MT"/>
              <a:cs typeface="Gill Sans MT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0382250" y="381000"/>
            <a:ext cx="1428750" cy="1143000"/>
          </a:xfrm>
          <a:custGeom>
            <a:avLst/>
            <a:gdLst/>
            <a:ahLst/>
            <a:cxnLst/>
            <a:rect l="l" t="t" r="r" b="b"/>
            <a:pathLst>
              <a:path w="1428750" h="1143000">
                <a:moveTo>
                  <a:pt x="892968" y="428625"/>
                </a:moveTo>
                <a:lnTo>
                  <a:pt x="535781" y="428625"/>
                </a:lnTo>
                <a:lnTo>
                  <a:pt x="494080" y="420201"/>
                </a:lnTo>
                <a:lnTo>
                  <a:pt x="460018" y="397231"/>
                </a:lnTo>
                <a:lnTo>
                  <a:pt x="437048" y="363169"/>
                </a:lnTo>
                <a:lnTo>
                  <a:pt x="428625" y="321468"/>
                </a:lnTo>
                <a:lnTo>
                  <a:pt x="428625" y="107156"/>
                </a:lnTo>
                <a:lnTo>
                  <a:pt x="437048" y="65455"/>
                </a:lnTo>
                <a:lnTo>
                  <a:pt x="460018" y="31393"/>
                </a:lnTo>
                <a:lnTo>
                  <a:pt x="494080" y="8423"/>
                </a:lnTo>
                <a:lnTo>
                  <a:pt x="535781" y="0"/>
                </a:lnTo>
                <a:lnTo>
                  <a:pt x="892968" y="0"/>
                </a:lnTo>
                <a:lnTo>
                  <a:pt x="934669" y="8423"/>
                </a:lnTo>
                <a:lnTo>
                  <a:pt x="968731" y="31393"/>
                </a:lnTo>
                <a:lnTo>
                  <a:pt x="991701" y="65455"/>
                </a:lnTo>
                <a:lnTo>
                  <a:pt x="1000125" y="107156"/>
                </a:lnTo>
                <a:lnTo>
                  <a:pt x="1000125" y="142875"/>
                </a:lnTo>
                <a:lnTo>
                  <a:pt x="571500" y="142875"/>
                </a:lnTo>
                <a:lnTo>
                  <a:pt x="571500" y="285750"/>
                </a:lnTo>
                <a:lnTo>
                  <a:pt x="1000125" y="285750"/>
                </a:lnTo>
                <a:lnTo>
                  <a:pt x="1000125" y="321468"/>
                </a:lnTo>
                <a:lnTo>
                  <a:pt x="991701" y="363169"/>
                </a:lnTo>
                <a:lnTo>
                  <a:pt x="968731" y="397231"/>
                </a:lnTo>
                <a:lnTo>
                  <a:pt x="934669" y="420201"/>
                </a:lnTo>
                <a:lnTo>
                  <a:pt x="892968" y="428625"/>
                </a:lnTo>
                <a:close/>
              </a:path>
              <a:path w="1428750" h="1143000">
                <a:moveTo>
                  <a:pt x="1000125" y="285750"/>
                </a:moveTo>
                <a:lnTo>
                  <a:pt x="857250" y="285750"/>
                </a:lnTo>
                <a:lnTo>
                  <a:pt x="857250" y="142875"/>
                </a:lnTo>
                <a:lnTo>
                  <a:pt x="1000125" y="142875"/>
                </a:lnTo>
                <a:lnTo>
                  <a:pt x="1000125" y="285750"/>
                </a:lnTo>
                <a:close/>
              </a:path>
              <a:path w="1428750" h="1143000">
                <a:moveTo>
                  <a:pt x="785812" y="500062"/>
                </a:moveTo>
                <a:lnTo>
                  <a:pt x="642937" y="500062"/>
                </a:lnTo>
                <a:lnTo>
                  <a:pt x="642937" y="428625"/>
                </a:lnTo>
                <a:lnTo>
                  <a:pt x="785812" y="428625"/>
                </a:lnTo>
                <a:lnTo>
                  <a:pt x="785812" y="500062"/>
                </a:lnTo>
                <a:close/>
              </a:path>
              <a:path w="1428750" h="1143000">
                <a:moveTo>
                  <a:pt x="1357312" y="642937"/>
                </a:moveTo>
                <a:lnTo>
                  <a:pt x="71437" y="642937"/>
                </a:lnTo>
                <a:lnTo>
                  <a:pt x="43605" y="637332"/>
                </a:lnTo>
                <a:lnTo>
                  <a:pt x="20901" y="622036"/>
                </a:lnTo>
                <a:lnTo>
                  <a:pt x="5605" y="599332"/>
                </a:lnTo>
                <a:lnTo>
                  <a:pt x="0" y="571500"/>
                </a:lnTo>
                <a:lnTo>
                  <a:pt x="5605" y="543668"/>
                </a:lnTo>
                <a:lnTo>
                  <a:pt x="20901" y="520963"/>
                </a:lnTo>
                <a:lnTo>
                  <a:pt x="43605" y="505668"/>
                </a:lnTo>
                <a:lnTo>
                  <a:pt x="71437" y="500062"/>
                </a:lnTo>
                <a:lnTo>
                  <a:pt x="1357312" y="500062"/>
                </a:lnTo>
                <a:lnTo>
                  <a:pt x="1385144" y="505668"/>
                </a:lnTo>
                <a:lnTo>
                  <a:pt x="1407849" y="520963"/>
                </a:lnTo>
                <a:lnTo>
                  <a:pt x="1423144" y="543668"/>
                </a:lnTo>
                <a:lnTo>
                  <a:pt x="1428750" y="571500"/>
                </a:lnTo>
                <a:lnTo>
                  <a:pt x="1423144" y="599332"/>
                </a:lnTo>
                <a:lnTo>
                  <a:pt x="1407849" y="622036"/>
                </a:lnTo>
                <a:lnTo>
                  <a:pt x="1385144" y="637332"/>
                </a:lnTo>
                <a:lnTo>
                  <a:pt x="1357312" y="642937"/>
                </a:lnTo>
                <a:close/>
              </a:path>
              <a:path w="1428750" h="1143000">
                <a:moveTo>
                  <a:pt x="428625" y="714375"/>
                </a:moveTo>
                <a:lnTo>
                  <a:pt x="285750" y="714375"/>
                </a:lnTo>
                <a:lnTo>
                  <a:pt x="285750" y="642937"/>
                </a:lnTo>
                <a:lnTo>
                  <a:pt x="428625" y="642937"/>
                </a:lnTo>
                <a:lnTo>
                  <a:pt x="428625" y="714375"/>
                </a:lnTo>
                <a:close/>
              </a:path>
              <a:path w="1428750" h="1143000">
                <a:moveTo>
                  <a:pt x="1143000" y="714375"/>
                </a:moveTo>
                <a:lnTo>
                  <a:pt x="1000125" y="714375"/>
                </a:lnTo>
                <a:lnTo>
                  <a:pt x="1000125" y="642937"/>
                </a:lnTo>
                <a:lnTo>
                  <a:pt x="1143000" y="642937"/>
                </a:lnTo>
                <a:lnTo>
                  <a:pt x="1143000" y="714375"/>
                </a:lnTo>
                <a:close/>
              </a:path>
              <a:path w="1428750" h="1143000">
                <a:moveTo>
                  <a:pt x="535781" y="1143000"/>
                </a:moveTo>
                <a:lnTo>
                  <a:pt x="178593" y="1143000"/>
                </a:lnTo>
                <a:lnTo>
                  <a:pt x="136892" y="1134576"/>
                </a:lnTo>
                <a:lnTo>
                  <a:pt x="102830" y="1111606"/>
                </a:lnTo>
                <a:lnTo>
                  <a:pt x="79861" y="1077544"/>
                </a:lnTo>
                <a:lnTo>
                  <a:pt x="71437" y="1035843"/>
                </a:lnTo>
                <a:lnTo>
                  <a:pt x="71437" y="821531"/>
                </a:lnTo>
                <a:lnTo>
                  <a:pt x="79861" y="779830"/>
                </a:lnTo>
                <a:lnTo>
                  <a:pt x="102830" y="745768"/>
                </a:lnTo>
                <a:lnTo>
                  <a:pt x="136892" y="722799"/>
                </a:lnTo>
                <a:lnTo>
                  <a:pt x="178593" y="714375"/>
                </a:lnTo>
                <a:lnTo>
                  <a:pt x="535781" y="714375"/>
                </a:lnTo>
                <a:lnTo>
                  <a:pt x="577482" y="722799"/>
                </a:lnTo>
                <a:lnTo>
                  <a:pt x="611544" y="745768"/>
                </a:lnTo>
                <a:lnTo>
                  <a:pt x="634513" y="779830"/>
                </a:lnTo>
                <a:lnTo>
                  <a:pt x="642937" y="821531"/>
                </a:lnTo>
                <a:lnTo>
                  <a:pt x="642937" y="857250"/>
                </a:lnTo>
                <a:lnTo>
                  <a:pt x="214312" y="857250"/>
                </a:lnTo>
                <a:lnTo>
                  <a:pt x="214312" y="1000125"/>
                </a:lnTo>
                <a:lnTo>
                  <a:pt x="642937" y="1000125"/>
                </a:lnTo>
                <a:lnTo>
                  <a:pt x="642937" y="1035843"/>
                </a:lnTo>
                <a:lnTo>
                  <a:pt x="634513" y="1077544"/>
                </a:lnTo>
                <a:lnTo>
                  <a:pt x="611544" y="1111606"/>
                </a:lnTo>
                <a:lnTo>
                  <a:pt x="577482" y="1134576"/>
                </a:lnTo>
                <a:lnTo>
                  <a:pt x="535781" y="1143000"/>
                </a:lnTo>
                <a:close/>
              </a:path>
              <a:path w="1428750" h="1143000">
                <a:moveTo>
                  <a:pt x="1250156" y="1143000"/>
                </a:moveTo>
                <a:lnTo>
                  <a:pt x="892968" y="1143000"/>
                </a:lnTo>
                <a:lnTo>
                  <a:pt x="851267" y="1134576"/>
                </a:lnTo>
                <a:lnTo>
                  <a:pt x="817206" y="1111606"/>
                </a:lnTo>
                <a:lnTo>
                  <a:pt x="794236" y="1077544"/>
                </a:lnTo>
                <a:lnTo>
                  <a:pt x="785812" y="1035843"/>
                </a:lnTo>
                <a:lnTo>
                  <a:pt x="785812" y="821531"/>
                </a:lnTo>
                <a:lnTo>
                  <a:pt x="794236" y="779830"/>
                </a:lnTo>
                <a:lnTo>
                  <a:pt x="817206" y="745768"/>
                </a:lnTo>
                <a:lnTo>
                  <a:pt x="851267" y="722799"/>
                </a:lnTo>
                <a:lnTo>
                  <a:pt x="892968" y="714375"/>
                </a:lnTo>
                <a:lnTo>
                  <a:pt x="1250156" y="714375"/>
                </a:lnTo>
                <a:lnTo>
                  <a:pt x="1291857" y="722799"/>
                </a:lnTo>
                <a:lnTo>
                  <a:pt x="1325919" y="745768"/>
                </a:lnTo>
                <a:lnTo>
                  <a:pt x="1348888" y="779830"/>
                </a:lnTo>
                <a:lnTo>
                  <a:pt x="1357312" y="821531"/>
                </a:lnTo>
                <a:lnTo>
                  <a:pt x="1357312" y="857250"/>
                </a:lnTo>
                <a:lnTo>
                  <a:pt x="928687" y="857250"/>
                </a:lnTo>
                <a:lnTo>
                  <a:pt x="928687" y="1000125"/>
                </a:lnTo>
                <a:lnTo>
                  <a:pt x="1357312" y="1000125"/>
                </a:lnTo>
                <a:lnTo>
                  <a:pt x="1357312" y="1035843"/>
                </a:lnTo>
                <a:lnTo>
                  <a:pt x="1348888" y="1077544"/>
                </a:lnTo>
                <a:lnTo>
                  <a:pt x="1325919" y="1111606"/>
                </a:lnTo>
                <a:lnTo>
                  <a:pt x="1291857" y="1134576"/>
                </a:lnTo>
                <a:lnTo>
                  <a:pt x="1250156" y="1143000"/>
                </a:lnTo>
                <a:close/>
              </a:path>
              <a:path w="1428750" h="1143000">
                <a:moveTo>
                  <a:pt x="642937" y="1000125"/>
                </a:moveTo>
                <a:lnTo>
                  <a:pt x="500062" y="1000125"/>
                </a:lnTo>
                <a:lnTo>
                  <a:pt x="500062" y="857250"/>
                </a:lnTo>
                <a:lnTo>
                  <a:pt x="642937" y="857250"/>
                </a:lnTo>
                <a:lnTo>
                  <a:pt x="642937" y="1000125"/>
                </a:lnTo>
                <a:close/>
              </a:path>
              <a:path w="1428750" h="1143000">
                <a:moveTo>
                  <a:pt x="1357312" y="1000125"/>
                </a:moveTo>
                <a:lnTo>
                  <a:pt x="1214437" y="1000125"/>
                </a:lnTo>
                <a:lnTo>
                  <a:pt x="1214437" y="857250"/>
                </a:lnTo>
                <a:lnTo>
                  <a:pt x="1357312" y="857250"/>
                </a:lnTo>
                <a:lnTo>
                  <a:pt x="1357312" y="1000125"/>
                </a:lnTo>
                <a:close/>
              </a:path>
            </a:pathLst>
          </a:custGeom>
          <a:solidFill>
            <a:srgbClr val="3B81F5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215900"/>
            <a:ext cx="57251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PSM</a:t>
            </a:r>
            <a:r>
              <a:rPr spc="185" dirty="0"/>
              <a:t> </a:t>
            </a:r>
            <a:r>
              <a:rPr dirty="0"/>
              <a:t>Connectors</a:t>
            </a:r>
            <a:r>
              <a:rPr spc="190" dirty="0"/>
              <a:t> </a:t>
            </a:r>
            <a:r>
              <a:rPr dirty="0"/>
              <a:t>&amp;</a:t>
            </a:r>
            <a:r>
              <a:rPr spc="190" dirty="0"/>
              <a:t> </a:t>
            </a:r>
            <a:r>
              <a:rPr dirty="0"/>
              <a:t>Connection</a:t>
            </a:r>
            <a:r>
              <a:rPr spc="185" dirty="0"/>
              <a:t> </a:t>
            </a:r>
            <a:r>
              <a:rPr spc="-10" dirty="0"/>
              <a:t>Components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63379" y="292100"/>
            <a:ext cx="11379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Technical</a:t>
            </a:r>
            <a:r>
              <a:rPr sz="1050" spc="-55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Overview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7368" y="868679"/>
            <a:ext cx="6590030" cy="3093720"/>
            <a:chOff x="277368" y="868679"/>
            <a:chExt cx="6590030" cy="3093720"/>
          </a:xfrm>
        </p:grpSpPr>
        <p:sp>
          <p:nvSpPr>
            <p:cNvPr id="6" name="object 6"/>
            <p:cNvSpPr/>
            <p:nvPr/>
          </p:nvSpPr>
          <p:spPr>
            <a:xfrm>
              <a:off x="277368" y="868679"/>
              <a:ext cx="6590030" cy="3093720"/>
            </a:xfrm>
            <a:custGeom>
              <a:avLst/>
              <a:gdLst/>
              <a:ahLst/>
              <a:cxnLst/>
              <a:rect l="l" t="t" r="r" b="b"/>
              <a:pathLst>
                <a:path w="6590030" h="3093720">
                  <a:moveTo>
                    <a:pt x="6589775" y="3093719"/>
                  </a:moveTo>
                  <a:lnTo>
                    <a:pt x="0" y="3093719"/>
                  </a:lnTo>
                  <a:lnTo>
                    <a:pt x="0" y="0"/>
                  </a:lnTo>
                  <a:lnTo>
                    <a:pt x="6589775" y="0"/>
                  </a:lnTo>
                  <a:lnTo>
                    <a:pt x="6589775" y="93344"/>
                  </a:lnTo>
                  <a:lnTo>
                    <a:pt x="179831" y="93344"/>
                  </a:lnTo>
                  <a:lnTo>
                    <a:pt x="173263" y="93662"/>
                  </a:lnTo>
                  <a:lnTo>
                    <a:pt x="137554" y="108453"/>
                  </a:lnTo>
                  <a:lnTo>
                    <a:pt x="116011" y="140694"/>
                  </a:lnTo>
                  <a:lnTo>
                    <a:pt x="113156" y="160019"/>
                  </a:lnTo>
                  <a:lnTo>
                    <a:pt x="113156" y="2893710"/>
                  </a:lnTo>
                  <a:lnTo>
                    <a:pt x="124383" y="2930747"/>
                  </a:lnTo>
                  <a:lnTo>
                    <a:pt x="154317" y="2955279"/>
                  </a:lnTo>
                  <a:lnTo>
                    <a:pt x="179831" y="2960369"/>
                  </a:lnTo>
                  <a:lnTo>
                    <a:pt x="6589775" y="2960369"/>
                  </a:lnTo>
                  <a:lnTo>
                    <a:pt x="6589775" y="3093719"/>
                  </a:lnTo>
                  <a:close/>
                </a:path>
                <a:path w="6590030" h="3093720">
                  <a:moveTo>
                    <a:pt x="6589775" y="2960369"/>
                  </a:moveTo>
                  <a:lnTo>
                    <a:pt x="6409181" y="2960369"/>
                  </a:lnTo>
                  <a:lnTo>
                    <a:pt x="6415748" y="2960050"/>
                  </a:lnTo>
                  <a:lnTo>
                    <a:pt x="6422189" y="2959093"/>
                  </a:lnTo>
                  <a:lnTo>
                    <a:pt x="6456334" y="2940832"/>
                  </a:lnTo>
                  <a:lnTo>
                    <a:pt x="6474580" y="2906717"/>
                  </a:lnTo>
                  <a:lnTo>
                    <a:pt x="6475841" y="2893710"/>
                  </a:lnTo>
                  <a:lnTo>
                    <a:pt x="6475841" y="160019"/>
                  </a:lnTo>
                  <a:lnTo>
                    <a:pt x="6464632" y="122970"/>
                  </a:lnTo>
                  <a:lnTo>
                    <a:pt x="6434693" y="98419"/>
                  </a:lnTo>
                  <a:lnTo>
                    <a:pt x="6409181" y="93344"/>
                  </a:lnTo>
                  <a:lnTo>
                    <a:pt x="6589775" y="93344"/>
                  </a:lnTo>
                  <a:lnTo>
                    <a:pt x="6589775" y="2960369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5762" y="957262"/>
              <a:ext cx="6372225" cy="2876550"/>
            </a:xfrm>
            <a:custGeom>
              <a:avLst/>
              <a:gdLst/>
              <a:ahLst/>
              <a:cxnLst/>
              <a:rect l="l" t="t" r="r" b="b"/>
              <a:pathLst>
                <a:path w="6372225" h="2876550">
                  <a:moveTo>
                    <a:pt x="6305473" y="2876550"/>
                  </a:moveTo>
                  <a:lnTo>
                    <a:pt x="66746" y="2876550"/>
                  </a:lnTo>
                  <a:lnTo>
                    <a:pt x="62101" y="2876092"/>
                  </a:lnTo>
                  <a:lnTo>
                    <a:pt x="24240" y="2858938"/>
                  </a:lnTo>
                  <a:lnTo>
                    <a:pt x="2287" y="2823648"/>
                  </a:lnTo>
                  <a:lnTo>
                    <a:pt x="0" y="2809798"/>
                  </a:lnTo>
                  <a:lnTo>
                    <a:pt x="0" y="2805112"/>
                  </a:lnTo>
                  <a:lnTo>
                    <a:pt x="0" y="66751"/>
                  </a:lnTo>
                  <a:lnTo>
                    <a:pt x="14645" y="27851"/>
                  </a:lnTo>
                  <a:lnTo>
                    <a:pt x="48432" y="3638"/>
                  </a:lnTo>
                  <a:lnTo>
                    <a:pt x="66746" y="0"/>
                  </a:lnTo>
                  <a:lnTo>
                    <a:pt x="6305473" y="0"/>
                  </a:lnTo>
                  <a:lnTo>
                    <a:pt x="6344373" y="14649"/>
                  </a:lnTo>
                  <a:lnTo>
                    <a:pt x="6368576" y="48434"/>
                  </a:lnTo>
                  <a:lnTo>
                    <a:pt x="6372225" y="66751"/>
                  </a:lnTo>
                  <a:lnTo>
                    <a:pt x="6372225" y="2809798"/>
                  </a:lnTo>
                  <a:lnTo>
                    <a:pt x="6357575" y="2848698"/>
                  </a:lnTo>
                  <a:lnTo>
                    <a:pt x="6323790" y="2872911"/>
                  </a:lnTo>
                  <a:lnTo>
                    <a:pt x="6310122" y="2876092"/>
                  </a:lnTo>
                  <a:lnTo>
                    <a:pt x="6305473" y="28765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5762" y="957262"/>
              <a:ext cx="6372225" cy="2876550"/>
            </a:xfrm>
            <a:custGeom>
              <a:avLst/>
              <a:gdLst/>
              <a:ahLst/>
              <a:cxnLst/>
              <a:rect l="l" t="t" r="r" b="b"/>
              <a:pathLst>
                <a:path w="6372225" h="2876550">
                  <a:moveTo>
                    <a:pt x="0" y="2805112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103"/>
                  </a:lnTo>
                  <a:lnTo>
                    <a:pt x="1372" y="57502"/>
                  </a:lnTo>
                  <a:lnTo>
                    <a:pt x="2287" y="52901"/>
                  </a:lnTo>
                  <a:lnTo>
                    <a:pt x="3642" y="48434"/>
                  </a:lnTo>
                  <a:lnTo>
                    <a:pt x="5437" y="44100"/>
                  </a:lnTo>
                  <a:lnTo>
                    <a:pt x="7233" y="39766"/>
                  </a:lnTo>
                  <a:lnTo>
                    <a:pt x="20923" y="20926"/>
                  </a:lnTo>
                  <a:lnTo>
                    <a:pt x="24240" y="17602"/>
                  </a:lnTo>
                  <a:lnTo>
                    <a:pt x="44099" y="5438"/>
                  </a:lnTo>
                  <a:lnTo>
                    <a:pt x="48432" y="3638"/>
                  </a:lnTo>
                  <a:lnTo>
                    <a:pt x="52899" y="2285"/>
                  </a:lnTo>
                  <a:lnTo>
                    <a:pt x="57500" y="1371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300787" y="0"/>
                  </a:lnTo>
                  <a:lnTo>
                    <a:pt x="6305473" y="0"/>
                  </a:lnTo>
                  <a:lnTo>
                    <a:pt x="6310122" y="457"/>
                  </a:lnTo>
                  <a:lnTo>
                    <a:pt x="6314722" y="1371"/>
                  </a:lnTo>
                  <a:lnTo>
                    <a:pt x="6319323" y="2285"/>
                  </a:lnTo>
                  <a:lnTo>
                    <a:pt x="6323790" y="3638"/>
                  </a:lnTo>
                  <a:lnTo>
                    <a:pt x="6328124" y="5438"/>
                  </a:lnTo>
                  <a:lnTo>
                    <a:pt x="6332458" y="7229"/>
                  </a:lnTo>
                  <a:lnTo>
                    <a:pt x="6351298" y="20926"/>
                  </a:lnTo>
                  <a:lnTo>
                    <a:pt x="6354613" y="24241"/>
                  </a:lnTo>
                  <a:lnTo>
                    <a:pt x="6366786" y="44100"/>
                  </a:lnTo>
                  <a:lnTo>
                    <a:pt x="6368576" y="48434"/>
                  </a:lnTo>
                  <a:lnTo>
                    <a:pt x="6369938" y="52901"/>
                  </a:lnTo>
                  <a:lnTo>
                    <a:pt x="6370853" y="57502"/>
                  </a:lnTo>
                  <a:lnTo>
                    <a:pt x="6371767" y="62103"/>
                  </a:lnTo>
                  <a:lnTo>
                    <a:pt x="6372225" y="66751"/>
                  </a:lnTo>
                  <a:lnTo>
                    <a:pt x="6372225" y="71437"/>
                  </a:lnTo>
                  <a:lnTo>
                    <a:pt x="6372225" y="2805112"/>
                  </a:lnTo>
                  <a:lnTo>
                    <a:pt x="6372225" y="2809798"/>
                  </a:lnTo>
                  <a:lnTo>
                    <a:pt x="6371767" y="2814447"/>
                  </a:lnTo>
                  <a:lnTo>
                    <a:pt x="6354613" y="2852308"/>
                  </a:lnTo>
                  <a:lnTo>
                    <a:pt x="6328124" y="2871111"/>
                  </a:lnTo>
                  <a:lnTo>
                    <a:pt x="6323790" y="2872911"/>
                  </a:lnTo>
                  <a:lnTo>
                    <a:pt x="6319323" y="2874264"/>
                  </a:lnTo>
                  <a:lnTo>
                    <a:pt x="6314722" y="2875178"/>
                  </a:lnTo>
                  <a:lnTo>
                    <a:pt x="6310122" y="2876092"/>
                  </a:lnTo>
                  <a:lnTo>
                    <a:pt x="6305473" y="2876550"/>
                  </a:lnTo>
                  <a:lnTo>
                    <a:pt x="6300787" y="2876550"/>
                  </a:lnTo>
                  <a:lnTo>
                    <a:pt x="71437" y="2876550"/>
                  </a:lnTo>
                  <a:lnTo>
                    <a:pt x="66746" y="2876550"/>
                  </a:lnTo>
                  <a:lnTo>
                    <a:pt x="62101" y="2876092"/>
                  </a:lnTo>
                  <a:lnTo>
                    <a:pt x="57500" y="2875178"/>
                  </a:lnTo>
                  <a:lnTo>
                    <a:pt x="52899" y="2874264"/>
                  </a:lnTo>
                  <a:lnTo>
                    <a:pt x="48432" y="2872911"/>
                  </a:lnTo>
                  <a:lnTo>
                    <a:pt x="44099" y="2871111"/>
                  </a:lnTo>
                  <a:lnTo>
                    <a:pt x="39765" y="2869320"/>
                  </a:lnTo>
                  <a:lnTo>
                    <a:pt x="9433" y="2840897"/>
                  </a:lnTo>
                  <a:lnTo>
                    <a:pt x="0" y="2809798"/>
                  </a:lnTo>
                  <a:lnTo>
                    <a:pt x="0" y="2805112"/>
                  </a:lnTo>
                  <a:close/>
                </a:path>
              </a:pathLst>
            </a:custGeom>
            <a:ln w="9525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075" y="3038474"/>
              <a:ext cx="5962650" cy="600075"/>
            </a:xfrm>
            <a:custGeom>
              <a:avLst/>
              <a:gdLst/>
              <a:ahLst/>
              <a:cxnLst/>
              <a:rect l="l" t="t" r="r" b="b"/>
              <a:pathLst>
                <a:path w="5962650" h="600075">
                  <a:moveTo>
                    <a:pt x="5909252" y="600075"/>
                  </a:moveTo>
                  <a:lnTo>
                    <a:pt x="33047" y="600075"/>
                  </a:lnTo>
                  <a:lnTo>
                    <a:pt x="28187" y="598627"/>
                  </a:lnTo>
                  <a:lnTo>
                    <a:pt x="966" y="557793"/>
                  </a:lnTo>
                  <a:lnTo>
                    <a:pt x="0" y="550506"/>
                  </a:lnTo>
                  <a:lnTo>
                    <a:pt x="0" y="542925"/>
                  </a:lnTo>
                  <a:lnTo>
                    <a:pt x="0" y="49568"/>
                  </a:lnTo>
                  <a:lnTo>
                    <a:pt x="14731" y="11382"/>
                  </a:lnTo>
                  <a:lnTo>
                    <a:pt x="33047" y="0"/>
                  </a:lnTo>
                  <a:lnTo>
                    <a:pt x="5909252" y="0"/>
                  </a:lnTo>
                  <a:lnTo>
                    <a:pt x="5948562" y="19392"/>
                  </a:lnTo>
                  <a:lnTo>
                    <a:pt x="5962650" y="53397"/>
                  </a:lnTo>
                  <a:lnTo>
                    <a:pt x="5962650" y="546677"/>
                  </a:lnTo>
                  <a:lnTo>
                    <a:pt x="5943257" y="585987"/>
                  </a:lnTo>
                  <a:lnTo>
                    <a:pt x="5912967" y="599713"/>
                  </a:lnTo>
                  <a:lnTo>
                    <a:pt x="5909252" y="600075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1025" y="3038474"/>
              <a:ext cx="52069" cy="600075"/>
            </a:xfrm>
            <a:custGeom>
              <a:avLst/>
              <a:gdLst/>
              <a:ahLst/>
              <a:cxnLst/>
              <a:rect l="l" t="t" r="r" b="b"/>
              <a:pathLst>
                <a:path w="52070" h="600075">
                  <a:moveTo>
                    <a:pt x="51889" y="600075"/>
                  </a:moveTo>
                  <a:lnTo>
                    <a:pt x="49572" y="600075"/>
                  </a:lnTo>
                  <a:lnTo>
                    <a:pt x="42281" y="598611"/>
                  </a:lnTo>
                  <a:lnTo>
                    <a:pt x="7251" y="571789"/>
                  </a:lnTo>
                  <a:lnTo>
                    <a:pt x="0" y="550514"/>
                  </a:lnTo>
                  <a:lnTo>
                    <a:pt x="0" y="49575"/>
                  </a:lnTo>
                  <a:lnTo>
                    <a:pt x="22097" y="11384"/>
                  </a:lnTo>
                  <a:lnTo>
                    <a:pt x="49572" y="0"/>
                  </a:lnTo>
                  <a:lnTo>
                    <a:pt x="51889" y="0"/>
                  </a:lnTo>
                  <a:lnTo>
                    <a:pt x="47399" y="5580"/>
                  </a:lnTo>
                  <a:lnTo>
                    <a:pt x="43680" y="16748"/>
                  </a:lnTo>
                  <a:lnTo>
                    <a:pt x="41238" y="25549"/>
                  </a:lnTo>
                  <a:lnTo>
                    <a:pt x="39494" y="35219"/>
                  </a:lnTo>
                  <a:lnTo>
                    <a:pt x="38448" y="45758"/>
                  </a:lnTo>
                  <a:lnTo>
                    <a:pt x="38099" y="57165"/>
                  </a:lnTo>
                  <a:lnTo>
                    <a:pt x="38099" y="542924"/>
                  </a:lnTo>
                  <a:lnTo>
                    <a:pt x="43680" y="583341"/>
                  </a:lnTo>
                  <a:lnTo>
                    <a:pt x="47399" y="594497"/>
                  </a:lnTo>
                  <a:lnTo>
                    <a:pt x="51889" y="600075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25" y="1181099"/>
              <a:ext cx="114300" cy="1524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025" y="1558924"/>
              <a:ext cx="133350" cy="13652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025" y="2073275"/>
              <a:ext cx="133350" cy="1365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025" y="2587624"/>
              <a:ext cx="133350" cy="13652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58825" y="1149350"/>
            <a:ext cx="5594985" cy="176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What</a:t>
            </a:r>
            <a:r>
              <a:rPr sz="1200" b="1" spc="-2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are</a:t>
            </a:r>
            <a:r>
              <a:rPr sz="1200" b="1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PSM</a:t>
            </a:r>
            <a:r>
              <a:rPr sz="1200" b="1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Connectors?</a:t>
            </a:r>
            <a:endParaRPr sz="1200" dirty="0">
              <a:latin typeface="Segoe UI"/>
              <a:cs typeface="Segoe UI"/>
            </a:endParaRPr>
          </a:p>
          <a:p>
            <a:pPr marL="50800" marR="5080">
              <a:lnSpc>
                <a:spcPct val="125000"/>
              </a:lnSpc>
              <a:spcBef>
                <a:spcPts val="1019"/>
              </a:spcBef>
            </a:pP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PSM</a:t>
            </a:r>
            <a:r>
              <a:rPr sz="1050" b="1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connectors</a:t>
            </a:r>
            <a:r>
              <a:rPr sz="1050" b="1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enable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users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to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connect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to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target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machines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on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platform-by-platform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basis,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affecting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all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accounts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associated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with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the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platform.</a:t>
            </a:r>
            <a:endParaRPr sz="1050" dirty="0">
              <a:latin typeface="Segoe UI"/>
              <a:cs typeface="Segoe UI"/>
            </a:endParaRPr>
          </a:p>
          <a:p>
            <a:pPr marL="50800" marR="330200">
              <a:lnSpc>
                <a:spcPct val="125000"/>
              </a:lnSpc>
              <a:spcBef>
                <a:spcPts val="900"/>
              </a:spcBef>
            </a:pP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Connection</a:t>
            </a:r>
            <a:r>
              <a:rPr sz="1050" b="1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Components</a:t>
            </a:r>
            <a:r>
              <a:rPr sz="1050" b="1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are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managed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in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PVWA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and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drive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client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invocation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and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session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behavior for privileged 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sessions.</a:t>
            </a:r>
            <a:endParaRPr sz="1050" dirty="0">
              <a:latin typeface="Segoe UI"/>
              <a:cs typeface="Segoe UI"/>
            </a:endParaRPr>
          </a:p>
          <a:p>
            <a:pPr marL="50800" marR="57785">
              <a:lnSpc>
                <a:spcPct val="125000"/>
              </a:lnSpc>
              <a:spcBef>
                <a:spcPts val="900"/>
              </a:spcBef>
            </a:pP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During</a:t>
            </a:r>
            <a:r>
              <a:rPr sz="1050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PSM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installation,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series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of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supported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PSM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connectors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are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created.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334054"/>
                </a:solidFill>
                <a:latin typeface="Segoe UI"/>
                <a:cs typeface="Segoe UI"/>
              </a:rPr>
              <a:t>You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can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use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these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with default settings or customize 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them.</a:t>
            </a:r>
            <a:endParaRPr sz="1050" dirty="0">
              <a:latin typeface="Segoe UI"/>
              <a:cs typeface="Segoe U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3425" y="3184525"/>
            <a:ext cx="123825" cy="12700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20725" y="3117214"/>
            <a:ext cx="57099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7480">
              <a:lnSpc>
                <a:spcPct val="131600"/>
              </a:lnSpc>
              <a:spcBef>
                <a:spcPts val="95"/>
              </a:spcBef>
            </a:pPr>
            <a:r>
              <a:rPr sz="950" b="1" dirty="0">
                <a:solidFill>
                  <a:srgbClr val="1D3A5E"/>
                </a:solidFill>
                <a:latin typeface="Segoe UI"/>
                <a:cs typeface="Segoe UI"/>
              </a:rPr>
              <a:t>Note:</a:t>
            </a:r>
            <a:r>
              <a:rPr sz="950" b="1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When</a:t>
            </a:r>
            <a:r>
              <a:rPr sz="950" spc="6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you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install</a:t>
            </a:r>
            <a:r>
              <a:rPr sz="950" spc="6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PSM</a:t>
            </a:r>
            <a:r>
              <a:rPr sz="950" spc="6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in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a</a:t>
            </a:r>
            <a:r>
              <a:rPr sz="950" spc="6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new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environment,</a:t>
            </a:r>
            <a:r>
              <a:rPr sz="950" spc="6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connection</a:t>
            </a:r>
            <a:r>
              <a:rPr sz="950" spc="6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components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not</a:t>
            </a:r>
            <a:r>
              <a:rPr sz="950" spc="6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available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out-of-</a:t>
            </a:r>
            <a:r>
              <a:rPr sz="950" spc="-20" dirty="0">
                <a:solidFill>
                  <a:srgbClr val="1D3A5E"/>
                </a:solidFill>
                <a:latin typeface="Segoe UI"/>
                <a:cs typeface="Segoe UI"/>
              </a:rPr>
              <a:t>the-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box</a:t>
            </a:r>
            <a:r>
              <a:rPr sz="950" spc="4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can</a:t>
            </a:r>
            <a:r>
              <a:rPr sz="950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be</a:t>
            </a:r>
            <a:r>
              <a:rPr sz="950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downloaded</a:t>
            </a:r>
            <a:r>
              <a:rPr sz="950" spc="4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from</a:t>
            </a:r>
            <a:r>
              <a:rPr sz="950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the</a:t>
            </a:r>
            <a:r>
              <a:rPr sz="950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CyberArk</a:t>
            </a:r>
            <a:r>
              <a:rPr sz="950" spc="4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"/>
                <a:cs typeface="Segoe UI"/>
              </a:rPr>
              <a:t>Marketplace.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77368" y="3944111"/>
            <a:ext cx="6590030" cy="2618740"/>
            <a:chOff x="277368" y="3944111"/>
            <a:chExt cx="6590030" cy="2618740"/>
          </a:xfrm>
        </p:grpSpPr>
        <p:sp>
          <p:nvSpPr>
            <p:cNvPr id="19" name="object 19"/>
            <p:cNvSpPr/>
            <p:nvPr/>
          </p:nvSpPr>
          <p:spPr>
            <a:xfrm>
              <a:off x="277368" y="3944111"/>
              <a:ext cx="6590030" cy="2618740"/>
            </a:xfrm>
            <a:custGeom>
              <a:avLst/>
              <a:gdLst/>
              <a:ahLst/>
              <a:cxnLst/>
              <a:rect l="l" t="t" r="r" b="b"/>
              <a:pathLst>
                <a:path w="6590030" h="2618740">
                  <a:moveTo>
                    <a:pt x="6589775" y="2618231"/>
                  </a:moveTo>
                  <a:lnTo>
                    <a:pt x="0" y="2618231"/>
                  </a:lnTo>
                  <a:lnTo>
                    <a:pt x="0" y="0"/>
                  </a:lnTo>
                  <a:lnTo>
                    <a:pt x="6589775" y="0"/>
                  </a:lnTo>
                  <a:lnTo>
                    <a:pt x="6589775" y="94487"/>
                  </a:lnTo>
                  <a:lnTo>
                    <a:pt x="179831" y="94487"/>
                  </a:lnTo>
                  <a:lnTo>
                    <a:pt x="173263" y="94802"/>
                  </a:lnTo>
                  <a:lnTo>
                    <a:pt x="137554" y="109607"/>
                  </a:lnTo>
                  <a:lnTo>
                    <a:pt x="116011" y="141825"/>
                  </a:lnTo>
                  <a:lnTo>
                    <a:pt x="113156" y="161178"/>
                  </a:lnTo>
                  <a:lnTo>
                    <a:pt x="113156" y="2418587"/>
                  </a:lnTo>
                  <a:lnTo>
                    <a:pt x="124383" y="2455640"/>
                  </a:lnTo>
                  <a:lnTo>
                    <a:pt x="154317" y="2480188"/>
                  </a:lnTo>
                  <a:lnTo>
                    <a:pt x="179831" y="2485278"/>
                  </a:lnTo>
                  <a:lnTo>
                    <a:pt x="6589775" y="2485278"/>
                  </a:lnTo>
                  <a:lnTo>
                    <a:pt x="6589775" y="2618231"/>
                  </a:lnTo>
                  <a:close/>
                </a:path>
                <a:path w="6590030" h="2618740">
                  <a:moveTo>
                    <a:pt x="6589775" y="2485278"/>
                  </a:moveTo>
                  <a:lnTo>
                    <a:pt x="6409181" y="2485278"/>
                  </a:lnTo>
                  <a:lnTo>
                    <a:pt x="6415748" y="2484945"/>
                  </a:lnTo>
                  <a:lnTo>
                    <a:pt x="6422189" y="2483990"/>
                  </a:lnTo>
                  <a:lnTo>
                    <a:pt x="6456334" y="2465740"/>
                  </a:lnTo>
                  <a:lnTo>
                    <a:pt x="6474580" y="2431595"/>
                  </a:lnTo>
                  <a:lnTo>
                    <a:pt x="6475841" y="2418587"/>
                  </a:lnTo>
                  <a:lnTo>
                    <a:pt x="6475841" y="161178"/>
                  </a:lnTo>
                  <a:lnTo>
                    <a:pt x="6464632" y="124110"/>
                  </a:lnTo>
                  <a:lnTo>
                    <a:pt x="6434693" y="99547"/>
                  </a:lnTo>
                  <a:lnTo>
                    <a:pt x="6409181" y="94487"/>
                  </a:lnTo>
                  <a:lnTo>
                    <a:pt x="6589775" y="94487"/>
                  </a:lnTo>
                  <a:lnTo>
                    <a:pt x="6589775" y="248527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5762" y="4033837"/>
              <a:ext cx="6372225" cy="2400300"/>
            </a:xfrm>
            <a:custGeom>
              <a:avLst/>
              <a:gdLst/>
              <a:ahLst/>
              <a:cxnLst/>
              <a:rect l="l" t="t" r="r" b="b"/>
              <a:pathLst>
                <a:path w="6372225" h="2400300">
                  <a:moveTo>
                    <a:pt x="6305473" y="2400300"/>
                  </a:moveTo>
                  <a:lnTo>
                    <a:pt x="66746" y="2400300"/>
                  </a:lnTo>
                  <a:lnTo>
                    <a:pt x="62101" y="2399842"/>
                  </a:lnTo>
                  <a:lnTo>
                    <a:pt x="24240" y="2382688"/>
                  </a:lnTo>
                  <a:lnTo>
                    <a:pt x="2287" y="2347398"/>
                  </a:lnTo>
                  <a:lnTo>
                    <a:pt x="0" y="2333548"/>
                  </a:lnTo>
                  <a:lnTo>
                    <a:pt x="0" y="2328862"/>
                  </a:lnTo>
                  <a:lnTo>
                    <a:pt x="0" y="66751"/>
                  </a:lnTo>
                  <a:lnTo>
                    <a:pt x="14645" y="27851"/>
                  </a:lnTo>
                  <a:lnTo>
                    <a:pt x="48432" y="3638"/>
                  </a:lnTo>
                  <a:lnTo>
                    <a:pt x="66746" y="0"/>
                  </a:lnTo>
                  <a:lnTo>
                    <a:pt x="6305473" y="0"/>
                  </a:lnTo>
                  <a:lnTo>
                    <a:pt x="6344373" y="14649"/>
                  </a:lnTo>
                  <a:lnTo>
                    <a:pt x="6368576" y="48434"/>
                  </a:lnTo>
                  <a:lnTo>
                    <a:pt x="6372225" y="66751"/>
                  </a:lnTo>
                  <a:lnTo>
                    <a:pt x="6372225" y="2333548"/>
                  </a:lnTo>
                  <a:lnTo>
                    <a:pt x="6357575" y="2372448"/>
                  </a:lnTo>
                  <a:lnTo>
                    <a:pt x="6323790" y="2396651"/>
                  </a:lnTo>
                  <a:lnTo>
                    <a:pt x="6310122" y="2399842"/>
                  </a:lnTo>
                  <a:lnTo>
                    <a:pt x="6305473" y="2400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5762" y="4033837"/>
              <a:ext cx="6372225" cy="2400300"/>
            </a:xfrm>
            <a:custGeom>
              <a:avLst/>
              <a:gdLst/>
              <a:ahLst/>
              <a:cxnLst/>
              <a:rect l="l" t="t" r="r" b="b"/>
              <a:pathLst>
                <a:path w="6372225" h="2400300">
                  <a:moveTo>
                    <a:pt x="0" y="2328862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102"/>
                  </a:lnTo>
                  <a:lnTo>
                    <a:pt x="17606" y="24241"/>
                  </a:lnTo>
                  <a:lnTo>
                    <a:pt x="20923" y="20926"/>
                  </a:lnTo>
                  <a:lnTo>
                    <a:pt x="24240" y="17602"/>
                  </a:lnTo>
                  <a:lnTo>
                    <a:pt x="44099" y="5438"/>
                  </a:lnTo>
                  <a:lnTo>
                    <a:pt x="48432" y="3638"/>
                  </a:lnTo>
                  <a:lnTo>
                    <a:pt x="52899" y="2286"/>
                  </a:lnTo>
                  <a:lnTo>
                    <a:pt x="57500" y="1371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300787" y="0"/>
                  </a:lnTo>
                  <a:lnTo>
                    <a:pt x="6305473" y="0"/>
                  </a:lnTo>
                  <a:lnTo>
                    <a:pt x="6310122" y="457"/>
                  </a:lnTo>
                  <a:lnTo>
                    <a:pt x="6314722" y="1371"/>
                  </a:lnTo>
                  <a:lnTo>
                    <a:pt x="6319323" y="2286"/>
                  </a:lnTo>
                  <a:lnTo>
                    <a:pt x="6323790" y="3638"/>
                  </a:lnTo>
                  <a:lnTo>
                    <a:pt x="6328124" y="5438"/>
                  </a:lnTo>
                  <a:lnTo>
                    <a:pt x="6332458" y="7229"/>
                  </a:lnTo>
                  <a:lnTo>
                    <a:pt x="6351298" y="20926"/>
                  </a:lnTo>
                  <a:lnTo>
                    <a:pt x="6354613" y="24241"/>
                  </a:lnTo>
                  <a:lnTo>
                    <a:pt x="6371767" y="62102"/>
                  </a:lnTo>
                  <a:lnTo>
                    <a:pt x="6372225" y="66751"/>
                  </a:lnTo>
                  <a:lnTo>
                    <a:pt x="6372225" y="71437"/>
                  </a:lnTo>
                  <a:lnTo>
                    <a:pt x="6372225" y="2328862"/>
                  </a:lnTo>
                  <a:lnTo>
                    <a:pt x="6372225" y="2333548"/>
                  </a:lnTo>
                  <a:lnTo>
                    <a:pt x="6371767" y="2338197"/>
                  </a:lnTo>
                  <a:lnTo>
                    <a:pt x="6354613" y="2376058"/>
                  </a:lnTo>
                  <a:lnTo>
                    <a:pt x="6351298" y="2379373"/>
                  </a:lnTo>
                  <a:lnTo>
                    <a:pt x="6347983" y="2382688"/>
                  </a:lnTo>
                  <a:lnTo>
                    <a:pt x="6328124" y="2394861"/>
                  </a:lnTo>
                  <a:lnTo>
                    <a:pt x="6323790" y="2396651"/>
                  </a:lnTo>
                  <a:lnTo>
                    <a:pt x="6319323" y="2398014"/>
                  </a:lnTo>
                  <a:lnTo>
                    <a:pt x="6314722" y="2398928"/>
                  </a:lnTo>
                  <a:lnTo>
                    <a:pt x="6310122" y="2399842"/>
                  </a:lnTo>
                  <a:lnTo>
                    <a:pt x="6305473" y="2400300"/>
                  </a:lnTo>
                  <a:lnTo>
                    <a:pt x="6300787" y="2400300"/>
                  </a:lnTo>
                  <a:lnTo>
                    <a:pt x="71437" y="2400300"/>
                  </a:lnTo>
                  <a:lnTo>
                    <a:pt x="66746" y="2400300"/>
                  </a:lnTo>
                  <a:lnTo>
                    <a:pt x="62101" y="2399842"/>
                  </a:lnTo>
                  <a:lnTo>
                    <a:pt x="57500" y="2398928"/>
                  </a:lnTo>
                  <a:lnTo>
                    <a:pt x="52899" y="2398014"/>
                  </a:lnTo>
                  <a:lnTo>
                    <a:pt x="48432" y="2396651"/>
                  </a:lnTo>
                  <a:lnTo>
                    <a:pt x="44099" y="2394861"/>
                  </a:lnTo>
                  <a:lnTo>
                    <a:pt x="39765" y="2393070"/>
                  </a:lnTo>
                  <a:lnTo>
                    <a:pt x="20923" y="2379373"/>
                  </a:lnTo>
                  <a:lnTo>
                    <a:pt x="17606" y="2376058"/>
                  </a:lnTo>
                  <a:lnTo>
                    <a:pt x="1372" y="2342797"/>
                  </a:lnTo>
                  <a:lnTo>
                    <a:pt x="457" y="2338197"/>
                  </a:lnTo>
                  <a:lnTo>
                    <a:pt x="0" y="2333548"/>
                  </a:lnTo>
                  <a:lnTo>
                    <a:pt x="0" y="2328862"/>
                  </a:lnTo>
                  <a:close/>
                </a:path>
              </a:pathLst>
            </a:custGeom>
            <a:ln w="9525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1025" y="4572000"/>
              <a:ext cx="5981700" cy="361950"/>
            </a:xfrm>
            <a:custGeom>
              <a:avLst/>
              <a:gdLst/>
              <a:ahLst/>
              <a:cxnLst/>
              <a:rect l="l" t="t" r="r" b="b"/>
              <a:pathLst>
                <a:path w="5981700" h="361950">
                  <a:moveTo>
                    <a:pt x="5981700" y="0"/>
                  </a:moveTo>
                  <a:lnTo>
                    <a:pt x="5133975" y="0"/>
                  </a:lnTo>
                  <a:lnTo>
                    <a:pt x="1162050" y="0"/>
                  </a:lnTo>
                  <a:lnTo>
                    <a:pt x="0" y="0"/>
                  </a:lnTo>
                  <a:lnTo>
                    <a:pt x="0" y="361950"/>
                  </a:lnTo>
                  <a:lnTo>
                    <a:pt x="1162050" y="361950"/>
                  </a:lnTo>
                  <a:lnTo>
                    <a:pt x="5133975" y="361950"/>
                  </a:lnTo>
                  <a:lnTo>
                    <a:pt x="5981700" y="361950"/>
                  </a:lnTo>
                  <a:lnTo>
                    <a:pt x="5981700" y="0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1025" y="4924425"/>
              <a:ext cx="5981700" cy="1314450"/>
            </a:xfrm>
            <a:custGeom>
              <a:avLst/>
              <a:gdLst/>
              <a:ahLst/>
              <a:cxnLst/>
              <a:rect l="l" t="t" r="r" b="b"/>
              <a:pathLst>
                <a:path w="5981700" h="1314450">
                  <a:moveTo>
                    <a:pt x="5981700" y="1304925"/>
                  </a:moveTo>
                  <a:lnTo>
                    <a:pt x="5133975" y="1304925"/>
                  </a:lnTo>
                  <a:lnTo>
                    <a:pt x="1162050" y="1304925"/>
                  </a:lnTo>
                  <a:lnTo>
                    <a:pt x="0" y="1304925"/>
                  </a:lnTo>
                  <a:lnTo>
                    <a:pt x="0" y="1314450"/>
                  </a:lnTo>
                  <a:lnTo>
                    <a:pt x="1162050" y="1314450"/>
                  </a:lnTo>
                  <a:lnTo>
                    <a:pt x="5133975" y="1314450"/>
                  </a:lnTo>
                  <a:lnTo>
                    <a:pt x="5981700" y="1314450"/>
                  </a:lnTo>
                  <a:lnTo>
                    <a:pt x="5981700" y="1304925"/>
                  </a:lnTo>
                  <a:close/>
                </a:path>
                <a:path w="5981700" h="1314450">
                  <a:moveTo>
                    <a:pt x="5981700" y="981075"/>
                  </a:moveTo>
                  <a:lnTo>
                    <a:pt x="5133975" y="981075"/>
                  </a:lnTo>
                  <a:lnTo>
                    <a:pt x="1162050" y="981075"/>
                  </a:lnTo>
                  <a:lnTo>
                    <a:pt x="0" y="981075"/>
                  </a:lnTo>
                  <a:lnTo>
                    <a:pt x="0" y="990600"/>
                  </a:lnTo>
                  <a:lnTo>
                    <a:pt x="1162050" y="990600"/>
                  </a:lnTo>
                  <a:lnTo>
                    <a:pt x="5133975" y="990600"/>
                  </a:lnTo>
                  <a:lnTo>
                    <a:pt x="5981700" y="990600"/>
                  </a:lnTo>
                  <a:lnTo>
                    <a:pt x="5981700" y="981075"/>
                  </a:lnTo>
                  <a:close/>
                </a:path>
                <a:path w="5981700" h="1314450">
                  <a:moveTo>
                    <a:pt x="5981700" y="657225"/>
                  </a:moveTo>
                  <a:lnTo>
                    <a:pt x="5133975" y="657225"/>
                  </a:lnTo>
                  <a:lnTo>
                    <a:pt x="1162050" y="657225"/>
                  </a:lnTo>
                  <a:lnTo>
                    <a:pt x="0" y="657225"/>
                  </a:lnTo>
                  <a:lnTo>
                    <a:pt x="0" y="666750"/>
                  </a:lnTo>
                  <a:lnTo>
                    <a:pt x="1162050" y="666750"/>
                  </a:lnTo>
                  <a:lnTo>
                    <a:pt x="5133975" y="666750"/>
                  </a:lnTo>
                  <a:lnTo>
                    <a:pt x="5981700" y="666750"/>
                  </a:lnTo>
                  <a:lnTo>
                    <a:pt x="5981700" y="657225"/>
                  </a:lnTo>
                  <a:close/>
                </a:path>
                <a:path w="5981700" h="1314450">
                  <a:moveTo>
                    <a:pt x="5981700" y="333375"/>
                  </a:moveTo>
                  <a:lnTo>
                    <a:pt x="5133975" y="333375"/>
                  </a:lnTo>
                  <a:lnTo>
                    <a:pt x="1162050" y="333375"/>
                  </a:lnTo>
                  <a:lnTo>
                    <a:pt x="0" y="333375"/>
                  </a:lnTo>
                  <a:lnTo>
                    <a:pt x="0" y="342900"/>
                  </a:lnTo>
                  <a:lnTo>
                    <a:pt x="1162050" y="342900"/>
                  </a:lnTo>
                  <a:lnTo>
                    <a:pt x="5133975" y="342900"/>
                  </a:lnTo>
                  <a:lnTo>
                    <a:pt x="5981700" y="342900"/>
                  </a:lnTo>
                  <a:lnTo>
                    <a:pt x="5981700" y="333375"/>
                  </a:lnTo>
                  <a:close/>
                </a:path>
                <a:path w="5981700" h="1314450">
                  <a:moveTo>
                    <a:pt x="5981700" y="0"/>
                  </a:moveTo>
                  <a:lnTo>
                    <a:pt x="5133975" y="0"/>
                  </a:lnTo>
                  <a:lnTo>
                    <a:pt x="116205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1162050" y="19050"/>
                  </a:lnTo>
                  <a:lnTo>
                    <a:pt x="5133975" y="19050"/>
                  </a:lnTo>
                  <a:lnTo>
                    <a:pt x="5981700" y="19050"/>
                  </a:lnTo>
                  <a:lnTo>
                    <a:pt x="5981700" y="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1025" y="4257675"/>
              <a:ext cx="190500" cy="15240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835025" y="4225925"/>
            <a:ext cx="21761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Connection</a:t>
            </a:r>
            <a:r>
              <a:rPr sz="1200" b="1" spc="-3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Component</a:t>
            </a:r>
            <a:r>
              <a:rPr sz="1200" b="1" spc="-3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Types</a:t>
            </a:r>
            <a:endParaRPr sz="1200" dirty="0">
              <a:latin typeface="Segoe UI"/>
              <a:cs typeface="Segoe U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1025" y="4664075"/>
            <a:ext cx="5981700" cy="149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25"/>
              </a:spcBef>
              <a:tabLst>
                <a:tab pos="1252220" algn="l"/>
                <a:tab pos="5231130" algn="l"/>
              </a:tabLst>
            </a:pPr>
            <a:r>
              <a:rPr sz="950" spc="-20" dirty="0">
                <a:solidFill>
                  <a:srgbClr val="1D3A5E"/>
                </a:solidFill>
                <a:latin typeface="Segoe UI Semibold"/>
                <a:cs typeface="Segoe UI Semibold"/>
              </a:rPr>
              <a:t>Type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	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Description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	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Default</a:t>
            </a:r>
            <a:endParaRPr sz="950" dirty="0">
              <a:latin typeface="Segoe UI Semibold"/>
              <a:cs typeface="Segoe UI Semibold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950" dirty="0">
              <a:latin typeface="Segoe UI Semibold"/>
              <a:cs typeface="Segoe UI Semibold"/>
            </a:endParaRPr>
          </a:p>
          <a:p>
            <a:pPr marL="95250">
              <a:lnSpc>
                <a:spcPct val="100000"/>
              </a:lnSpc>
              <a:tabLst>
                <a:tab pos="1252220" algn="l"/>
                <a:tab pos="5231130" algn="l"/>
              </a:tabLst>
            </a:pPr>
            <a:r>
              <a:rPr sz="950" b="1" dirty="0">
                <a:solidFill>
                  <a:srgbClr val="334054"/>
                </a:solidFill>
                <a:latin typeface="Segoe UI"/>
                <a:cs typeface="Segoe UI"/>
              </a:rPr>
              <a:t>PSM-</a:t>
            </a:r>
            <a:r>
              <a:rPr sz="950" b="1" spc="-25" dirty="0">
                <a:solidFill>
                  <a:srgbClr val="334054"/>
                </a:solidFill>
                <a:latin typeface="Segoe UI"/>
                <a:cs typeface="Segoe UI"/>
              </a:rPr>
              <a:t>SSH</a:t>
            </a:r>
            <a:r>
              <a:rPr sz="950" b="1" dirty="0">
                <a:solidFill>
                  <a:srgbClr val="334054"/>
                </a:solidFill>
                <a:latin typeface="Segoe UI"/>
                <a:cs typeface="Segoe UI"/>
              </a:rPr>
              <a:t>	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SSH</a:t>
            </a:r>
            <a:r>
              <a:rPr sz="950" spc="6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connection</a:t>
            </a:r>
            <a:r>
              <a:rPr sz="950" spc="6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component</a:t>
            </a:r>
            <a:r>
              <a:rPr sz="950" spc="7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for</a:t>
            </a:r>
            <a:r>
              <a:rPr sz="950" spc="6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secure</a:t>
            </a:r>
            <a:r>
              <a:rPr sz="950" spc="7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shell</a:t>
            </a:r>
            <a:r>
              <a:rPr sz="950" spc="6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334054"/>
                </a:solidFill>
                <a:latin typeface="Segoe UI"/>
                <a:cs typeface="Segoe UI"/>
              </a:rPr>
              <a:t>access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	</a:t>
            </a:r>
            <a:r>
              <a:rPr sz="950" spc="-10" dirty="0">
                <a:solidFill>
                  <a:srgbClr val="334054"/>
                </a:solidFill>
                <a:latin typeface="Segoe UI"/>
                <a:cs typeface="Segoe UI"/>
              </a:rPr>
              <a:t>Enabled</a:t>
            </a:r>
            <a:endParaRPr sz="95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950" dirty="0">
              <a:latin typeface="Segoe UI"/>
              <a:cs typeface="Segoe UI"/>
            </a:endParaRPr>
          </a:p>
          <a:p>
            <a:pPr marL="95250">
              <a:lnSpc>
                <a:spcPct val="100000"/>
              </a:lnSpc>
              <a:tabLst>
                <a:tab pos="1252220" algn="l"/>
                <a:tab pos="5231130" algn="l"/>
              </a:tabLst>
            </a:pPr>
            <a:r>
              <a:rPr sz="950" b="1" dirty="0">
                <a:solidFill>
                  <a:srgbClr val="334054"/>
                </a:solidFill>
                <a:latin typeface="Segoe UI"/>
                <a:cs typeface="Segoe UI"/>
              </a:rPr>
              <a:t>PSM-</a:t>
            </a:r>
            <a:r>
              <a:rPr sz="950" b="1" spc="-25" dirty="0">
                <a:solidFill>
                  <a:srgbClr val="334054"/>
                </a:solidFill>
                <a:latin typeface="Segoe UI"/>
                <a:cs typeface="Segoe UI"/>
              </a:rPr>
              <a:t>RDP</a:t>
            </a:r>
            <a:r>
              <a:rPr sz="950" b="1" dirty="0">
                <a:solidFill>
                  <a:srgbClr val="334054"/>
                </a:solidFill>
                <a:latin typeface="Segoe UI"/>
                <a:cs typeface="Segoe UI"/>
              </a:rPr>
              <a:t>	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RDP</a:t>
            </a:r>
            <a:r>
              <a:rPr sz="950" spc="6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connection</a:t>
            </a:r>
            <a:r>
              <a:rPr sz="950" spc="6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for</a:t>
            </a:r>
            <a:r>
              <a:rPr sz="950" spc="6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remote</a:t>
            </a:r>
            <a:r>
              <a:rPr sz="950" spc="6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desktop</a:t>
            </a:r>
            <a:r>
              <a:rPr sz="950" spc="6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334054"/>
                </a:solidFill>
                <a:latin typeface="Segoe UI"/>
                <a:cs typeface="Segoe UI"/>
              </a:rPr>
              <a:t>protocol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	</a:t>
            </a:r>
            <a:r>
              <a:rPr sz="950" spc="-10" dirty="0">
                <a:solidFill>
                  <a:srgbClr val="334054"/>
                </a:solidFill>
                <a:latin typeface="Segoe UI"/>
                <a:cs typeface="Segoe UI"/>
              </a:rPr>
              <a:t>Enabled</a:t>
            </a:r>
            <a:endParaRPr sz="95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950" dirty="0">
              <a:latin typeface="Segoe UI"/>
              <a:cs typeface="Segoe UI"/>
            </a:endParaRPr>
          </a:p>
          <a:p>
            <a:pPr marL="95250">
              <a:lnSpc>
                <a:spcPct val="100000"/>
              </a:lnSpc>
              <a:spcBef>
                <a:spcPts val="5"/>
              </a:spcBef>
              <a:tabLst>
                <a:tab pos="1252220" algn="l"/>
                <a:tab pos="5231130" algn="l"/>
              </a:tabLst>
            </a:pPr>
            <a:r>
              <a:rPr sz="950" b="1" dirty="0">
                <a:solidFill>
                  <a:srgbClr val="334054"/>
                </a:solidFill>
                <a:latin typeface="Segoe UI"/>
                <a:cs typeface="Segoe UI"/>
              </a:rPr>
              <a:t>PSM-</a:t>
            </a:r>
            <a:r>
              <a:rPr sz="950" b="1" spc="-10" dirty="0">
                <a:solidFill>
                  <a:srgbClr val="334054"/>
                </a:solidFill>
                <a:latin typeface="Segoe UI"/>
                <a:cs typeface="Segoe UI"/>
              </a:rPr>
              <a:t>Telnet</a:t>
            </a:r>
            <a:r>
              <a:rPr sz="950" b="1" dirty="0">
                <a:solidFill>
                  <a:srgbClr val="334054"/>
                </a:solidFill>
                <a:latin typeface="Segoe UI"/>
                <a:cs typeface="Segoe UI"/>
              </a:rPr>
              <a:t>	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Telnet</a:t>
            </a:r>
            <a:r>
              <a:rPr sz="950" spc="2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connection</a:t>
            </a:r>
            <a:r>
              <a:rPr sz="950" spc="3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334054"/>
                </a:solidFill>
                <a:latin typeface="Segoe UI"/>
                <a:cs typeface="Segoe UI"/>
              </a:rPr>
              <a:t>component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	</a:t>
            </a:r>
            <a:r>
              <a:rPr sz="950" spc="-10" dirty="0">
                <a:solidFill>
                  <a:srgbClr val="334054"/>
                </a:solidFill>
                <a:latin typeface="Segoe UI"/>
                <a:cs typeface="Segoe UI"/>
              </a:rPr>
              <a:t>Enabled</a:t>
            </a:r>
            <a:endParaRPr sz="95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950" dirty="0">
              <a:latin typeface="Segoe UI"/>
              <a:cs typeface="Segoe UI"/>
            </a:endParaRPr>
          </a:p>
          <a:p>
            <a:pPr marL="95250">
              <a:lnSpc>
                <a:spcPct val="100000"/>
              </a:lnSpc>
              <a:tabLst>
                <a:tab pos="1252220" algn="l"/>
                <a:tab pos="5231130" algn="l"/>
              </a:tabLst>
            </a:pPr>
            <a:r>
              <a:rPr sz="950" b="1" dirty="0">
                <a:solidFill>
                  <a:srgbClr val="334054"/>
                </a:solidFill>
                <a:latin typeface="Segoe UI"/>
                <a:cs typeface="Segoe UI"/>
              </a:rPr>
              <a:t>PSM-</a:t>
            </a:r>
            <a:r>
              <a:rPr sz="950" b="1" spc="-20" dirty="0">
                <a:solidFill>
                  <a:srgbClr val="334054"/>
                </a:solidFill>
                <a:latin typeface="Segoe UI"/>
                <a:cs typeface="Segoe UI"/>
              </a:rPr>
              <a:t>TOAD</a:t>
            </a:r>
            <a:r>
              <a:rPr sz="950" b="1" dirty="0">
                <a:solidFill>
                  <a:srgbClr val="334054"/>
                </a:solidFill>
                <a:latin typeface="Segoe UI"/>
                <a:cs typeface="Segoe UI"/>
              </a:rPr>
              <a:t>	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TOAD</a:t>
            </a:r>
            <a:r>
              <a:rPr sz="950" spc="3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database</a:t>
            </a:r>
            <a:r>
              <a:rPr sz="950" spc="4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client</a:t>
            </a:r>
            <a:r>
              <a:rPr sz="950" spc="4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334054"/>
                </a:solidFill>
                <a:latin typeface="Segoe UI"/>
                <a:cs typeface="Segoe UI"/>
              </a:rPr>
              <a:t>connection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	</a:t>
            </a:r>
            <a:r>
              <a:rPr sz="950" spc="-10" dirty="0">
                <a:solidFill>
                  <a:srgbClr val="334054"/>
                </a:solidFill>
                <a:latin typeface="Segoe UI"/>
                <a:cs typeface="Segoe UI"/>
              </a:rPr>
              <a:t>Enabled</a:t>
            </a:r>
            <a:endParaRPr sz="950" dirty="0">
              <a:latin typeface="Segoe UI"/>
              <a:cs typeface="Segoe U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946391" y="868679"/>
            <a:ext cx="4968240" cy="2741295"/>
            <a:chOff x="6946391" y="868679"/>
            <a:chExt cx="4968240" cy="2741295"/>
          </a:xfrm>
        </p:grpSpPr>
        <p:sp>
          <p:nvSpPr>
            <p:cNvPr id="28" name="object 28"/>
            <p:cNvSpPr/>
            <p:nvPr/>
          </p:nvSpPr>
          <p:spPr>
            <a:xfrm>
              <a:off x="6946391" y="868679"/>
              <a:ext cx="4968240" cy="2301240"/>
            </a:xfrm>
            <a:custGeom>
              <a:avLst/>
              <a:gdLst/>
              <a:ahLst/>
              <a:cxnLst/>
              <a:rect l="l" t="t" r="r" b="b"/>
              <a:pathLst>
                <a:path w="4968240" h="2301240">
                  <a:moveTo>
                    <a:pt x="4968239" y="2301239"/>
                  </a:moveTo>
                  <a:lnTo>
                    <a:pt x="0" y="2301239"/>
                  </a:lnTo>
                  <a:lnTo>
                    <a:pt x="0" y="0"/>
                  </a:lnTo>
                  <a:lnTo>
                    <a:pt x="4968239" y="0"/>
                  </a:lnTo>
                  <a:lnTo>
                    <a:pt x="4968239" y="93344"/>
                  </a:lnTo>
                  <a:lnTo>
                    <a:pt x="178307" y="93344"/>
                  </a:lnTo>
                  <a:lnTo>
                    <a:pt x="171741" y="93662"/>
                  </a:lnTo>
                  <a:lnTo>
                    <a:pt x="136024" y="108453"/>
                  </a:lnTo>
                  <a:lnTo>
                    <a:pt x="114485" y="140694"/>
                  </a:lnTo>
                  <a:lnTo>
                    <a:pt x="111617" y="160019"/>
                  </a:lnTo>
                  <a:lnTo>
                    <a:pt x="111617" y="2103119"/>
                  </a:lnTo>
                  <a:lnTo>
                    <a:pt x="122857" y="2140169"/>
                  </a:lnTo>
                  <a:lnTo>
                    <a:pt x="152796" y="2164720"/>
                  </a:lnTo>
                  <a:lnTo>
                    <a:pt x="178307" y="2169794"/>
                  </a:lnTo>
                  <a:lnTo>
                    <a:pt x="4968239" y="2169794"/>
                  </a:lnTo>
                  <a:lnTo>
                    <a:pt x="4968239" y="2301239"/>
                  </a:lnTo>
                  <a:close/>
                </a:path>
                <a:path w="4968240" h="2301240">
                  <a:moveTo>
                    <a:pt x="4968239" y="2169794"/>
                  </a:moveTo>
                  <a:lnTo>
                    <a:pt x="4788407" y="2169794"/>
                  </a:lnTo>
                  <a:lnTo>
                    <a:pt x="4794974" y="2169477"/>
                  </a:lnTo>
                  <a:lnTo>
                    <a:pt x="4801415" y="2168526"/>
                  </a:lnTo>
                  <a:lnTo>
                    <a:pt x="4835560" y="2150266"/>
                  </a:lnTo>
                  <a:lnTo>
                    <a:pt x="4853810" y="2116129"/>
                  </a:lnTo>
                  <a:lnTo>
                    <a:pt x="4855098" y="2103119"/>
                  </a:lnTo>
                  <a:lnTo>
                    <a:pt x="4855098" y="160019"/>
                  </a:lnTo>
                  <a:lnTo>
                    <a:pt x="4843858" y="122970"/>
                  </a:lnTo>
                  <a:lnTo>
                    <a:pt x="4813919" y="98419"/>
                  </a:lnTo>
                  <a:lnTo>
                    <a:pt x="4788407" y="93344"/>
                  </a:lnTo>
                  <a:lnTo>
                    <a:pt x="4968239" y="93344"/>
                  </a:lnTo>
                  <a:lnTo>
                    <a:pt x="4968239" y="2169794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053262" y="957262"/>
              <a:ext cx="4752975" cy="2085975"/>
            </a:xfrm>
            <a:custGeom>
              <a:avLst/>
              <a:gdLst/>
              <a:ahLst/>
              <a:cxnLst/>
              <a:rect l="l" t="t" r="r" b="b"/>
              <a:pathLst>
                <a:path w="4752975" h="2085975">
                  <a:moveTo>
                    <a:pt x="4686204" y="2085975"/>
                  </a:moveTo>
                  <a:lnTo>
                    <a:pt x="66751" y="2085975"/>
                  </a:lnTo>
                  <a:lnTo>
                    <a:pt x="62102" y="2085517"/>
                  </a:lnTo>
                  <a:lnTo>
                    <a:pt x="24241" y="2068363"/>
                  </a:lnTo>
                  <a:lnTo>
                    <a:pt x="2286" y="2033073"/>
                  </a:lnTo>
                  <a:lnTo>
                    <a:pt x="0" y="2019223"/>
                  </a:lnTo>
                  <a:lnTo>
                    <a:pt x="0" y="2014537"/>
                  </a:lnTo>
                  <a:lnTo>
                    <a:pt x="0" y="66751"/>
                  </a:lnTo>
                  <a:lnTo>
                    <a:pt x="14639" y="27851"/>
                  </a:lnTo>
                  <a:lnTo>
                    <a:pt x="48434" y="3638"/>
                  </a:lnTo>
                  <a:lnTo>
                    <a:pt x="66751" y="0"/>
                  </a:lnTo>
                  <a:lnTo>
                    <a:pt x="4686204" y="0"/>
                  </a:lnTo>
                  <a:lnTo>
                    <a:pt x="4725161" y="14649"/>
                  </a:lnTo>
                  <a:lnTo>
                    <a:pt x="4749355" y="48434"/>
                  </a:lnTo>
                  <a:lnTo>
                    <a:pt x="4752975" y="66751"/>
                  </a:lnTo>
                  <a:lnTo>
                    <a:pt x="4752975" y="2019223"/>
                  </a:lnTo>
                  <a:lnTo>
                    <a:pt x="4738306" y="2058123"/>
                  </a:lnTo>
                  <a:lnTo>
                    <a:pt x="4704588" y="2082326"/>
                  </a:lnTo>
                  <a:lnTo>
                    <a:pt x="4690872" y="2085517"/>
                  </a:lnTo>
                  <a:lnTo>
                    <a:pt x="4686204" y="20859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053262" y="957262"/>
              <a:ext cx="4752975" cy="2085975"/>
            </a:xfrm>
            <a:custGeom>
              <a:avLst/>
              <a:gdLst/>
              <a:ahLst/>
              <a:cxnLst/>
              <a:rect l="l" t="t" r="r" b="b"/>
              <a:pathLst>
                <a:path w="4752975" h="2085975">
                  <a:moveTo>
                    <a:pt x="0" y="2014537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103"/>
                  </a:lnTo>
                  <a:lnTo>
                    <a:pt x="1371" y="57502"/>
                  </a:lnTo>
                  <a:lnTo>
                    <a:pt x="2286" y="52901"/>
                  </a:lnTo>
                  <a:lnTo>
                    <a:pt x="3638" y="48434"/>
                  </a:lnTo>
                  <a:lnTo>
                    <a:pt x="5438" y="44100"/>
                  </a:lnTo>
                  <a:lnTo>
                    <a:pt x="7229" y="39766"/>
                  </a:lnTo>
                  <a:lnTo>
                    <a:pt x="9429" y="35652"/>
                  </a:lnTo>
                  <a:lnTo>
                    <a:pt x="12039" y="31746"/>
                  </a:lnTo>
                  <a:lnTo>
                    <a:pt x="14639" y="27851"/>
                  </a:lnTo>
                  <a:lnTo>
                    <a:pt x="17602" y="24241"/>
                  </a:lnTo>
                  <a:lnTo>
                    <a:pt x="20926" y="20926"/>
                  </a:lnTo>
                  <a:lnTo>
                    <a:pt x="24241" y="17602"/>
                  </a:lnTo>
                  <a:lnTo>
                    <a:pt x="44100" y="5438"/>
                  </a:lnTo>
                  <a:lnTo>
                    <a:pt x="48434" y="3638"/>
                  </a:lnTo>
                  <a:lnTo>
                    <a:pt x="52901" y="2285"/>
                  </a:lnTo>
                  <a:lnTo>
                    <a:pt x="57502" y="1371"/>
                  </a:lnTo>
                  <a:lnTo>
                    <a:pt x="62102" y="457"/>
                  </a:lnTo>
                  <a:lnTo>
                    <a:pt x="66751" y="0"/>
                  </a:lnTo>
                  <a:lnTo>
                    <a:pt x="71437" y="0"/>
                  </a:lnTo>
                  <a:lnTo>
                    <a:pt x="4681537" y="0"/>
                  </a:lnTo>
                  <a:lnTo>
                    <a:pt x="4686204" y="0"/>
                  </a:lnTo>
                  <a:lnTo>
                    <a:pt x="4690872" y="457"/>
                  </a:lnTo>
                  <a:lnTo>
                    <a:pt x="4695444" y="1371"/>
                  </a:lnTo>
                  <a:lnTo>
                    <a:pt x="4700111" y="2285"/>
                  </a:lnTo>
                  <a:lnTo>
                    <a:pt x="4704588" y="3638"/>
                  </a:lnTo>
                  <a:lnTo>
                    <a:pt x="4708874" y="5438"/>
                  </a:lnTo>
                  <a:lnTo>
                    <a:pt x="4713255" y="7229"/>
                  </a:lnTo>
                  <a:lnTo>
                    <a:pt x="4732019" y="20926"/>
                  </a:lnTo>
                  <a:lnTo>
                    <a:pt x="4735353" y="24241"/>
                  </a:lnTo>
                  <a:lnTo>
                    <a:pt x="4747545" y="44100"/>
                  </a:lnTo>
                  <a:lnTo>
                    <a:pt x="4749355" y="48434"/>
                  </a:lnTo>
                  <a:lnTo>
                    <a:pt x="4750688" y="52901"/>
                  </a:lnTo>
                  <a:lnTo>
                    <a:pt x="4751641" y="57502"/>
                  </a:lnTo>
                  <a:lnTo>
                    <a:pt x="4752498" y="62103"/>
                  </a:lnTo>
                  <a:lnTo>
                    <a:pt x="4752975" y="66751"/>
                  </a:lnTo>
                  <a:lnTo>
                    <a:pt x="4752975" y="71437"/>
                  </a:lnTo>
                  <a:lnTo>
                    <a:pt x="4752975" y="2014537"/>
                  </a:lnTo>
                  <a:lnTo>
                    <a:pt x="4752975" y="2019223"/>
                  </a:lnTo>
                  <a:lnTo>
                    <a:pt x="4752498" y="2023872"/>
                  </a:lnTo>
                  <a:lnTo>
                    <a:pt x="4751641" y="2028472"/>
                  </a:lnTo>
                  <a:lnTo>
                    <a:pt x="4750688" y="2033073"/>
                  </a:lnTo>
                  <a:lnTo>
                    <a:pt x="4749355" y="2037540"/>
                  </a:lnTo>
                  <a:lnTo>
                    <a:pt x="4747545" y="2041874"/>
                  </a:lnTo>
                  <a:lnTo>
                    <a:pt x="4745736" y="2046208"/>
                  </a:lnTo>
                  <a:lnTo>
                    <a:pt x="4732019" y="2065048"/>
                  </a:lnTo>
                  <a:lnTo>
                    <a:pt x="4728781" y="2068363"/>
                  </a:lnTo>
                  <a:lnTo>
                    <a:pt x="4708874" y="2080536"/>
                  </a:lnTo>
                  <a:lnTo>
                    <a:pt x="4704588" y="2082326"/>
                  </a:lnTo>
                  <a:lnTo>
                    <a:pt x="4700111" y="2083689"/>
                  </a:lnTo>
                  <a:lnTo>
                    <a:pt x="4695444" y="2084603"/>
                  </a:lnTo>
                  <a:lnTo>
                    <a:pt x="4690872" y="2085517"/>
                  </a:lnTo>
                  <a:lnTo>
                    <a:pt x="4686204" y="2085975"/>
                  </a:lnTo>
                  <a:lnTo>
                    <a:pt x="4681537" y="2085975"/>
                  </a:lnTo>
                  <a:lnTo>
                    <a:pt x="71437" y="2085975"/>
                  </a:lnTo>
                  <a:lnTo>
                    <a:pt x="66751" y="2085975"/>
                  </a:lnTo>
                  <a:lnTo>
                    <a:pt x="62102" y="2085517"/>
                  </a:lnTo>
                  <a:lnTo>
                    <a:pt x="57502" y="2084603"/>
                  </a:lnTo>
                  <a:lnTo>
                    <a:pt x="52901" y="2083689"/>
                  </a:lnTo>
                  <a:lnTo>
                    <a:pt x="48434" y="2082326"/>
                  </a:lnTo>
                  <a:lnTo>
                    <a:pt x="44100" y="2080536"/>
                  </a:lnTo>
                  <a:lnTo>
                    <a:pt x="39766" y="2078745"/>
                  </a:lnTo>
                  <a:lnTo>
                    <a:pt x="20926" y="2065048"/>
                  </a:lnTo>
                  <a:lnTo>
                    <a:pt x="17602" y="2061733"/>
                  </a:lnTo>
                  <a:lnTo>
                    <a:pt x="14639" y="2058123"/>
                  </a:lnTo>
                  <a:lnTo>
                    <a:pt x="12039" y="2054228"/>
                  </a:lnTo>
                  <a:lnTo>
                    <a:pt x="9429" y="2050322"/>
                  </a:lnTo>
                  <a:lnTo>
                    <a:pt x="7229" y="2046208"/>
                  </a:lnTo>
                  <a:lnTo>
                    <a:pt x="5438" y="2041874"/>
                  </a:lnTo>
                  <a:lnTo>
                    <a:pt x="3638" y="2037540"/>
                  </a:lnTo>
                  <a:lnTo>
                    <a:pt x="2286" y="2033073"/>
                  </a:lnTo>
                  <a:lnTo>
                    <a:pt x="1371" y="2028472"/>
                  </a:lnTo>
                  <a:lnTo>
                    <a:pt x="457" y="2023872"/>
                  </a:lnTo>
                  <a:lnTo>
                    <a:pt x="0" y="2019223"/>
                  </a:lnTo>
                  <a:lnTo>
                    <a:pt x="0" y="2014537"/>
                  </a:lnTo>
                  <a:close/>
                </a:path>
              </a:pathLst>
            </a:custGeom>
            <a:ln w="9525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248509" y="1495424"/>
              <a:ext cx="4363085" cy="2114550"/>
            </a:xfrm>
            <a:custGeom>
              <a:avLst/>
              <a:gdLst/>
              <a:ahLst/>
              <a:cxnLst/>
              <a:rect l="l" t="t" r="r" b="b"/>
              <a:pathLst>
                <a:path w="4363084" h="2114550">
                  <a:moveTo>
                    <a:pt x="4286280" y="2114534"/>
                  </a:moveTo>
                  <a:lnTo>
                    <a:pt x="76200" y="2114534"/>
                  </a:lnTo>
                  <a:lnTo>
                    <a:pt x="68702" y="2114174"/>
                  </a:lnTo>
                  <a:lnTo>
                    <a:pt x="27897" y="2097282"/>
                  </a:lnTo>
                  <a:lnTo>
                    <a:pt x="3278" y="2060435"/>
                  </a:lnTo>
                  <a:lnTo>
                    <a:pt x="0" y="2038365"/>
                  </a:lnTo>
                  <a:lnTo>
                    <a:pt x="0" y="76200"/>
                  </a:lnTo>
                  <a:lnTo>
                    <a:pt x="12847" y="33856"/>
                  </a:lnTo>
                  <a:lnTo>
                    <a:pt x="47061" y="5800"/>
                  </a:lnTo>
                  <a:lnTo>
                    <a:pt x="76200" y="0"/>
                  </a:lnTo>
                  <a:lnTo>
                    <a:pt x="4286280" y="0"/>
                  </a:lnTo>
                  <a:lnTo>
                    <a:pt x="4328601" y="12830"/>
                  </a:lnTo>
                  <a:lnTo>
                    <a:pt x="4356658" y="47039"/>
                  </a:lnTo>
                  <a:lnTo>
                    <a:pt x="4362480" y="76200"/>
                  </a:lnTo>
                  <a:lnTo>
                    <a:pt x="4362480" y="2038365"/>
                  </a:lnTo>
                  <a:lnTo>
                    <a:pt x="4349633" y="2080686"/>
                  </a:lnTo>
                  <a:lnTo>
                    <a:pt x="4315419" y="2108743"/>
                  </a:lnTo>
                  <a:lnTo>
                    <a:pt x="4286280" y="2114534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248525" y="1495424"/>
              <a:ext cx="4363085" cy="2114550"/>
            </a:xfrm>
            <a:custGeom>
              <a:avLst/>
              <a:gdLst/>
              <a:ahLst/>
              <a:cxnLst/>
              <a:rect l="l" t="t" r="r" b="b"/>
              <a:pathLst>
                <a:path w="4363084" h="2114550">
                  <a:moveTo>
                    <a:pt x="19050" y="1920405"/>
                  </a:moveTo>
                  <a:lnTo>
                    <a:pt x="0" y="1920405"/>
                  </a:lnTo>
                  <a:lnTo>
                    <a:pt x="0" y="1977555"/>
                  </a:lnTo>
                  <a:lnTo>
                    <a:pt x="19050" y="1977555"/>
                  </a:lnTo>
                  <a:lnTo>
                    <a:pt x="19050" y="1920405"/>
                  </a:lnTo>
                  <a:close/>
                </a:path>
                <a:path w="4363084" h="2114550">
                  <a:moveTo>
                    <a:pt x="19050" y="1825231"/>
                  </a:moveTo>
                  <a:lnTo>
                    <a:pt x="0" y="1825231"/>
                  </a:lnTo>
                  <a:lnTo>
                    <a:pt x="0" y="1882381"/>
                  </a:lnTo>
                  <a:lnTo>
                    <a:pt x="19050" y="1882381"/>
                  </a:lnTo>
                  <a:lnTo>
                    <a:pt x="19050" y="1825231"/>
                  </a:lnTo>
                  <a:close/>
                </a:path>
                <a:path w="4363084" h="2114550">
                  <a:moveTo>
                    <a:pt x="19050" y="1730044"/>
                  </a:moveTo>
                  <a:lnTo>
                    <a:pt x="0" y="1730044"/>
                  </a:lnTo>
                  <a:lnTo>
                    <a:pt x="0" y="1787194"/>
                  </a:lnTo>
                  <a:lnTo>
                    <a:pt x="19050" y="1787194"/>
                  </a:lnTo>
                  <a:lnTo>
                    <a:pt x="19050" y="1730044"/>
                  </a:lnTo>
                  <a:close/>
                </a:path>
                <a:path w="4363084" h="2114550">
                  <a:moveTo>
                    <a:pt x="19050" y="1634871"/>
                  </a:moveTo>
                  <a:lnTo>
                    <a:pt x="0" y="1634871"/>
                  </a:lnTo>
                  <a:lnTo>
                    <a:pt x="0" y="1692021"/>
                  </a:lnTo>
                  <a:lnTo>
                    <a:pt x="19050" y="1692021"/>
                  </a:lnTo>
                  <a:lnTo>
                    <a:pt x="19050" y="1634871"/>
                  </a:lnTo>
                  <a:close/>
                </a:path>
                <a:path w="4363084" h="2114550">
                  <a:moveTo>
                    <a:pt x="19050" y="1539697"/>
                  </a:moveTo>
                  <a:lnTo>
                    <a:pt x="0" y="1539697"/>
                  </a:lnTo>
                  <a:lnTo>
                    <a:pt x="0" y="1596847"/>
                  </a:lnTo>
                  <a:lnTo>
                    <a:pt x="19050" y="1596847"/>
                  </a:lnTo>
                  <a:lnTo>
                    <a:pt x="19050" y="1539697"/>
                  </a:lnTo>
                  <a:close/>
                </a:path>
                <a:path w="4363084" h="2114550">
                  <a:moveTo>
                    <a:pt x="19050" y="1444523"/>
                  </a:moveTo>
                  <a:lnTo>
                    <a:pt x="0" y="1444523"/>
                  </a:lnTo>
                  <a:lnTo>
                    <a:pt x="0" y="1501673"/>
                  </a:lnTo>
                  <a:lnTo>
                    <a:pt x="19050" y="1501673"/>
                  </a:lnTo>
                  <a:lnTo>
                    <a:pt x="19050" y="1444523"/>
                  </a:lnTo>
                  <a:close/>
                </a:path>
                <a:path w="4363084" h="2114550">
                  <a:moveTo>
                    <a:pt x="19050" y="1349336"/>
                  </a:moveTo>
                  <a:lnTo>
                    <a:pt x="0" y="1349336"/>
                  </a:lnTo>
                  <a:lnTo>
                    <a:pt x="0" y="1406486"/>
                  </a:lnTo>
                  <a:lnTo>
                    <a:pt x="19050" y="1406486"/>
                  </a:lnTo>
                  <a:lnTo>
                    <a:pt x="19050" y="1349336"/>
                  </a:lnTo>
                  <a:close/>
                </a:path>
                <a:path w="4363084" h="2114550">
                  <a:moveTo>
                    <a:pt x="19050" y="1254163"/>
                  </a:moveTo>
                  <a:lnTo>
                    <a:pt x="0" y="1254163"/>
                  </a:lnTo>
                  <a:lnTo>
                    <a:pt x="0" y="1311313"/>
                  </a:lnTo>
                  <a:lnTo>
                    <a:pt x="19050" y="1311313"/>
                  </a:lnTo>
                  <a:lnTo>
                    <a:pt x="19050" y="1254163"/>
                  </a:lnTo>
                  <a:close/>
                </a:path>
                <a:path w="4363084" h="2114550">
                  <a:moveTo>
                    <a:pt x="19050" y="1158976"/>
                  </a:moveTo>
                  <a:lnTo>
                    <a:pt x="0" y="1158976"/>
                  </a:lnTo>
                  <a:lnTo>
                    <a:pt x="0" y="1216126"/>
                  </a:lnTo>
                  <a:lnTo>
                    <a:pt x="19050" y="1216126"/>
                  </a:lnTo>
                  <a:lnTo>
                    <a:pt x="19050" y="1158976"/>
                  </a:lnTo>
                  <a:close/>
                </a:path>
                <a:path w="4363084" h="2114550">
                  <a:moveTo>
                    <a:pt x="19050" y="1063790"/>
                  </a:moveTo>
                  <a:lnTo>
                    <a:pt x="0" y="1063790"/>
                  </a:lnTo>
                  <a:lnTo>
                    <a:pt x="0" y="1120940"/>
                  </a:lnTo>
                  <a:lnTo>
                    <a:pt x="19050" y="1120940"/>
                  </a:lnTo>
                  <a:lnTo>
                    <a:pt x="19050" y="1063790"/>
                  </a:lnTo>
                  <a:close/>
                </a:path>
                <a:path w="4363084" h="2114550">
                  <a:moveTo>
                    <a:pt x="19050" y="968616"/>
                  </a:moveTo>
                  <a:lnTo>
                    <a:pt x="0" y="968616"/>
                  </a:lnTo>
                  <a:lnTo>
                    <a:pt x="0" y="1025766"/>
                  </a:lnTo>
                  <a:lnTo>
                    <a:pt x="19050" y="1025766"/>
                  </a:lnTo>
                  <a:lnTo>
                    <a:pt x="19050" y="968616"/>
                  </a:lnTo>
                  <a:close/>
                </a:path>
                <a:path w="4363084" h="2114550">
                  <a:moveTo>
                    <a:pt x="19050" y="873442"/>
                  </a:moveTo>
                  <a:lnTo>
                    <a:pt x="0" y="873442"/>
                  </a:lnTo>
                  <a:lnTo>
                    <a:pt x="0" y="930592"/>
                  </a:lnTo>
                  <a:lnTo>
                    <a:pt x="19050" y="930592"/>
                  </a:lnTo>
                  <a:lnTo>
                    <a:pt x="19050" y="873442"/>
                  </a:lnTo>
                  <a:close/>
                </a:path>
                <a:path w="4363084" h="2114550">
                  <a:moveTo>
                    <a:pt x="19050" y="778268"/>
                  </a:moveTo>
                  <a:lnTo>
                    <a:pt x="0" y="778268"/>
                  </a:lnTo>
                  <a:lnTo>
                    <a:pt x="0" y="835418"/>
                  </a:lnTo>
                  <a:lnTo>
                    <a:pt x="19050" y="835418"/>
                  </a:lnTo>
                  <a:lnTo>
                    <a:pt x="19050" y="778268"/>
                  </a:lnTo>
                  <a:close/>
                </a:path>
                <a:path w="4363084" h="2114550">
                  <a:moveTo>
                    <a:pt x="19050" y="683082"/>
                  </a:moveTo>
                  <a:lnTo>
                    <a:pt x="0" y="683082"/>
                  </a:lnTo>
                  <a:lnTo>
                    <a:pt x="0" y="740232"/>
                  </a:lnTo>
                  <a:lnTo>
                    <a:pt x="19050" y="740232"/>
                  </a:lnTo>
                  <a:lnTo>
                    <a:pt x="19050" y="683082"/>
                  </a:lnTo>
                  <a:close/>
                </a:path>
                <a:path w="4363084" h="2114550">
                  <a:moveTo>
                    <a:pt x="19050" y="587908"/>
                  </a:moveTo>
                  <a:lnTo>
                    <a:pt x="0" y="587908"/>
                  </a:lnTo>
                  <a:lnTo>
                    <a:pt x="0" y="645058"/>
                  </a:lnTo>
                  <a:lnTo>
                    <a:pt x="19050" y="645058"/>
                  </a:lnTo>
                  <a:lnTo>
                    <a:pt x="19050" y="587908"/>
                  </a:lnTo>
                  <a:close/>
                </a:path>
                <a:path w="4363084" h="2114550">
                  <a:moveTo>
                    <a:pt x="19050" y="492721"/>
                  </a:moveTo>
                  <a:lnTo>
                    <a:pt x="0" y="492721"/>
                  </a:lnTo>
                  <a:lnTo>
                    <a:pt x="0" y="549871"/>
                  </a:lnTo>
                  <a:lnTo>
                    <a:pt x="19050" y="549871"/>
                  </a:lnTo>
                  <a:lnTo>
                    <a:pt x="19050" y="492721"/>
                  </a:lnTo>
                  <a:close/>
                </a:path>
                <a:path w="4363084" h="2114550">
                  <a:moveTo>
                    <a:pt x="19050" y="397548"/>
                  </a:moveTo>
                  <a:lnTo>
                    <a:pt x="0" y="397548"/>
                  </a:lnTo>
                  <a:lnTo>
                    <a:pt x="0" y="454698"/>
                  </a:lnTo>
                  <a:lnTo>
                    <a:pt x="19050" y="454698"/>
                  </a:lnTo>
                  <a:lnTo>
                    <a:pt x="19050" y="397548"/>
                  </a:lnTo>
                  <a:close/>
                </a:path>
                <a:path w="4363084" h="2114550">
                  <a:moveTo>
                    <a:pt x="19050" y="302361"/>
                  </a:moveTo>
                  <a:lnTo>
                    <a:pt x="0" y="302361"/>
                  </a:lnTo>
                  <a:lnTo>
                    <a:pt x="0" y="359511"/>
                  </a:lnTo>
                  <a:lnTo>
                    <a:pt x="19050" y="359511"/>
                  </a:lnTo>
                  <a:lnTo>
                    <a:pt x="19050" y="302361"/>
                  </a:lnTo>
                  <a:close/>
                </a:path>
                <a:path w="4363084" h="2114550">
                  <a:moveTo>
                    <a:pt x="19050" y="207187"/>
                  </a:moveTo>
                  <a:lnTo>
                    <a:pt x="0" y="207187"/>
                  </a:lnTo>
                  <a:lnTo>
                    <a:pt x="0" y="264337"/>
                  </a:lnTo>
                  <a:lnTo>
                    <a:pt x="19050" y="264337"/>
                  </a:lnTo>
                  <a:lnTo>
                    <a:pt x="19050" y="207187"/>
                  </a:lnTo>
                  <a:close/>
                </a:path>
                <a:path w="4363084" h="2114550">
                  <a:moveTo>
                    <a:pt x="19050" y="112014"/>
                  </a:moveTo>
                  <a:lnTo>
                    <a:pt x="0" y="112014"/>
                  </a:lnTo>
                  <a:lnTo>
                    <a:pt x="0" y="169164"/>
                  </a:lnTo>
                  <a:lnTo>
                    <a:pt x="19050" y="169164"/>
                  </a:lnTo>
                  <a:lnTo>
                    <a:pt x="19050" y="112014"/>
                  </a:lnTo>
                  <a:close/>
                </a:path>
                <a:path w="4363084" h="2114550">
                  <a:moveTo>
                    <a:pt x="26123" y="2066810"/>
                  </a:moveTo>
                  <a:lnTo>
                    <a:pt x="20497" y="2053221"/>
                  </a:lnTo>
                  <a:lnTo>
                    <a:pt x="19050" y="2045868"/>
                  </a:lnTo>
                  <a:lnTo>
                    <a:pt x="19050" y="2015591"/>
                  </a:lnTo>
                  <a:lnTo>
                    <a:pt x="0" y="2015591"/>
                  </a:lnTo>
                  <a:lnTo>
                    <a:pt x="0" y="2038375"/>
                  </a:lnTo>
                  <a:lnTo>
                    <a:pt x="342" y="2045868"/>
                  </a:lnTo>
                  <a:lnTo>
                    <a:pt x="9994" y="2075967"/>
                  </a:lnTo>
                  <a:lnTo>
                    <a:pt x="26123" y="2066810"/>
                  </a:lnTo>
                  <a:close/>
                </a:path>
                <a:path w="4363084" h="2114550">
                  <a:moveTo>
                    <a:pt x="40347" y="31229"/>
                  </a:moveTo>
                  <a:lnTo>
                    <a:pt x="28714" y="16649"/>
                  </a:lnTo>
                  <a:lnTo>
                    <a:pt x="27876" y="17272"/>
                  </a:lnTo>
                  <a:lnTo>
                    <a:pt x="22313" y="22326"/>
                  </a:lnTo>
                  <a:lnTo>
                    <a:pt x="5702" y="47332"/>
                  </a:lnTo>
                  <a:lnTo>
                    <a:pt x="3263" y="54114"/>
                  </a:lnTo>
                  <a:lnTo>
                    <a:pt x="1435" y="61341"/>
                  </a:lnTo>
                  <a:lnTo>
                    <a:pt x="355" y="68630"/>
                  </a:lnTo>
                  <a:lnTo>
                    <a:pt x="101" y="73799"/>
                  </a:lnTo>
                  <a:lnTo>
                    <a:pt x="19050" y="74396"/>
                  </a:lnTo>
                  <a:lnTo>
                    <a:pt x="19050" y="68630"/>
                  </a:lnTo>
                  <a:lnTo>
                    <a:pt x="20497" y="61341"/>
                  </a:lnTo>
                  <a:lnTo>
                    <a:pt x="26289" y="47332"/>
                  </a:lnTo>
                  <a:lnTo>
                    <a:pt x="30429" y="41148"/>
                  </a:lnTo>
                  <a:lnTo>
                    <a:pt x="35788" y="35801"/>
                  </a:lnTo>
                  <a:lnTo>
                    <a:pt x="40347" y="31229"/>
                  </a:lnTo>
                  <a:close/>
                </a:path>
                <a:path w="4363084" h="2114550">
                  <a:moveTo>
                    <a:pt x="101701" y="2095500"/>
                  </a:moveTo>
                  <a:lnTo>
                    <a:pt x="68618" y="2095500"/>
                  </a:lnTo>
                  <a:lnTo>
                    <a:pt x="61328" y="2094052"/>
                  </a:lnTo>
                  <a:lnTo>
                    <a:pt x="49936" y="2089340"/>
                  </a:lnTo>
                  <a:lnTo>
                    <a:pt x="41325" y="2106053"/>
                  </a:lnTo>
                  <a:lnTo>
                    <a:pt x="76174" y="2114550"/>
                  </a:lnTo>
                  <a:lnTo>
                    <a:pt x="101701" y="2114550"/>
                  </a:lnTo>
                  <a:lnTo>
                    <a:pt x="101701" y="2095500"/>
                  </a:lnTo>
                  <a:close/>
                </a:path>
                <a:path w="4363084" h="2114550">
                  <a:moveTo>
                    <a:pt x="133350" y="0"/>
                  </a:moveTo>
                  <a:lnTo>
                    <a:pt x="76174" y="0"/>
                  </a:lnTo>
                  <a:lnTo>
                    <a:pt x="68884" y="355"/>
                  </a:lnTo>
                  <a:lnTo>
                    <a:pt x="70688" y="19050"/>
                  </a:lnTo>
                  <a:lnTo>
                    <a:pt x="133350" y="19050"/>
                  </a:lnTo>
                  <a:lnTo>
                    <a:pt x="133350" y="0"/>
                  </a:lnTo>
                  <a:close/>
                </a:path>
                <a:path w="4363084" h="2114550">
                  <a:moveTo>
                    <a:pt x="196875" y="2095500"/>
                  </a:moveTo>
                  <a:lnTo>
                    <a:pt x="139725" y="2095500"/>
                  </a:lnTo>
                  <a:lnTo>
                    <a:pt x="139725" y="2114550"/>
                  </a:lnTo>
                  <a:lnTo>
                    <a:pt x="196875" y="2114550"/>
                  </a:lnTo>
                  <a:lnTo>
                    <a:pt x="196875" y="2095500"/>
                  </a:lnTo>
                  <a:close/>
                </a:path>
                <a:path w="4363084" h="2114550">
                  <a:moveTo>
                    <a:pt x="228523" y="0"/>
                  </a:moveTo>
                  <a:lnTo>
                    <a:pt x="171373" y="0"/>
                  </a:lnTo>
                  <a:lnTo>
                    <a:pt x="171373" y="19050"/>
                  </a:lnTo>
                  <a:lnTo>
                    <a:pt x="228523" y="19050"/>
                  </a:lnTo>
                  <a:lnTo>
                    <a:pt x="228523" y="0"/>
                  </a:lnTo>
                  <a:close/>
                </a:path>
                <a:path w="4363084" h="2114550">
                  <a:moveTo>
                    <a:pt x="292061" y="2095500"/>
                  </a:moveTo>
                  <a:lnTo>
                    <a:pt x="234911" y="2095500"/>
                  </a:lnTo>
                  <a:lnTo>
                    <a:pt x="234911" y="2114550"/>
                  </a:lnTo>
                  <a:lnTo>
                    <a:pt x="292061" y="2114550"/>
                  </a:lnTo>
                  <a:lnTo>
                    <a:pt x="292061" y="2095500"/>
                  </a:lnTo>
                  <a:close/>
                </a:path>
                <a:path w="4363084" h="2114550">
                  <a:moveTo>
                    <a:pt x="323697" y="0"/>
                  </a:moveTo>
                  <a:lnTo>
                    <a:pt x="266547" y="0"/>
                  </a:lnTo>
                  <a:lnTo>
                    <a:pt x="266547" y="19050"/>
                  </a:lnTo>
                  <a:lnTo>
                    <a:pt x="323697" y="19050"/>
                  </a:lnTo>
                  <a:lnTo>
                    <a:pt x="323697" y="0"/>
                  </a:lnTo>
                  <a:close/>
                </a:path>
                <a:path w="4363084" h="2114550">
                  <a:moveTo>
                    <a:pt x="387235" y="2095500"/>
                  </a:moveTo>
                  <a:lnTo>
                    <a:pt x="330085" y="2095500"/>
                  </a:lnTo>
                  <a:lnTo>
                    <a:pt x="330085" y="2114550"/>
                  </a:lnTo>
                  <a:lnTo>
                    <a:pt x="387235" y="2114550"/>
                  </a:lnTo>
                  <a:lnTo>
                    <a:pt x="387235" y="2095500"/>
                  </a:lnTo>
                  <a:close/>
                </a:path>
                <a:path w="4363084" h="2114550">
                  <a:moveTo>
                    <a:pt x="418884" y="0"/>
                  </a:moveTo>
                  <a:lnTo>
                    <a:pt x="361734" y="0"/>
                  </a:lnTo>
                  <a:lnTo>
                    <a:pt x="361734" y="19050"/>
                  </a:lnTo>
                  <a:lnTo>
                    <a:pt x="418884" y="19050"/>
                  </a:lnTo>
                  <a:lnTo>
                    <a:pt x="418884" y="0"/>
                  </a:lnTo>
                  <a:close/>
                </a:path>
                <a:path w="4363084" h="2114550">
                  <a:moveTo>
                    <a:pt x="482422" y="2095500"/>
                  </a:moveTo>
                  <a:lnTo>
                    <a:pt x="425272" y="2095500"/>
                  </a:lnTo>
                  <a:lnTo>
                    <a:pt x="425272" y="2114550"/>
                  </a:lnTo>
                  <a:lnTo>
                    <a:pt x="482422" y="2114550"/>
                  </a:lnTo>
                  <a:lnTo>
                    <a:pt x="482422" y="2095500"/>
                  </a:lnTo>
                  <a:close/>
                </a:path>
                <a:path w="4363084" h="2114550">
                  <a:moveTo>
                    <a:pt x="514057" y="0"/>
                  </a:moveTo>
                  <a:lnTo>
                    <a:pt x="456907" y="0"/>
                  </a:lnTo>
                  <a:lnTo>
                    <a:pt x="456907" y="19050"/>
                  </a:lnTo>
                  <a:lnTo>
                    <a:pt x="514057" y="19050"/>
                  </a:lnTo>
                  <a:lnTo>
                    <a:pt x="514057" y="0"/>
                  </a:lnTo>
                  <a:close/>
                </a:path>
                <a:path w="4363084" h="2114550">
                  <a:moveTo>
                    <a:pt x="577596" y="2095500"/>
                  </a:moveTo>
                  <a:lnTo>
                    <a:pt x="520446" y="2095500"/>
                  </a:lnTo>
                  <a:lnTo>
                    <a:pt x="520446" y="2114550"/>
                  </a:lnTo>
                  <a:lnTo>
                    <a:pt x="577596" y="2114550"/>
                  </a:lnTo>
                  <a:lnTo>
                    <a:pt x="577596" y="2095500"/>
                  </a:lnTo>
                  <a:close/>
                </a:path>
                <a:path w="4363084" h="2114550">
                  <a:moveTo>
                    <a:pt x="609244" y="0"/>
                  </a:moveTo>
                  <a:lnTo>
                    <a:pt x="552094" y="0"/>
                  </a:lnTo>
                  <a:lnTo>
                    <a:pt x="552094" y="19050"/>
                  </a:lnTo>
                  <a:lnTo>
                    <a:pt x="609244" y="19050"/>
                  </a:lnTo>
                  <a:lnTo>
                    <a:pt x="609244" y="0"/>
                  </a:lnTo>
                  <a:close/>
                </a:path>
                <a:path w="4363084" h="2114550">
                  <a:moveTo>
                    <a:pt x="672769" y="2095500"/>
                  </a:moveTo>
                  <a:lnTo>
                    <a:pt x="615619" y="2095500"/>
                  </a:lnTo>
                  <a:lnTo>
                    <a:pt x="615619" y="2114550"/>
                  </a:lnTo>
                  <a:lnTo>
                    <a:pt x="672769" y="2114550"/>
                  </a:lnTo>
                  <a:lnTo>
                    <a:pt x="672769" y="2095500"/>
                  </a:lnTo>
                  <a:close/>
                </a:path>
                <a:path w="4363084" h="2114550">
                  <a:moveTo>
                    <a:pt x="704418" y="0"/>
                  </a:moveTo>
                  <a:lnTo>
                    <a:pt x="647268" y="0"/>
                  </a:lnTo>
                  <a:lnTo>
                    <a:pt x="647268" y="19050"/>
                  </a:lnTo>
                  <a:lnTo>
                    <a:pt x="704418" y="19050"/>
                  </a:lnTo>
                  <a:lnTo>
                    <a:pt x="704418" y="0"/>
                  </a:lnTo>
                  <a:close/>
                </a:path>
                <a:path w="4363084" h="2114550">
                  <a:moveTo>
                    <a:pt x="767943" y="2095500"/>
                  </a:moveTo>
                  <a:lnTo>
                    <a:pt x="710793" y="2095500"/>
                  </a:lnTo>
                  <a:lnTo>
                    <a:pt x="710793" y="2114550"/>
                  </a:lnTo>
                  <a:lnTo>
                    <a:pt x="767943" y="2114550"/>
                  </a:lnTo>
                  <a:lnTo>
                    <a:pt x="767943" y="2095500"/>
                  </a:lnTo>
                  <a:close/>
                </a:path>
                <a:path w="4363084" h="2114550">
                  <a:moveTo>
                    <a:pt x="799604" y="0"/>
                  </a:moveTo>
                  <a:lnTo>
                    <a:pt x="742454" y="0"/>
                  </a:lnTo>
                  <a:lnTo>
                    <a:pt x="742454" y="19050"/>
                  </a:lnTo>
                  <a:lnTo>
                    <a:pt x="799604" y="19050"/>
                  </a:lnTo>
                  <a:lnTo>
                    <a:pt x="799604" y="0"/>
                  </a:lnTo>
                  <a:close/>
                </a:path>
                <a:path w="4363084" h="2114550">
                  <a:moveTo>
                    <a:pt x="863130" y="2095500"/>
                  </a:moveTo>
                  <a:lnTo>
                    <a:pt x="805980" y="2095500"/>
                  </a:lnTo>
                  <a:lnTo>
                    <a:pt x="805980" y="2114550"/>
                  </a:lnTo>
                  <a:lnTo>
                    <a:pt x="863130" y="2114550"/>
                  </a:lnTo>
                  <a:lnTo>
                    <a:pt x="863130" y="2095500"/>
                  </a:lnTo>
                  <a:close/>
                </a:path>
                <a:path w="4363084" h="2114550">
                  <a:moveTo>
                    <a:pt x="894778" y="0"/>
                  </a:moveTo>
                  <a:lnTo>
                    <a:pt x="837628" y="0"/>
                  </a:lnTo>
                  <a:lnTo>
                    <a:pt x="837628" y="19050"/>
                  </a:lnTo>
                  <a:lnTo>
                    <a:pt x="894778" y="19050"/>
                  </a:lnTo>
                  <a:lnTo>
                    <a:pt x="894778" y="0"/>
                  </a:lnTo>
                  <a:close/>
                </a:path>
                <a:path w="4363084" h="2114550">
                  <a:moveTo>
                    <a:pt x="958316" y="2095500"/>
                  </a:moveTo>
                  <a:lnTo>
                    <a:pt x="901166" y="2095500"/>
                  </a:lnTo>
                  <a:lnTo>
                    <a:pt x="901166" y="2114550"/>
                  </a:lnTo>
                  <a:lnTo>
                    <a:pt x="958316" y="2114550"/>
                  </a:lnTo>
                  <a:lnTo>
                    <a:pt x="958316" y="2095500"/>
                  </a:lnTo>
                  <a:close/>
                </a:path>
                <a:path w="4363084" h="2114550">
                  <a:moveTo>
                    <a:pt x="989952" y="0"/>
                  </a:moveTo>
                  <a:lnTo>
                    <a:pt x="932802" y="0"/>
                  </a:lnTo>
                  <a:lnTo>
                    <a:pt x="932802" y="19050"/>
                  </a:lnTo>
                  <a:lnTo>
                    <a:pt x="989952" y="19050"/>
                  </a:lnTo>
                  <a:lnTo>
                    <a:pt x="989952" y="0"/>
                  </a:lnTo>
                  <a:close/>
                </a:path>
                <a:path w="4363084" h="2114550">
                  <a:moveTo>
                    <a:pt x="1053490" y="2095500"/>
                  </a:moveTo>
                  <a:lnTo>
                    <a:pt x="996340" y="2095500"/>
                  </a:lnTo>
                  <a:lnTo>
                    <a:pt x="996340" y="2114550"/>
                  </a:lnTo>
                  <a:lnTo>
                    <a:pt x="1053490" y="2114550"/>
                  </a:lnTo>
                  <a:lnTo>
                    <a:pt x="1053490" y="2095500"/>
                  </a:lnTo>
                  <a:close/>
                </a:path>
                <a:path w="4363084" h="2114550">
                  <a:moveTo>
                    <a:pt x="1085126" y="0"/>
                  </a:moveTo>
                  <a:lnTo>
                    <a:pt x="1027976" y="0"/>
                  </a:lnTo>
                  <a:lnTo>
                    <a:pt x="1027976" y="19050"/>
                  </a:lnTo>
                  <a:lnTo>
                    <a:pt x="1085126" y="19050"/>
                  </a:lnTo>
                  <a:lnTo>
                    <a:pt x="1085126" y="0"/>
                  </a:lnTo>
                  <a:close/>
                </a:path>
                <a:path w="4363084" h="2114550">
                  <a:moveTo>
                    <a:pt x="1148676" y="2095500"/>
                  </a:moveTo>
                  <a:lnTo>
                    <a:pt x="1091526" y="2095500"/>
                  </a:lnTo>
                  <a:lnTo>
                    <a:pt x="1091526" y="2114550"/>
                  </a:lnTo>
                  <a:lnTo>
                    <a:pt x="1148676" y="2114550"/>
                  </a:lnTo>
                  <a:lnTo>
                    <a:pt x="1148676" y="2095500"/>
                  </a:lnTo>
                  <a:close/>
                </a:path>
                <a:path w="4363084" h="2114550">
                  <a:moveTo>
                    <a:pt x="1180312" y="0"/>
                  </a:moveTo>
                  <a:lnTo>
                    <a:pt x="1123162" y="0"/>
                  </a:lnTo>
                  <a:lnTo>
                    <a:pt x="1123162" y="19050"/>
                  </a:lnTo>
                  <a:lnTo>
                    <a:pt x="1180312" y="19050"/>
                  </a:lnTo>
                  <a:lnTo>
                    <a:pt x="1180312" y="0"/>
                  </a:lnTo>
                  <a:close/>
                </a:path>
                <a:path w="4363084" h="2114550">
                  <a:moveTo>
                    <a:pt x="1243850" y="2095500"/>
                  </a:moveTo>
                  <a:lnTo>
                    <a:pt x="1186700" y="2095500"/>
                  </a:lnTo>
                  <a:lnTo>
                    <a:pt x="1186700" y="2114550"/>
                  </a:lnTo>
                  <a:lnTo>
                    <a:pt x="1243850" y="2114550"/>
                  </a:lnTo>
                  <a:lnTo>
                    <a:pt x="1243850" y="2095500"/>
                  </a:lnTo>
                  <a:close/>
                </a:path>
                <a:path w="4363084" h="2114550">
                  <a:moveTo>
                    <a:pt x="1275486" y="0"/>
                  </a:moveTo>
                  <a:lnTo>
                    <a:pt x="1218336" y="0"/>
                  </a:lnTo>
                  <a:lnTo>
                    <a:pt x="1218336" y="19050"/>
                  </a:lnTo>
                  <a:lnTo>
                    <a:pt x="1275486" y="19050"/>
                  </a:lnTo>
                  <a:lnTo>
                    <a:pt x="1275486" y="0"/>
                  </a:lnTo>
                  <a:close/>
                </a:path>
                <a:path w="4363084" h="2114550">
                  <a:moveTo>
                    <a:pt x="1339024" y="2095500"/>
                  </a:moveTo>
                  <a:lnTo>
                    <a:pt x="1281874" y="2095500"/>
                  </a:lnTo>
                  <a:lnTo>
                    <a:pt x="1281874" y="2114550"/>
                  </a:lnTo>
                  <a:lnTo>
                    <a:pt x="1339024" y="2114550"/>
                  </a:lnTo>
                  <a:lnTo>
                    <a:pt x="1339024" y="2095500"/>
                  </a:lnTo>
                  <a:close/>
                </a:path>
                <a:path w="4363084" h="2114550">
                  <a:moveTo>
                    <a:pt x="1370672" y="0"/>
                  </a:moveTo>
                  <a:lnTo>
                    <a:pt x="1313522" y="0"/>
                  </a:lnTo>
                  <a:lnTo>
                    <a:pt x="1313522" y="19050"/>
                  </a:lnTo>
                  <a:lnTo>
                    <a:pt x="1370672" y="19050"/>
                  </a:lnTo>
                  <a:lnTo>
                    <a:pt x="1370672" y="0"/>
                  </a:lnTo>
                  <a:close/>
                </a:path>
                <a:path w="4363084" h="2114550">
                  <a:moveTo>
                    <a:pt x="1434198" y="2095500"/>
                  </a:moveTo>
                  <a:lnTo>
                    <a:pt x="1377048" y="2095500"/>
                  </a:lnTo>
                  <a:lnTo>
                    <a:pt x="1377048" y="2114550"/>
                  </a:lnTo>
                  <a:lnTo>
                    <a:pt x="1434198" y="2114550"/>
                  </a:lnTo>
                  <a:lnTo>
                    <a:pt x="1434198" y="2095500"/>
                  </a:lnTo>
                  <a:close/>
                </a:path>
                <a:path w="4363084" h="2114550">
                  <a:moveTo>
                    <a:pt x="1465859" y="0"/>
                  </a:moveTo>
                  <a:lnTo>
                    <a:pt x="1408709" y="0"/>
                  </a:lnTo>
                  <a:lnTo>
                    <a:pt x="1408709" y="19050"/>
                  </a:lnTo>
                  <a:lnTo>
                    <a:pt x="1465859" y="19050"/>
                  </a:lnTo>
                  <a:lnTo>
                    <a:pt x="1465859" y="0"/>
                  </a:lnTo>
                  <a:close/>
                </a:path>
                <a:path w="4363084" h="2114550">
                  <a:moveTo>
                    <a:pt x="1529384" y="2095500"/>
                  </a:moveTo>
                  <a:lnTo>
                    <a:pt x="1472234" y="2095500"/>
                  </a:lnTo>
                  <a:lnTo>
                    <a:pt x="1472234" y="2114550"/>
                  </a:lnTo>
                  <a:lnTo>
                    <a:pt x="1529384" y="2114550"/>
                  </a:lnTo>
                  <a:lnTo>
                    <a:pt x="1529384" y="2095500"/>
                  </a:lnTo>
                  <a:close/>
                </a:path>
                <a:path w="4363084" h="2114550">
                  <a:moveTo>
                    <a:pt x="1561033" y="0"/>
                  </a:moveTo>
                  <a:lnTo>
                    <a:pt x="1503883" y="0"/>
                  </a:lnTo>
                  <a:lnTo>
                    <a:pt x="1503883" y="19050"/>
                  </a:lnTo>
                  <a:lnTo>
                    <a:pt x="1561033" y="19050"/>
                  </a:lnTo>
                  <a:lnTo>
                    <a:pt x="1561033" y="0"/>
                  </a:lnTo>
                  <a:close/>
                </a:path>
                <a:path w="4363084" h="2114550">
                  <a:moveTo>
                    <a:pt x="1624558" y="2095500"/>
                  </a:moveTo>
                  <a:lnTo>
                    <a:pt x="1567408" y="2095500"/>
                  </a:lnTo>
                  <a:lnTo>
                    <a:pt x="1567408" y="2114550"/>
                  </a:lnTo>
                  <a:lnTo>
                    <a:pt x="1624558" y="2114550"/>
                  </a:lnTo>
                  <a:lnTo>
                    <a:pt x="1624558" y="2095500"/>
                  </a:lnTo>
                  <a:close/>
                </a:path>
                <a:path w="4363084" h="2114550">
                  <a:moveTo>
                    <a:pt x="1656207" y="0"/>
                  </a:moveTo>
                  <a:lnTo>
                    <a:pt x="1599057" y="0"/>
                  </a:lnTo>
                  <a:lnTo>
                    <a:pt x="1599057" y="19050"/>
                  </a:lnTo>
                  <a:lnTo>
                    <a:pt x="1656207" y="19050"/>
                  </a:lnTo>
                  <a:lnTo>
                    <a:pt x="1656207" y="0"/>
                  </a:lnTo>
                  <a:close/>
                </a:path>
                <a:path w="4363084" h="2114550">
                  <a:moveTo>
                    <a:pt x="1719745" y="2095500"/>
                  </a:moveTo>
                  <a:lnTo>
                    <a:pt x="1662595" y="2095500"/>
                  </a:lnTo>
                  <a:lnTo>
                    <a:pt x="1662595" y="2114550"/>
                  </a:lnTo>
                  <a:lnTo>
                    <a:pt x="1719745" y="2114550"/>
                  </a:lnTo>
                  <a:lnTo>
                    <a:pt x="1719745" y="2095500"/>
                  </a:lnTo>
                  <a:close/>
                </a:path>
                <a:path w="4363084" h="2114550">
                  <a:moveTo>
                    <a:pt x="1751380" y="0"/>
                  </a:moveTo>
                  <a:lnTo>
                    <a:pt x="1694230" y="0"/>
                  </a:lnTo>
                  <a:lnTo>
                    <a:pt x="1694230" y="19050"/>
                  </a:lnTo>
                  <a:lnTo>
                    <a:pt x="1751380" y="19050"/>
                  </a:lnTo>
                  <a:lnTo>
                    <a:pt x="1751380" y="0"/>
                  </a:lnTo>
                  <a:close/>
                </a:path>
                <a:path w="4363084" h="2114550">
                  <a:moveTo>
                    <a:pt x="1814918" y="2095500"/>
                  </a:moveTo>
                  <a:lnTo>
                    <a:pt x="1757768" y="2095500"/>
                  </a:lnTo>
                  <a:lnTo>
                    <a:pt x="1757768" y="2114550"/>
                  </a:lnTo>
                  <a:lnTo>
                    <a:pt x="1814918" y="2114550"/>
                  </a:lnTo>
                  <a:lnTo>
                    <a:pt x="1814918" y="2095500"/>
                  </a:lnTo>
                  <a:close/>
                </a:path>
                <a:path w="4363084" h="2114550">
                  <a:moveTo>
                    <a:pt x="1846567" y="0"/>
                  </a:moveTo>
                  <a:lnTo>
                    <a:pt x="1789417" y="0"/>
                  </a:lnTo>
                  <a:lnTo>
                    <a:pt x="1789417" y="19050"/>
                  </a:lnTo>
                  <a:lnTo>
                    <a:pt x="1846567" y="19050"/>
                  </a:lnTo>
                  <a:lnTo>
                    <a:pt x="1846567" y="0"/>
                  </a:lnTo>
                  <a:close/>
                </a:path>
                <a:path w="4363084" h="2114550">
                  <a:moveTo>
                    <a:pt x="1910105" y="2095500"/>
                  </a:moveTo>
                  <a:lnTo>
                    <a:pt x="1852955" y="2095500"/>
                  </a:lnTo>
                  <a:lnTo>
                    <a:pt x="1852955" y="2114550"/>
                  </a:lnTo>
                  <a:lnTo>
                    <a:pt x="1910105" y="2114550"/>
                  </a:lnTo>
                  <a:lnTo>
                    <a:pt x="1910105" y="2095500"/>
                  </a:lnTo>
                  <a:close/>
                </a:path>
                <a:path w="4363084" h="2114550">
                  <a:moveTo>
                    <a:pt x="1941741" y="0"/>
                  </a:moveTo>
                  <a:lnTo>
                    <a:pt x="1884591" y="0"/>
                  </a:lnTo>
                  <a:lnTo>
                    <a:pt x="1884591" y="19050"/>
                  </a:lnTo>
                  <a:lnTo>
                    <a:pt x="1941741" y="19050"/>
                  </a:lnTo>
                  <a:lnTo>
                    <a:pt x="1941741" y="0"/>
                  </a:lnTo>
                  <a:close/>
                </a:path>
                <a:path w="4363084" h="2114550">
                  <a:moveTo>
                    <a:pt x="2005279" y="2095500"/>
                  </a:moveTo>
                  <a:lnTo>
                    <a:pt x="1948129" y="2095500"/>
                  </a:lnTo>
                  <a:lnTo>
                    <a:pt x="1948129" y="2114550"/>
                  </a:lnTo>
                  <a:lnTo>
                    <a:pt x="2005279" y="2114550"/>
                  </a:lnTo>
                  <a:lnTo>
                    <a:pt x="2005279" y="2095500"/>
                  </a:lnTo>
                  <a:close/>
                </a:path>
                <a:path w="4363084" h="2114550">
                  <a:moveTo>
                    <a:pt x="2036927" y="0"/>
                  </a:moveTo>
                  <a:lnTo>
                    <a:pt x="1979777" y="0"/>
                  </a:lnTo>
                  <a:lnTo>
                    <a:pt x="1979777" y="19050"/>
                  </a:lnTo>
                  <a:lnTo>
                    <a:pt x="2036927" y="19050"/>
                  </a:lnTo>
                  <a:lnTo>
                    <a:pt x="2036927" y="0"/>
                  </a:lnTo>
                  <a:close/>
                </a:path>
                <a:path w="4363084" h="2114550">
                  <a:moveTo>
                    <a:pt x="2100453" y="2095500"/>
                  </a:moveTo>
                  <a:lnTo>
                    <a:pt x="2043303" y="2095500"/>
                  </a:lnTo>
                  <a:lnTo>
                    <a:pt x="2043303" y="2114550"/>
                  </a:lnTo>
                  <a:lnTo>
                    <a:pt x="2100453" y="2114550"/>
                  </a:lnTo>
                  <a:lnTo>
                    <a:pt x="2100453" y="2095500"/>
                  </a:lnTo>
                  <a:close/>
                </a:path>
                <a:path w="4363084" h="2114550">
                  <a:moveTo>
                    <a:pt x="2132101" y="0"/>
                  </a:moveTo>
                  <a:lnTo>
                    <a:pt x="2074951" y="0"/>
                  </a:lnTo>
                  <a:lnTo>
                    <a:pt x="2074951" y="19050"/>
                  </a:lnTo>
                  <a:lnTo>
                    <a:pt x="2132101" y="19050"/>
                  </a:lnTo>
                  <a:lnTo>
                    <a:pt x="2132101" y="0"/>
                  </a:lnTo>
                  <a:close/>
                </a:path>
                <a:path w="4363084" h="2114550">
                  <a:moveTo>
                    <a:pt x="2195639" y="2095500"/>
                  </a:moveTo>
                  <a:lnTo>
                    <a:pt x="2138489" y="2095500"/>
                  </a:lnTo>
                  <a:lnTo>
                    <a:pt x="2138489" y="2114550"/>
                  </a:lnTo>
                  <a:lnTo>
                    <a:pt x="2195639" y="2114550"/>
                  </a:lnTo>
                  <a:lnTo>
                    <a:pt x="2195639" y="2095500"/>
                  </a:lnTo>
                  <a:close/>
                </a:path>
                <a:path w="4363084" h="2114550">
                  <a:moveTo>
                    <a:pt x="2227288" y="0"/>
                  </a:moveTo>
                  <a:lnTo>
                    <a:pt x="2170138" y="0"/>
                  </a:lnTo>
                  <a:lnTo>
                    <a:pt x="2170138" y="19050"/>
                  </a:lnTo>
                  <a:lnTo>
                    <a:pt x="2227288" y="19050"/>
                  </a:lnTo>
                  <a:lnTo>
                    <a:pt x="2227288" y="0"/>
                  </a:lnTo>
                  <a:close/>
                </a:path>
                <a:path w="4363084" h="2114550">
                  <a:moveTo>
                    <a:pt x="2290851" y="2095500"/>
                  </a:moveTo>
                  <a:lnTo>
                    <a:pt x="2233663" y="2095500"/>
                  </a:lnTo>
                  <a:lnTo>
                    <a:pt x="2233663" y="2114550"/>
                  </a:lnTo>
                  <a:lnTo>
                    <a:pt x="2290851" y="2114550"/>
                  </a:lnTo>
                  <a:lnTo>
                    <a:pt x="2290851" y="2095500"/>
                  </a:lnTo>
                  <a:close/>
                </a:path>
                <a:path w="4363084" h="2114550">
                  <a:moveTo>
                    <a:pt x="2322474" y="0"/>
                  </a:moveTo>
                  <a:lnTo>
                    <a:pt x="2265311" y="0"/>
                  </a:lnTo>
                  <a:lnTo>
                    <a:pt x="2265311" y="19050"/>
                  </a:lnTo>
                  <a:lnTo>
                    <a:pt x="2322474" y="19050"/>
                  </a:lnTo>
                  <a:lnTo>
                    <a:pt x="2322474" y="0"/>
                  </a:lnTo>
                  <a:close/>
                </a:path>
                <a:path w="4363084" h="2114550">
                  <a:moveTo>
                    <a:pt x="2386012" y="2095500"/>
                  </a:moveTo>
                  <a:lnTo>
                    <a:pt x="2328862" y="2095500"/>
                  </a:lnTo>
                  <a:lnTo>
                    <a:pt x="2328862" y="2114550"/>
                  </a:lnTo>
                  <a:lnTo>
                    <a:pt x="2386012" y="2114550"/>
                  </a:lnTo>
                  <a:lnTo>
                    <a:pt x="2386012" y="2095500"/>
                  </a:lnTo>
                  <a:close/>
                </a:path>
                <a:path w="4363084" h="2114550">
                  <a:moveTo>
                    <a:pt x="2417635" y="0"/>
                  </a:moveTo>
                  <a:lnTo>
                    <a:pt x="2360485" y="0"/>
                  </a:lnTo>
                  <a:lnTo>
                    <a:pt x="2360485" y="19050"/>
                  </a:lnTo>
                  <a:lnTo>
                    <a:pt x="2417635" y="19050"/>
                  </a:lnTo>
                  <a:lnTo>
                    <a:pt x="2417635" y="0"/>
                  </a:lnTo>
                  <a:close/>
                </a:path>
                <a:path w="4363084" h="2114550">
                  <a:moveTo>
                    <a:pt x="2481161" y="2095500"/>
                  </a:moveTo>
                  <a:lnTo>
                    <a:pt x="2424011" y="2095500"/>
                  </a:lnTo>
                  <a:lnTo>
                    <a:pt x="2424011" y="2114550"/>
                  </a:lnTo>
                  <a:lnTo>
                    <a:pt x="2481161" y="2114550"/>
                  </a:lnTo>
                  <a:lnTo>
                    <a:pt x="2481161" y="2095500"/>
                  </a:lnTo>
                  <a:close/>
                </a:path>
                <a:path w="4363084" h="2114550">
                  <a:moveTo>
                    <a:pt x="2512784" y="0"/>
                  </a:moveTo>
                  <a:lnTo>
                    <a:pt x="2455634" y="0"/>
                  </a:lnTo>
                  <a:lnTo>
                    <a:pt x="2455634" y="19050"/>
                  </a:lnTo>
                  <a:lnTo>
                    <a:pt x="2512784" y="19050"/>
                  </a:lnTo>
                  <a:lnTo>
                    <a:pt x="2512784" y="0"/>
                  </a:lnTo>
                  <a:close/>
                </a:path>
                <a:path w="4363084" h="2114550">
                  <a:moveTo>
                    <a:pt x="2576322" y="2095500"/>
                  </a:moveTo>
                  <a:lnTo>
                    <a:pt x="2519172" y="2095500"/>
                  </a:lnTo>
                  <a:lnTo>
                    <a:pt x="2519172" y="2114550"/>
                  </a:lnTo>
                  <a:lnTo>
                    <a:pt x="2576322" y="2114550"/>
                  </a:lnTo>
                  <a:lnTo>
                    <a:pt x="2576322" y="2095500"/>
                  </a:lnTo>
                  <a:close/>
                </a:path>
                <a:path w="4363084" h="2114550">
                  <a:moveTo>
                    <a:pt x="2608034" y="0"/>
                  </a:moveTo>
                  <a:lnTo>
                    <a:pt x="2550884" y="0"/>
                  </a:lnTo>
                  <a:lnTo>
                    <a:pt x="2550884" y="19050"/>
                  </a:lnTo>
                  <a:lnTo>
                    <a:pt x="2608034" y="19050"/>
                  </a:lnTo>
                  <a:lnTo>
                    <a:pt x="2608034" y="0"/>
                  </a:lnTo>
                  <a:close/>
                </a:path>
                <a:path w="4363084" h="2114550">
                  <a:moveTo>
                    <a:pt x="2671572" y="2095500"/>
                  </a:moveTo>
                  <a:lnTo>
                    <a:pt x="2614422" y="2095500"/>
                  </a:lnTo>
                  <a:lnTo>
                    <a:pt x="2614422" y="2114550"/>
                  </a:lnTo>
                  <a:lnTo>
                    <a:pt x="2671572" y="2114550"/>
                  </a:lnTo>
                  <a:lnTo>
                    <a:pt x="2671572" y="2095500"/>
                  </a:lnTo>
                  <a:close/>
                </a:path>
                <a:path w="4363084" h="2114550">
                  <a:moveTo>
                    <a:pt x="2703195" y="0"/>
                  </a:moveTo>
                  <a:lnTo>
                    <a:pt x="2646045" y="0"/>
                  </a:lnTo>
                  <a:lnTo>
                    <a:pt x="2646045" y="19050"/>
                  </a:lnTo>
                  <a:lnTo>
                    <a:pt x="2703195" y="19050"/>
                  </a:lnTo>
                  <a:lnTo>
                    <a:pt x="2703195" y="0"/>
                  </a:lnTo>
                  <a:close/>
                </a:path>
                <a:path w="4363084" h="2114550">
                  <a:moveTo>
                    <a:pt x="2766720" y="2095500"/>
                  </a:moveTo>
                  <a:lnTo>
                    <a:pt x="2709570" y="2095500"/>
                  </a:lnTo>
                  <a:lnTo>
                    <a:pt x="2709570" y="2114550"/>
                  </a:lnTo>
                  <a:lnTo>
                    <a:pt x="2766720" y="2114550"/>
                  </a:lnTo>
                  <a:lnTo>
                    <a:pt x="2766720" y="2095500"/>
                  </a:lnTo>
                  <a:close/>
                </a:path>
                <a:path w="4363084" h="2114550">
                  <a:moveTo>
                    <a:pt x="2798343" y="0"/>
                  </a:moveTo>
                  <a:lnTo>
                    <a:pt x="2741193" y="0"/>
                  </a:lnTo>
                  <a:lnTo>
                    <a:pt x="2741193" y="19050"/>
                  </a:lnTo>
                  <a:lnTo>
                    <a:pt x="2798343" y="19050"/>
                  </a:lnTo>
                  <a:lnTo>
                    <a:pt x="2798343" y="0"/>
                  </a:lnTo>
                  <a:close/>
                </a:path>
                <a:path w="4363084" h="2114550">
                  <a:moveTo>
                    <a:pt x="2861881" y="2095500"/>
                  </a:moveTo>
                  <a:lnTo>
                    <a:pt x="2804731" y="2095500"/>
                  </a:lnTo>
                  <a:lnTo>
                    <a:pt x="2804731" y="2114550"/>
                  </a:lnTo>
                  <a:lnTo>
                    <a:pt x="2861881" y="2114550"/>
                  </a:lnTo>
                  <a:lnTo>
                    <a:pt x="2861881" y="2095500"/>
                  </a:lnTo>
                  <a:close/>
                </a:path>
                <a:path w="4363084" h="2114550">
                  <a:moveTo>
                    <a:pt x="2893504" y="0"/>
                  </a:moveTo>
                  <a:lnTo>
                    <a:pt x="2836354" y="0"/>
                  </a:lnTo>
                  <a:lnTo>
                    <a:pt x="2836354" y="19050"/>
                  </a:lnTo>
                  <a:lnTo>
                    <a:pt x="2893504" y="19050"/>
                  </a:lnTo>
                  <a:lnTo>
                    <a:pt x="2893504" y="0"/>
                  </a:lnTo>
                  <a:close/>
                </a:path>
                <a:path w="4363084" h="2114550">
                  <a:moveTo>
                    <a:pt x="2957030" y="2095500"/>
                  </a:moveTo>
                  <a:lnTo>
                    <a:pt x="2899880" y="2095500"/>
                  </a:lnTo>
                  <a:lnTo>
                    <a:pt x="2899880" y="2114550"/>
                  </a:lnTo>
                  <a:lnTo>
                    <a:pt x="2957030" y="2114550"/>
                  </a:lnTo>
                  <a:lnTo>
                    <a:pt x="2957030" y="2095500"/>
                  </a:lnTo>
                  <a:close/>
                </a:path>
                <a:path w="4363084" h="2114550">
                  <a:moveTo>
                    <a:pt x="2988754" y="0"/>
                  </a:moveTo>
                  <a:lnTo>
                    <a:pt x="2931604" y="0"/>
                  </a:lnTo>
                  <a:lnTo>
                    <a:pt x="2931604" y="19050"/>
                  </a:lnTo>
                  <a:lnTo>
                    <a:pt x="2988754" y="19050"/>
                  </a:lnTo>
                  <a:lnTo>
                    <a:pt x="2988754" y="0"/>
                  </a:lnTo>
                  <a:close/>
                </a:path>
                <a:path w="4363084" h="2114550">
                  <a:moveTo>
                    <a:pt x="3052280" y="2095500"/>
                  </a:moveTo>
                  <a:lnTo>
                    <a:pt x="2995130" y="2095500"/>
                  </a:lnTo>
                  <a:lnTo>
                    <a:pt x="2995130" y="2114550"/>
                  </a:lnTo>
                  <a:lnTo>
                    <a:pt x="3052280" y="2114550"/>
                  </a:lnTo>
                  <a:lnTo>
                    <a:pt x="3052280" y="2095500"/>
                  </a:lnTo>
                  <a:close/>
                </a:path>
                <a:path w="4363084" h="2114550">
                  <a:moveTo>
                    <a:pt x="3083903" y="0"/>
                  </a:moveTo>
                  <a:lnTo>
                    <a:pt x="3026753" y="0"/>
                  </a:lnTo>
                  <a:lnTo>
                    <a:pt x="3026753" y="19050"/>
                  </a:lnTo>
                  <a:lnTo>
                    <a:pt x="3083903" y="19050"/>
                  </a:lnTo>
                  <a:lnTo>
                    <a:pt x="3083903" y="0"/>
                  </a:lnTo>
                  <a:close/>
                </a:path>
                <a:path w="4363084" h="2114550">
                  <a:moveTo>
                    <a:pt x="3147441" y="2095500"/>
                  </a:moveTo>
                  <a:lnTo>
                    <a:pt x="3090291" y="2095500"/>
                  </a:lnTo>
                  <a:lnTo>
                    <a:pt x="3090291" y="2114550"/>
                  </a:lnTo>
                  <a:lnTo>
                    <a:pt x="3147441" y="2114550"/>
                  </a:lnTo>
                  <a:lnTo>
                    <a:pt x="3147441" y="2095500"/>
                  </a:lnTo>
                  <a:close/>
                </a:path>
                <a:path w="4363084" h="2114550">
                  <a:moveTo>
                    <a:pt x="3179064" y="0"/>
                  </a:moveTo>
                  <a:lnTo>
                    <a:pt x="3121914" y="0"/>
                  </a:lnTo>
                  <a:lnTo>
                    <a:pt x="3121914" y="19050"/>
                  </a:lnTo>
                  <a:lnTo>
                    <a:pt x="3179064" y="19050"/>
                  </a:lnTo>
                  <a:lnTo>
                    <a:pt x="3179064" y="0"/>
                  </a:lnTo>
                  <a:close/>
                </a:path>
                <a:path w="4363084" h="2114550">
                  <a:moveTo>
                    <a:pt x="3242589" y="2095500"/>
                  </a:moveTo>
                  <a:lnTo>
                    <a:pt x="3185439" y="2095500"/>
                  </a:lnTo>
                  <a:lnTo>
                    <a:pt x="3185439" y="2114550"/>
                  </a:lnTo>
                  <a:lnTo>
                    <a:pt x="3242589" y="2114550"/>
                  </a:lnTo>
                  <a:lnTo>
                    <a:pt x="3242589" y="2095500"/>
                  </a:lnTo>
                  <a:close/>
                </a:path>
                <a:path w="4363084" h="2114550">
                  <a:moveTo>
                    <a:pt x="3274212" y="0"/>
                  </a:moveTo>
                  <a:lnTo>
                    <a:pt x="3217062" y="0"/>
                  </a:lnTo>
                  <a:lnTo>
                    <a:pt x="3217062" y="19050"/>
                  </a:lnTo>
                  <a:lnTo>
                    <a:pt x="3274212" y="19050"/>
                  </a:lnTo>
                  <a:lnTo>
                    <a:pt x="3274212" y="0"/>
                  </a:lnTo>
                  <a:close/>
                </a:path>
                <a:path w="4363084" h="2114550">
                  <a:moveTo>
                    <a:pt x="3337750" y="2095500"/>
                  </a:moveTo>
                  <a:lnTo>
                    <a:pt x="3280600" y="2095500"/>
                  </a:lnTo>
                  <a:lnTo>
                    <a:pt x="3280600" y="2114550"/>
                  </a:lnTo>
                  <a:lnTo>
                    <a:pt x="3337750" y="2114550"/>
                  </a:lnTo>
                  <a:lnTo>
                    <a:pt x="3337750" y="2095500"/>
                  </a:lnTo>
                  <a:close/>
                </a:path>
                <a:path w="4363084" h="2114550">
                  <a:moveTo>
                    <a:pt x="3369462" y="0"/>
                  </a:moveTo>
                  <a:lnTo>
                    <a:pt x="3312312" y="0"/>
                  </a:lnTo>
                  <a:lnTo>
                    <a:pt x="3312312" y="19050"/>
                  </a:lnTo>
                  <a:lnTo>
                    <a:pt x="3369462" y="19050"/>
                  </a:lnTo>
                  <a:lnTo>
                    <a:pt x="3369462" y="0"/>
                  </a:lnTo>
                  <a:close/>
                </a:path>
                <a:path w="4363084" h="2114550">
                  <a:moveTo>
                    <a:pt x="3433000" y="2095500"/>
                  </a:moveTo>
                  <a:lnTo>
                    <a:pt x="3375850" y="2095500"/>
                  </a:lnTo>
                  <a:lnTo>
                    <a:pt x="3375850" y="2114550"/>
                  </a:lnTo>
                  <a:lnTo>
                    <a:pt x="3433000" y="2114550"/>
                  </a:lnTo>
                  <a:lnTo>
                    <a:pt x="3433000" y="2095500"/>
                  </a:lnTo>
                  <a:close/>
                </a:path>
                <a:path w="4363084" h="2114550">
                  <a:moveTo>
                    <a:pt x="3464623" y="0"/>
                  </a:moveTo>
                  <a:lnTo>
                    <a:pt x="3407473" y="0"/>
                  </a:lnTo>
                  <a:lnTo>
                    <a:pt x="3407473" y="19050"/>
                  </a:lnTo>
                  <a:lnTo>
                    <a:pt x="3464623" y="19050"/>
                  </a:lnTo>
                  <a:lnTo>
                    <a:pt x="3464623" y="0"/>
                  </a:lnTo>
                  <a:close/>
                </a:path>
                <a:path w="4363084" h="2114550">
                  <a:moveTo>
                    <a:pt x="3528149" y="2095500"/>
                  </a:moveTo>
                  <a:lnTo>
                    <a:pt x="3470999" y="2095500"/>
                  </a:lnTo>
                  <a:lnTo>
                    <a:pt x="3470999" y="2114550"/>
                  </a:lnTo>
                  <a:lnTo>
                    <a:pt x="3528149" y="2114550"/>
                  </a:lnTo>
                  <a:lnTo>
                    <a:pt x="3528149" y="2095500"/>
                  </a:lnTo>
                  <a:close/>
                </a:path>
                <a:path w="4363084" h="2114550">
                  <a:moveTo>
                    <a:pt x="3559772" y="0"/>
                  </a:moveTo>
                  <a:lnTo>
                    <a:pt x="3502622" y="0"/>
                  </a:lnTo>
                  <a:lnTo>
                    <a:pt x="3502622" y="19050"/>
                  </a:lnTo>
                  <a:lnTo>
                    <a:pt x="3559772" y="19050"/>
                  </a:lnTo>
                  <a:lnTo>
                    <a:pt x="3559772" y="0"/>
                  </a:lnTo>
                  <a:close/>
                </a:path>
                <a:path w="4363084" h="2114550">
                  <a:moveTo>
                    <a:pt x="3623310" y="2095500"/>
                  </a:moveTo>
                  <a:lnTo>
                    <a:pt x="3566160" y="2095500"/>
                  </a:lnTo>
                  <a:lnTo>
                    <a:pt x="3566160" y="2114550"/>
                  </a:lnTo>
                  <a:lnTo>
                    <a:pt x="3623310" y="2114550"/>
                  </a:lnTo>
                  <a:lnTo>
                    <a:pt x="3623310" y="2095500"/>
                  </a:lnTo>
                  <a:close/>
                </a:path>
                <a:path w="4363084" h="2114550">
                  <a:moveTo>
                    <a:pt x="3654933" y="0"/>
                  </a:moveTo>
                  <a:lnTo>
                    <a:pt x="3597783" y="0"/>
                  </a:lnTo>
                  <a:lnTo>
                    <a:pt x="3597783" y="19050"/>
                  </a:lnTo>
                  <a:lnTo>
                    <a:pt x="3654933" y="19050"/>
                  </a:lnTo>
                  <a:lnTo>
                    <a:pt x="3654933" y="0"/>
                  </a:lnTo>
                  <a:close/>
                </a:path>
                <a:path w="4363084" h="2114550">
                  <a:moveTo>
                    <a:pt x="3718458" y="2095500"/>
                  </a:moveTo>
                  <a:lnTo>
                    <a:pt x="3661308" y="2095500"/>
                  </a:lnTo>
                  <a:lnTo>
                    <a:pt x="3661308" y="2114550"/>
                  </a:lnTo>
                  <a:lnTo>
                    <a:pt x="3718458" y="2114550"/>
                  </a:lnTo>
                  <a:lnTo>
                    <a:pt x="3718458" y="2095500"/>
                  </a:lnTo>
                  <a:close/>
                </a:path>
                <a:path w="4363084" h="2114550">
                  <a:moveTo>
                    <a:pt x="3750183" y="0"/>
                  </a:moveTo>
                  <a:lnTo>
                    <a:pt x="3693033" y="0"/>
                  </a:lnTo>
                  <a:lnTo>
                    <a:pt x="3693033" y="19050"/>
                  </a:lnTo>
                  <a:lnTo>
                    <a:pt x="3750183" y="19050"/>
                  </a:lnTo>
                  <a:lnTo>
                    <a:pt x="3750183" y="0"/>
                  </a:lnTo>
                  <a:close/>
                </a:path>
                <a:path w="4363084" h="2114550">
                  <a:moveTo>
                    <a:pt x="3813708" y="2095500"/>
                  </a:moveTo>
                  <a:lnTo>
                    <a:pt x="3756558" y="2095500"/>
                  </a:lnTo>
                  <a:lnTo>
                    <a:pt x="3756558" y="2114550"/>
                  </a:lnTo>
                  <a:lnTo>
                    <a:pt x="3813708" y="2114550"/>
                  </a:lnTo>
                  <a:lnTo>
                    <a:pt x="3813708" y="2095500"/>
                  </a:lnTo>
                  <a:close/>
                </a:path>
                <a:path w="4363084" h="2114550">
                  <a:moveTo>
                    <a:pt x="3845331" y="0"/>
                  </a:moveTo>
                  <a:lnTo>
                    <a:pt x="3788181" y="0"/>
                  </a:lnTo>
                  <a:lnTo>
                    <a:pt x="3788181" y="19050"/>
                  </a:lnTo>
                  <a:lnTo>
                    <a:pt x="3845331" y="19050"/>
                  </a:lnTo>
                  <a:lnTo>
                    <a:pt x="3845331" y="0"/>
                  </a:lnTo>
                  <a:close/>
                </a:path>
                <a:path w="4363084" h="2114550">
                  <a:moveTo>
                    <a:pt x="3908869" y="2095500"/>
                  </a:moveTo>
                  <a:lnTo>
                    <a:pt x="3851719" y="2095500"/>
                  </a:lnTo>
                  <a:lnTo>
                    <a:pt x="3851719" y="2114550"/>
                  </a:lnTo>
                  <a:lnTo>
                    <a:pt x="3908869" y="2114550"/>
                  </a:lnTo>
                  <a:lnTo>
                    <a:pt x="3908869" y="2095500"/>
                  </a:lnTo>
                  <a:close/>
                </a:path>
                <a:path w="4363084" h="2114550">
                  <a:moveTo>
                    <a:pt x="3940492" y="0"/>
                  </a:moveTo>
                  <a:lnTo>
                    <a:pt x="3883342" y="0"/>
                  </a:lnTo>
                  <a:lnTo>
                    <a:pt x="3883342" y="19050"/>
                  </a:lnTo>
                  <a:lnTo>
                    <a:pt x="3940492" y="19050"/>
                  </a:lnTo>
                  <a:lnTo>
                    <a:pt x="3940492" y="0"/>
                  </a:lnTo>
                  <a:close/>
                </a:path>
                <a:path w="4363084" h="2114550">
                  <a:moveTo>
                    <a:pt x="4004018" y="2095500"/>
                  </a:moveTo>
                  <a:lnTo>
                    <a:pt x="3946868" y="2095500"/>
                  </a:lnTo>
                  <a:lnTo>
                    <a:pt x="3946868" y="2114550"/>
                  </a:lnTo>
                  <a:lnTo>
                    <a:pt x="4004018" y="2114550"/>
                  </a:lnTo>
                  <a:lnTo>
                    <a:pt x="4004018" y="2095500"/>
                  </a:lnTo>
                  <a:close/>
                </a:path>
                <a:path w="4363084" h="2114550">
                  <a:moveTo>
                    <a:pt x="4035641" y="0"/>
                  </a:moveTo>
                  <a:lnTo>
                    <a:pt x="3978491" y="0"/>
                  </a:lnTo>
                  <a:lnTo>
                    <a:pt x="3978491" y="19050"/>
                  </a:lnTo>
                  <a:lnTo>
                    <a:pt x="4035641" y="19050"/>
                  </a:lnTo>
                  <a:lnTo>
                    <a:pt x="4035641" y="0"/>
                  </a:lnTo>
                  <a:close/>
                </a:path>
                <a:path w="4363084" h="2114550">
                  <a:moveTo>
                    <a:pt x="4099179" y="2095500"/>
                  </a:moveTo>
                  <a:lnTo>
                    <a:pt x="4042029" y="2095500"/>
                  </a:lnTo>
                  <a:lnTo>
                    <a:pt x="4042029" y="2114550"/>
                  </a:lnTo>
                  <a:lnTo>
                    <a:pt x="4099179" y="2114550"/>
                  </a:lnTo>
                  <a:lnTo>
                    <a:pt x="4099179" y="2095500"/>
                  </a:lnTo>
                  <a:close/>
                </a:path>
                <a:path w="4363084" h="2114550">
                  <a:moveTo>
                    <a:pt x="4130891" y="0"/>
                  </a:moveTo>
                  <a:lnTo>
                    <a:pt x="4073741" y="0"/>
                  </a:lnTo>
                  <a:lnTo>
                    <a:pt x="4073741" y="19050"/>
                  </a:lnTo>
                  <a:lnTo>
                    <a:pt x="4130891" y="19050"/>
                  </a:lnTo>
                  <a:lnTo>
                    <a:pt x="4130891" y="0"/>
                  </a:lnTo>
                  <a:close/>
                </a:path>
                <a:path w="4363084" h="2114550">
                  <a:moveTo>
                    <a:pt x="4194429" y="2095500"/>
                  </a:moveTo>
                  <a:lnTo>
                    <a:pt x="4137279" y="2095500"/>
                  </a:lnTo>
                  <a:lnTo>
                    <a:pt x="4137279" y="2114550"/>
                  </a:lnTo>
                  <a:lnTo>
                    <a:pt x="4194429" y="2114550"/>
                  </a:lnTo>
                  <a:lnTo>
                    <a:pt x="4194429" y="2095500"/>
                  </a:lnTo>
                  <a:close/>
                </a:path>
                <a:path w="4363084" h="2114550">
                  <a:moveTo>
                    <a:pt x="4226052" y="0"/>
                  </a:moveTo>
                  <a:lnTo>
                    <a:pt x="4168902" y="0"/>
                  </a:lnTo>
                  <a:lnTo>
                    <a:pt x="4168902" y="19050"/>
                  </a:lnTo>
                  <a:lnTo>
                    <a:pt x="4226052" y="19050"/>
                  </a:lnTo>
                  <a:lnTo>
                    <a:pt x="4226052" y="0"/>
                  </a:lnTo>
                  <a:close/>
                </a:path>
                <a:path w="4363084" h="2114550">
                  <a:moveTo>
                    <a:pt x="4289882" y="2114372"/>
                  </a:moveTo>
                  <a:lnTo>
                    <a:pt x="4288980" y="2095500"/>
                  </a:lnTo>
                  <a:lnTo>
                    <a:pt x="4232427" y="2095500"/>
                  </a:lnTo>
                  <a:lnTo>
                    <a:pt x="4232427" y="2114550"/>
                  </a:lnTo>
                  <a:lnTo>
                    <a:pt x="4286262" y="2114550"/>
                  </a:lnTo>
                  <a:lnTo>
                    <a:pt x="4289882" y="2114372"/>
                  </a:lnTo>
                  <a:close/>
                </a:path>
                <a:path w="4363084" h="2114550">
                  <a:moveTo>
                    <a:pt x="4324464" y="10375"/>
                  </a:moveTo>
                  <a:lnTo>
                    <a:pt x="4286262" y="0"/>
                  </a:lnTo>
                  <a:lnTo>
                    <a:pt x="4264050" y="0"/>
                  </a:lnTo>
                  <a:lnTo>
                    <a:pt x="4264050" y="19050"/>
                  </a:lnTo>
                  <a:lnTo>
                    <a:pt x="4293819" y="19050"/>
                  </a:lnTo>
                  <a:lnTo>
                    <a:pt x="4301109" y="20510"/>
                  </a:lnTo>
                  <a:lnTo>
                    <a:pt x="4315193" y="26339"/>
                  </a:lnTo>
                  <a:lnTo>
                    <a:pt x="4324464" y="10375"/>
                  </a:lnTo>
                  <a:close/>
                </a:path>
                <a:path w="4363084" h="2114550">
                  <a:moveTo>
                    <a:pt x="4362158" y="2044420"/>
                  </a:moveTo>
                  <a:lnTo>
                    <a:pt x="4343374" y="2042934"/>
                  </a:lnTo>
                  <a:lnTo>
                    <a:pt x="4343374" y="2045868"/>
                  </a:lnTo>
                  <a:lnTo>
                    <a:pt x="4341952" y="2053221"/>
                  </a:lnTo>
                  <a:lnTo>
                    <a:pt x="4319803" y="2085124"/>
                  </a:lnTo>
                  <a:lnTo>
                    <a:pt x="4330611" y="2100211"/>
                  </a:lnTo>
                  <a:lnTo>
                    <a:pt x="4356633" y="2067509"/>
                  </a:lnTo>
                  <a:lnTo>
                    <a:pt x="4362081" y="2045868"/>
                  </a:lnTo>
                  <a:lnTo>
                    <a:pt x="4362158" y="2044420"/>
                  </a:lnTo>
                  <a:close/>
                </a:path>
                <a:path w="4363084" h="2114550">
                  <a:moveTo>
                    <a:pt x="4362462" y="1948726"/>
                  </a:moveTo>
                  <a:lnTo>
                    <a:pt x="4343374" y="1948726"/>
                  </a:lnTo>
                  <a:lnTo>
                    <a:pt x="4343374" y="2005876"/>
                  </a:lnTo>
                  <a:lnTo>
                    <a:pt x="4362462" y="2005876"/>
                  </a:lnTo>
                  <a:lnTo>
                    <a:pt x="4362462" y="1948726"/>
                  </a:lnTo>
                  <a:close/>
                </a:path>
                <a:path w="4363084" h="2114550">
                  <a:moveTo>
                    <a:pt x="4362462" y="1853552"/>
                  </a:moveTo>
                  <a:lnTo>
                    <a:pt x="4343374" y="1853552"/>
                  </a:lnTo>
                  <a:lnTo>
                    <a:pt x="4343374" y="1910702"/>
                  </a:lnTo>
                  <a:lnTo>
                    <a:pt x="4362462" y="1910702"/>
                  </a:lnTo>
                  <a:lnTo>
                    <a:pt x="4362462" y="1853552"/>
                  </a:lnTo>
                  <a:close/>
                </a:path>
                <a:path w="4363084" h="2114550">
                  <a:moveTo>
                    <a:pt x="4362462" y="1758365"/>
                  </a:moveTo>
                  <a:lnTo>
                    <a:pt x="4343374" y="1758365"/>
                  </a:lnTo>
                  <a:lnTo>
                    <a:pt x="4343374" y="1815515"/>
                  </a:lnTo>
                  <a:lnTo>
                    <a:pt x="4362462" y="1815515"/>
                  </a:lnTo>
                  <a:lnTo>
                    <a:pt x="4362462" y="1758365"/>
                  </a:lnTo>
                  <a:close/>
                </a:path>
                <a:path w="4363084" h="2114550">
                  <a:moveTo>
                    <a:pt x="4362462" y="1663192"/>
                  </a:moveTo>
                  <a:lnTo>
                    <a:pt x="4343374" y="1663192"/>
                  </a:lnTo>
                  <a:lnTo>
                    <a:pt x="4343374" y="1720342"/>
                  </a:lnTo>
                  <a:lnTo>
                    <a:pt x="4362462" y="1720342"/>
                  </a:lnTo>
                  <a:lnTo>
                    <a:pt x="4362462" y="1663192"/>
                  </a:lnTo>
                  <a:close/>
                </a:path>
                <a:path w="4363084" h="2114550">
                  <a:moveTo>
                    <a:pt x="4362462" y="1568005"/>
                  </a:moveTo>
                  <a:lnTo>
                    <a:pt x="4343374" y="1568005"/>
                  </a:lnTo>
                  <a:lnTo>
                    <a:pt x="4343374" y="1625155"/>
                  </a:lnTo>
                  <a:lnTo>
                    <a:pt x="4362462" y="1625155"/>
                  </a:lnTo>
                  <a:lnTo>
                    <a:pt x="4362462" y="1568005"/>
                  </a:lnTo>
                  <a:close/>
                </a:path>
                <a:path w="4363084" h="2114550">
                  <a:moveTo>
                    <a:pt x="4362462" y="1472831"/>
                  </a:moveTo>
                  <a:lnTo>
                    <a:pt x="4343374" y="1472831"/>
                  </a:lnTo>
                  <a:lnTo>
                    <a:pt x="4343374" y="1529981"/>
                  </a:lnTo>
                  <a:lnTo>
                    <a:pt x="4362462" y="1529981"/>
                  </a:lnTo>
                  <a:lnTo>
                    <a:pt x="4362462" y="1472831"/>
                  </a:lnTo>
                  <a:close/>
                </a:path>
                <a:path w="4363084" h="2114550">
                  <a:moveTo>
                    <a:pt x="4362462" y="1377657"/>
                  </a:moveTo>
                  <a:lnTo>
                    <a:pt x="4343374" y="1377657"/>
                  </a:lnTo>
                  <a:lnTo>
                    <a:pt x="4343374" y="1434807"/>
                  </a:lnTo>
                  <a:lnTo>
                    <a:pt x="4362462" y="1434807"/>
                  </a:lnTo>
                  <a:lnTo>
                    <a:pt x="4362462" y="1377657"/>
                  </a:lnTo>
                  <a:close/>
                </a:path>
                <a:path w="4363084" h="2114550">
                  <a:moveTo>
                    <a:pt x="4362462" y="1282471"/>
                  </a:moveTo>
                  <a:lnTo>
                    <a:pt x="4343374" y="1282471"/>
                  </a:lnTo>
                  <a:lnTo>
                    <a:pt x="4343374" y="1339621"/>
                  </a:lnTo>
                  <a:lnTo>
                    <a:pt x="4362462" y="1339621"/>
                  </a:lnTo>
                  <a:lnTo>
                    <a:pt x="4362462" y="1282471"/>
                  </a:lnTo>
                  <a:close/>
                </a:path>
                <a:path w="4363084" h="2114550">
                  <a:moveTo>
                    <a:pt x="4362462" y="1187297"/>
                  </a:moveTo>
                  <a:lnTo>
                    <a:pt x="4343374" y="1187297"/>
                  </a:lnTo>
                  <a:lnTo>
                    <a:pt x="4343374" y="1244447"/>
                  </a:lnTo>
                  <a:lnTo>
                    <a:pt x="4362462" y="1244447"/>
                  </a:lnTo>
                  <a:lnTo>
                    <a:pt x="4362462" y="1187297"/>
                  </a:lnTo>
                  <a:close/>
                </a:path>
                <a:path w="4363084" h="2114550">
                  <a:moveTo>
                    <a:pt x="4362462" y="1092111"/>
                  </a:moveTo>
                  <a:lnTo>
                    <a:pt x="4343374" y="1092111"/>
                  </a:lnTo>
                  <a:lnTo>
                    <a:pt x="4343374" y="1149261"/>
                  </a:lnTo>
                  <a:lnTo>
                    <a:pt x="4362462" y="1149261"/>
                  </a:lnTo>
                  <a:lnTo>
                    <a:pt x="4362462" y="1092111"/>
                  </a:lnTo>
                  <a:close/>
                </a:path>
                <a:path w="4363084" h="2114550">
                  <a:moveTo>
                    <a:pt x="4362462" y="996937"/>
                  </a:moveTo>
                  <a:lnTo>
                    <a:pt x="4343374" y="996937"/>
                  </a:lnTo>
                  <a:lnTo>
                    <a:pt x="4343374" y="1054087"/>
                  </a:lnTo>
                  <a:lnTo>
                    <a:pt x="4362462" y="1054087"/>
                  </a:lnTo>
                  <a:lnTo>
                    <a:pt x="4362462" y="996937"/>
                  </a:lnTo>
                  <a:close/>
                </a:path>
                <a:path w="4363084" h="2114550">
                  <a:moveTo>
                    <a:pt x="4362462" y="901750"/>
                  </a:moveTo>
                  <a:lnTo>
                    <a:pt x="4343374" y="901750"/>
                  </a:lnTo>
                  <a:lnTo>
                    <a:pt x="4343374" y="958900"/>
                  </a:lnTo>
                  <a:lnTo>
                    <a:pt x="4362462" y="958900"/>
                  </a:lnTo>
                  <a:lnTo>
                    <a:pt x="4362462" y="901750"/>
                  </a:lnTo>
                  <a:close/>
                </a:path>
                <a:path w="4363084" h="2114550">
                  <a:moveTo>
                    <a:pt x="4362462" y="806577"/>
                  </a:moveTo>
                  <a:lnTo>
                    <a:pt x="4343374" y="806577"/>
                  </a:lnTo>
                  <a:lnTo>
                    <a:pt x="4343374" y="863727"/>
                  </a:lnTo>
                  <a:lnTo>
                    <a:pt x="4362462" y="863727"/>
                  </a:lnTo>
                  <a:lnTo>
                    <a:pt x="4362462" y="806577"/>
                  </a:lnTo>
                  <a:close/>
                </a:path>
                <a:path w="4363084" h="2114550">
                  <a:moveTo>
                    <a:pt x="4362462" y="711403"/>
                  </a:moveTo>
                  <a:lnTo>
                    <a:pt x="4343374" y="711403"/>
                  </a:lnTo>
                  <a:lnTo>
                    <a:pt x="4343374" y="768553"/>
                  </a:lnTo>
                  <a:lnTo>
                    <a:pt x="4362462" y="768553"/>
                  </a:lnTo>
                  <a:lnTo>
                    <a:pt x="4362462" y="711403"/>
                  </a:lnTo>
                  <a:close/>
                </a:path>
                <a:path w="4363084" h="2114550">
                  <a:moveTo>
                    <a:pt x="4362462" y="616229"/>
                  </a:moveTo>
                  <a:lnTo>
                    <a:pt x="4343374" y="616229"/>
                  </a:lnTo>
                  <a:lnTo>
                    <a:pt x="4343374" y="673379"/>
                  </a:lnTo>
                  <a:lnTo>
                    <a:pt x="4362462" y="673379"/>
                  </a:lnTo>
                  <a:lnTo>
                    <a:pt x="4362462" y="616229"/>
                  </a:lnTo>
                  <a:close/>
                </a:path>
                <a:path w="4363084" h="2114550">
                  <a:moveTo>
                    <a:pt x="4362462" y="521042"/>
                  </a:moveTo>
                  <a:lnTo>
                    <a:pt x="4343374" y="521042"/>
                  </a:lnTo>
                  <a:lnTo>
                    <a:pt x="4343374" y="578192"/>
                  </a:lnTo>
                  <a:lnTo>
                    <a:pt x="4362462" y="578192"/>
                  </a:lnTo>
                  <a:lnTo>
                    <a:pt x="4362462" y="521042"/>
                  </a:lnTo>
                  <a:close/>
                </a:path>
                <a:path w="4363084" h="2114550">
                  <a:moveTo>
                    <a:pt x="4362462" y="425869"/>
                  </a:moveTo>
                  <a:lnTo>
                    <a:pt x="4343374" y="425869"/>
                  </a:lnTo>
                  <a:lnTo>
                    <a:pt x="4343374" y="483019"/>
                  </a:lnTo>
                  <a:lnTo>
                    <a:pt x="4362462" y="483019"/>
                  </a:lnTo>
                  <a:lnTo>
                    <a:pt x="4362462" y="425869"/>
                  </a:lnTo>
                  <a:close/>
                </a:path>
                <a:path w="4363084" h="2114550">
                  <a:moveTo>
                    <a:pt x="4362462" y="330682"/>
                  </a:moveTo>
                  <a:lnTo>
                    <a:pt x="4343374" y="330682"/>
                  </a:lnTo>
                  <a:lnTo>
                    <a:pt x="4343374" y="387832"/>
                  </a:lnTo>
                  <a:lnTo>
                    <a:pt x="4362462" y="387832"/>
                  </a:lnTo>
                  <a:lnTo>
                    <a:pt x="4362462" y="330682"/>
                  </a:lnTo>
                  <a:close/>
                </a:path>
                <a:path w="4363084" h="2114550">
                  <a:moveTo>
                    <a:pt x="4362462" y="235508"/>
                  </a:moveTo>
                  <a:lnTo>
                    <a:pt x="4343374" y="235508"/>
                  </a:lnTo>
                  <a:lnTo>
                    <a:pt x="4343374" y="292658"/>
                  </a:lnTo>
                  <a:lnTo>
                    <a:pt x="4362462" y="292658"/>
                  </a:lnTo>
                  <a:lnTo>
                    <a:pt x="4362462" y="235508"/>
                  </a:lnTo>
                  <a:close/>
                </a:path>
                <a:path w="4363084" h="2114550">
                  <a:moveTo>
                    <a:pt x="4362462" y="140322"/>
                  </a:moveTo>
                  <a:lnTo>
                    <a:pt x="4343374" y="140322"/>
                  </a:lnTo>
                  <a:lnTo>
                    <a:pt x="4343374" y="197472"/>
                  </a:lnTo>
                  <a:lnTo>
                    <a:pt x="4362462" y="197472"/>
                  </a:lnTo>
                  <a:lnTo>
                    <a:pt x="4362462" y="140322"/>
                  </a:lnTo>
                  <a:close/>
                </a:path>
                <a:path w="4363084" h="2114550">
                  <a:moveTo>
                    <a:pt x="4362462" y="76200"/>
                  </a:moveTo>
                  <a:lnTo>
                    <a:pt x="4354233" y="41960"/>
                  </a:lnTo>
                  <a:lnTo>
                    <a:pt x="4337431" y="50431"/>
                  </a:lnTo>
                  <a:lnTo>
                    <a:pt x="4341952" y="61341"/>
                  </a:lnTo>
                  <a:lnTo>
                    <a:pt x="4343374" y="68630"/>
                  </a:lnTo>
                  <a:lnTo>
                    <a:pt x="4343374" y="102298"/>
                  </a:lnTo>
                  <a:lnTo>
                    <a:pt x="4362462" y="102298"/>
                  </a:lnTo>
                  <a:lnTo>
                    <a:pt x="4362462" y="76200"/>
                  </a:lnTo>
                  <a:close/>
                </a:path>
              </a:pathLst>
            </a:custGeom>
            <a:solidFill>
              <a:srgbClr val="CBD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48524" y="1190624"/>
              <a:ext cx="152400" cy="133350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7464425" y="1149350"/>
            <a:ext cx="2346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PVWA</a:t>
            </a:r>
            <a:r>
              <a:rPr sz="1200" b="1" spc="-3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Configuration</a:t>
            </a:r>
            <a:r>
              <a:rPr sz="1200" b="1" spc="-2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Screenshot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946391" y="2114550"/>
            <a:ext cx="4968240" cy="3533775"/>
            <a:chOff x="6946391" y="2114550"/>
            <a:chExt cx="4968240" cy="3533775"/>
          </a:xfrm>
        </p:grpSpPr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01149" y="2114550"/>
              <a:ext cx="457200" cy="40005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946391" y="3154679"/>
              <a:ext cx="4968240" cy="2493645"/>
            </a:xfrm>
            <a:custGeom>
              <a:avLst/>
              <a:gdLst/>
              <a:ahLst/>
              <a:cxnLst/>
              <a:rect l="l" t="t" r="r" b="b"/>
              <a:pathLst>
                <a:path w="4968240" h="2493645">
                  <a:moveTo>
                    <a:pt x="4968239" y="2493263"/>
                  </a:moveTo>
                  <a:lnTo>
                    <a:pt x="0" y="2493263"/>
                  </a:lnTo>
                  <a:lnTo>
                    <a:pt x="0" y="0"/>
                  </a:lnTo>
                  <a:lnTo>
                    <a:pt x="4968239" y="0"/>
                  </a:lnTo>
                  <a:lnTo>
                    <a:pt x="4968239" y="93360"/>
                  </a:lnTo>
                  <a:lnTo>
                    <a:pt x="178307" y="93360"/>
                  </a:lnTo>
                  <a:lnTo>
                    <a:pt x="171741" y="93675"/>
                  </a:lnTo>
                  <a:lnTo>
                    <a:pt x="136024" y="108449"/>
                  </a:lnTo>
                  <a:lnTo>
                    <a:pt x="114485" y="140697"/>
                  </a:lnTo>
                  <a:lnTo>
                    <a:pt x="111617" y="160019"/>
                  </a:lnTo>
                  <a:lnTo>
                    <a:pt x="111617" y="2293619"/>
                  </a:lnTo>
                  <a:lnTo>
                    <a:pt x="122857" y="2330672"/>
                  </a:lnTo>
                  <a:lnTo>
                    <a:pt x="152796" y="2355220"/>
                  </a:lnTo>
                  <a:lnTo>
                    <a:pt x="178307" y="2360279"/>
                  </a:lnTo>
                  <a:lnTo>
                    <a:pt x="4968239" y="2360279"/>
                  </a:lnTo>
                  <a:lnTo>
                    <a:pt x="4968239" y="2493263"/>
                  </a:lnTo>
                  <a:close/>
                </a:path>
                <a:path w="4968240" h="2493645">
                  <a:moveTo>
                    <a:pt x="4968239" y="2360279"/>
                  </a:moveTo>
                  <a:lnTo>
                    <a:pt x="4788407" y="2360279"/>
                  </a:lnTo>
                  <a:lnTo>
                    <a:pt x="4794974" y="2359964"/>
                  </a:lnTo>
                  <a:lnTo>
                    <a:pt x="4801415" y="2359018"/>
                  </a:lnTo>
                  <a:lnTo>
                    <a:pt x="4835560" y="2340772"/>
                  </a:lnTo>
                  <a:lnTo>
                    <a:pt x="4853810" y="2306627"/>
                  </a:lnTo>
                  <a:lnTo>
                    <a:pt x="4855098" y="2293619"/>
                  </a:lnTo>
                  <a:lnTo>
                    <a:pt x="4855098" y="160019"/>
                  </a:lnTo>
                  <a:lnTo>
                    <a:pt x="4843858" y="122967"/>
                  </a:lnTo>
                  <a:lnTo>
                    <a:pt x="4813919" y="98419"/>
                  </a:lnTo>
                  <a:lnTo>
                    <a:pt x="4788407" y="93360"/>
                  </a:lnTo>
                  <a:lnTo>
                    <a:pt x="4968239" y="93360"/>
                  </a:lnTo>
                  <a:lnTo>
                    <a:pt x="4968239" y="2360279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053262" y="3243262"/>
              <a:ext cx="4752975" cy="2276475"/>
            </a:xfrm>
            <a:custGeom>
              <a:avLst/>
              <a:gdLst/>
              <a:ahLst/>
              <a:cxnLst/>
              <a:rect l="l" t="t" r="r" b="b"/>
              <a:pathLst>
                <a:path w="4752975" h="2276475">
                  <a:moveTo>
                    <a:pt x="4686204" y="2276475"/>
                  </a:moveTo>
                  <a:lnTo>
                    <a:pt x="66751" y="2276475"/>
                  </a:lnTo>
                  <a:lnTo>
                    <a:pt x="62102" y="2276017"/>
                  </a:lnTo>
                  <a:lnTo>
                    <a:pt x="24241" y="2258863"/>
                  </a:lnTo>
                  <a:lnTo>
                    <a:pt x="2286" y="2223573"/>
                  </a:lnTo>
                  <a:lnTo>
                    <a:pt x="0" y="2209723"/>
                  </a:lnTo>
                  <a:lnTo>
                    <a:pt x="0" y="2205037"/>
                  </a:lnTo>
                  <a:lnTo>
                    <a:pt x="0" y="66751"/>
                  </a:lnTo>
                  <a:lnTo>
                    <a:pt x="14639" y="27851"/>
                  </a:lnTo>
                  <a:lnTo>
                    <a:pt x="48434" y="3638"/>
                  </a:lnTo>
                  <a:lnTo>
                    <a:pt x="66751" y="0"/>
                  </a:lnTo>
                  <a:lnTo>
                    <a:pt x="4686204" y="0"/>
                  </a:lnTo>
                  <a:lnTo>
                    <a:pt x="4725161" y="14649"/>
                  </a:lnTo>
                  <a:lnTo>
                    <a:pt x="4749355" y="48434"/>
                  </a:lnTo>
                  <a:lnTo>
                    <a:pt x="4752975" y="66751"/>
                  </a:lnTo>
                  <a:lnTo>
                    <a:pt x="4752975" y="2209723"/>
                  </a:lnTo>
                  <a:lnTo>
                    <a:pt x="4738306" y="2248623"/>
                  </a:lnTo>
                  <a:lnTo>
                    <a:pt x="4704588" y="2272826"/>
                  </a:lnTo>
                  <a:lnTo>
                    <a:pt x="4690872" y="2276017"/>
                  </a:lnTo>
                  <a:lnTo>
                    <a:pt x="4686204" y="2276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053262" y="3243262"/>
              <a:ext cx="4752975" cy="2276475"/>
            </a:xfrm>
            <a:custGeom>
              <a:avLst/>
              <a:gdLst/>
              <a:ahLst/>
              <a:cxnLst/>
              <a:rect l="l" t="t" r="r" b="b"/>
              <a:pathLst>
                <a:path w="4752975" h="2276475">
                  <a:moveTo>
                    <a:pt x="0" y="2205037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102"/>
                  </a:lnTo>
                  <a:lnTo>
                    <a:pt x="1371" y="57502"/>
                  </a:lnTo>
                  <a:lnTo>
                    <a:pt x="2286" y="52901"/>
                  </a:lnTo>
                  <a:lnTo>
                    <a:pt x="3638" y="48434"/>
                  </a:lnTo>
                  <a:lnTo>
                    <a:pt x="5438" y="44100"/>
                  </a:lnTo>
                  <a:lnTo>
                    <a:pt x="7229" y="39766"/>
                  </a:lnTo>
                  <a:lnTo>
                    <a:pt x="9429" y="35652"/>
                  </a:lnTo>
                  <a:lnTo>
                    <a:pt x="12039" y="31746"/>
                  </a:lnTo>
                  <a:lnTo>
                    <a:pt x="14639" y="27851"/>
                  </a:lnTo>
                  <a:lnTo>
                    <a:pt x="17602" y="24241"/>
                  </a:lnTo>
                  <a:lnTo>
                    <a:pt x="20926" y="20926"/>
                  </a:lnTo>
                  <a:lnTo>
                    <a:pt x="24241" y="17602"/>
                  </a:lnTo>
                  <a:lnTo>
                    <a:pt x="44100" y="5438"/>
                  </a:lnTo>
                  <a:lnTo>
                    <a:pt x="48434" y="3638"/>
                  </a:lnTo>
                  <a:lnTo>
                    <a:pt x="52901" y="2286"/>
                  </a:lnTo>
                  <a:lnTo>
                    <a:pt x="57502" y="1371"/>
                  </a:lnTo>
                  <a:lnTo>
                    <a:pt x="62102" y="457"/>
                  </a:lnTo>
                  <a:lnTo>
                    <a:pt x="66751" y="0"/>
                  </a:lnTo>
                  <a:lnTo>
                    <a:pt x="71437" y="0"/>
                  </a:lnTo>
                  <a:lnTo>
                    <a:pt x="4681537" y="0"/>
                  </a:lnTo>
                  <a:lnTo>
                    <a:pt x="4686204" y="0"/>
                  </a:lnTo>
                  <a:lnTo>
                    <a:pt x="4690872" y="457"/>
                  </a:lnTo>
                  <a:lnTo>
                    <a:pt x="4695444" y="1371"/>
                  </a:lnTo>
                  <a:lnTo>
                    <a:pt x="4700111" y="2286"/>
                  </a:lnTo>
                  <a:lnTo>
                    <a:pt x="4704588" y="3638"/>
                  </a:lnTo>
                  <a:lnTo>
                    <a:pt x="4708874" y="5438"/>
                  </a:lnTo>
                  <a:lnTo>
                    <a:pt x="4713255" y="7229"/>
                  </a:lnTo>
                  <a:lnTo>
                    <a:pt x="4732019" y="20926"/>
                  </a:lnTo>
                  <a:lnTo>
                    <a:pt x="4735353" y="24241"/>
                  </a:lnTo>
                  <a:lnTo>
                    <a:pt x="4752498" y="62102"/>
                  </a:lnTo>
                  <a:lnTo>
                    <a:pt x="4752975" y="66751"/>
                  </a:lnTo>
                  <a:lnTo>
                    <a:pt x="4752975" y="71437"/>
                  </a:lnTo>
                  <a:lnTo>
                    <a:pt x="4752975" y="2205037"/>
                  </a:lnTo>
                  <a:lnTo>
                    <a:pt x="4752975" y="2209723"/>
                  </a:lnTo>
                  <a:lnTo>
                    <a:pt x="4752498" y="2214372"/>
                  </a:lnTo>
                  <a:lnTo>
                    <a:pt x="4735353" y="2252233"/>
                  </a:lnTo>
                  <a:lnTo>
                    <a:pt x="4732019" y="2255548"/>
                  </a:lnTo>
                  <a:lnTo>
                    <a:pt x="4728781" y="2258863"/>
                  </a:lnTo>
                  <a:lnTo>
                    <a:pt x="4708874" y="2271036"/>
                  </a:lnTo>
                  <a:lnTo>
                    <a:pt x="4704588" y="2272826"/>
                  </a:lnTo>
                  <a:lnTo>
                    <a:pt x="4700111" y="2274189"/>
                  </a:lnTo>
                  <a:lnTo>
                    <a:pt x="4695444" y="2275103"/>
                  </a:lnTo>
                  <a:lnTo>
                    <a:pt x="4690872" y="2276017"/>
                  </a:lnTo>
                  <a:lnTo>
                    <a:pt x="4686204" y="2276475"/>
                  </a:lnTo>
                  <a:lnTo>
                    <a:pt x="4681537" y="2276475"/>
                  </a:lnTo>
                  <a:lnTo>
                    <a:pt x="71437" y="2276475"/>
                  </a:lnTo>
                  <a:lnTo>
                    <a:pt x="66751" y="2276475"/>
                  </a:lnTo>
                  <a:lnTo>
                    <a:pt x="62102" y="2276017"/>
                  </a:lnTo>
                  <a:lnTo>
                    <a:pt x="57502" y="2275103"/>
                  </a:lnTo>
                  <a:lnTo>
                    <a:pt x="52901" y="2274189"/>
                  </a:lnTo>
                  <a:lnTo>
                    <a:pt x="48434" y="2272826"/>
                  </a:lnTo>
                  <a:lnTo>
                    <a:pt x="44100" y="2271036"/>
                  </a:lnTo>
                  <a:lnTo>
                    <a:pt x="39766" y="2269245"/>
                  </a:lnTo>
                  <a:lnTo>
                    <a:pt x="20926" y="2255548"/>
                  </a:lnTo>
                  <a:lnTo>
                    <a:pt x="17602" y="2252233"/>
                  </a:lnTo>
                  <a:lnTo>
                    <a:pt x="14639" y="2248623"/>
                  </a:lnTo>
                  <a:lnTo>
                    <a:pt x="12039" y="2244728"/>
                  </a:lnTo>
                  <a:lnTo>
                    <a:pt x="9429" y="2240822"/>
                  </a:lnTo>
                  <a:lnTo>
                    <a:pt x="7229" y="2236708"/>
                  </a:lnTo>
                  <a:lnTo>
                    <a:pt x="5438" y="2232374"/>
                  </a:lnTo>
                  <a:lnTo>
                    <a:pt x="3638" y="2228040"/>
                  </a:lnTo>
                  <a:lnTo>
                    <a:pt x="2286" y="2223573"/>
                  </a:lnTo>
                  <a:lnTo>
                    <a:pt x="1371" y="2218972"/>
                  </a:lnTo>
                  <a:lnTo>
                    <a:pt x="457" y="2214372"/>
                  </a:lnTo>
                  <a:lnTo>
                    <a:pt x="0" y="2209723"/>
                  </a:lnTo>
                  <a:lnTo>
                    <a:pt x="0" y="2205037"/>
                  </a:lnTo>
                  <a:close/>
                </a:path>
              </a:pathLst>
            </a:custGeom>
            <a:ln w="9525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51699" y="3467100"/>
              <a:ext cx="107950" cy="1524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48524" y="3860800"/>
              <a:ext cx="117475" cy="1016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48524" y="4375150"/>
              <a:ext cx="117475" cy="1016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48524" y="4889500"/>
              <a:ext cx="117475" cy="101600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7714303" y="2555239"/>
            <a:ext cx="3430904" cy="47117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1050" dirty="0">
                <a:solidFill>
                  <a:srgbClr val="64738B"/>
                </a:solidFill>
                <a:latin typeface="Segoe UI"/>
                <a:cs typeface="Segoe UI"/>
              </a:rPr>
              <a:t>Insert</a:t>
            </a:r>
            <a:r>
              <a:rPr sz="1050" spc="-3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4738B"/>
                </a:solidFill>
                <a:latin typeface="Segoe UI"/>
                <a:cs typeface="Segoe UI"/>
              </a:rPr>
              <a:t>PVWA</a:t>
            </a:r>
            <a:r>
              <a:rPr sz="1050" spc="-3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4738B"/>
                </a:solidFill>
                <a:latin typeface="Segoe UI"/>
                <a:cs typeface="Segoe UI"/>
              </a:rPr>
              <a:t>screenshot</a:t>
            </a:r>
            <a:r>
              <a:rPr sz="1050" spc="-3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64738B"/>
                </a:solidFill>
                <a:latin typeface="Segoe UI"/>
                <a:cs typeface="Segoe UI"/>
              </a:rPr>
              <a:t>here</a:t>
            </a:r>
            <a:endParaRPr sz="105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sz="900" dirty="0">
                <a:solidFill>
                  <a:srgbClr val="94A2B8"/>
                </a:solidFill>
                <a:latin typeface="Segoe UI"/>
                <a:cs typeface="Segoe UI"/>
              </a:rPr>
              <a:t>Administration</a:t>
            </a:r>
            <a:r>
              <a:rPr sz="900" spc="-10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4A2B8"/>
                </a:solidFill>
                <a:latin typeface="Segoe UI"/>
                <a:cs typeface="Segoe UI"/>
              </a:rPr>
              <a:t>&gt;</a:t>
            </a:r>
            <a:r>
              <a:rPr sz="900" spc="-10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4A2B8"/>
                </a:solidFill>
                <a:latin typeface="Segoe UI"/>
                <a:cs typeface="Segoe UI"/>
              </a:rPr>
              <a:t>Configuration</a:t>
            </a:r>
            <a:r>
              <a:rPr sz="900" spc="-5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4A2B8"/>
                </a:solidFill>
                <a:latin typeface="Segoe UI"/>
                <a:cs typeface="Segoe UI"/>
              </a:rPr>
              <a:t>Options</a:t>
            </a:r>
            <a:r>
              <a:rPr sz="900" spc="-10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4A2B8"/>
                </a:solidFill>
                <a:latin typeface="Segoe UI"/>
                <a:cs typeface="Segoe UI"/>
              </a:rPr>
              <a:t>&gt;</a:t>
            </a:r>
            <a:r>
              <a:rPr sz="900" spc="-5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4A2B8"/>
                </a:solidFill>
                <a:latin typeface="Segoe UI"/>
                <a:cs typeface="Segoe UI"/>
              </a:rPr>
              <a:t>Connection</a:t>
            </a:r>
            <a:r>
              <a:rPr sz="900" spc="-10" dirty="0">
                <a:solidFill>
                  <a:srgbClr val="94A2B8"/>
                </a:solidFill>
                <a:latin typeface="Segoe UI"/>
                <a:cs typeface="Segoe UI"/>
              </a:rPr>
              <a:t> Components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426325" y="3435350"/>
            <a:ext cx="4036060" cy="176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Key</a:t>
            </a:r>
            <a:r>
              <a:rPr sz="1200" b="1" spc="-3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Points</a:t>
            </a:r>
            <a:endParaRPr sz="1200" dirty="0">
              <a:latin typeface="Segoe UI"/>
              <a:cs typeface="Segoe UI"/>
            </a:endParaRPr>
          </a:p>
          <a:p>
            <a:pPr marL="33655" marR="5080">
              <a:lnSpc>
                <a:spcPct val="125000"/>
              </a:lnSpc>
              <a:spcBef>
                <a:spcPts val="1020"/>
              </a:spcBef>
            </a:pPr>
            <a:r>
              <a:rPr sz="1050" b="1" spc="-10" dirty="0">
                <a:solidFill>
                  <a:srgbClr val="334054"/>
                </a:solidFill>
                <a:latin typeface="Segoe UI"/>
                <a:cs typeface="Segoe UI"/>
              </a:rPr>
              <a:t>Target</a:t>
            </a:r>
            <a:r>
              <a:rPr sz="1050" b="1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Connection:</a:t>
            </a:r>
            <a:r>
              <a:rPr sz="1050" b="1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Connectors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are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defined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per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platform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and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affect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all associated 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accounts</a:t>
            </a:r>
            <a:endParaRPr sz="1050" dirty="0">
              <a:latin typeface="Segoe UI"/>
              <a:cs typeface="Segoe UI"/>
            </a:endParaRPr>
          </a:p>
          <a:p>
            <a:pPr marL="33655" marR="333375">
              <a:lnSpc>
                <a:spcPct val="125000"/>
              </a:lnSpc>
              <a:spcBef>
                <a:spcPts val="900"/>
              </a:spcBef>
            </a:pP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Customization:</a:t>
            </a:r>
            <a:r>
              <a:rPr sz="1050" b="1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Change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existing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parameters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or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add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additional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parameters 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manually</a:t>
            </a:r>
            <a:endParaRPr sz="1050" dirty="0">
              <a:latin typeface="Segoe UI"/>
              <a:cs typeface="Segoe UI"/>
            </a:endParaRPr>
          </a:p>
          <a:p>
            <a:pPr marL="33655" marR="339090">
              <a:lnSpc>
                <a:spcPct val="125000"/>
              </a:lnSpc>
              <a:spcBef>
                <a:spcPts val="900"/>
              </a:spcBef>
            </a:pP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Marketplace:</a:t>
            </a:r>
            <a:r>
              <a:rPr sz="1050" b="1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Download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additional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connectors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from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CyberArk Marketplace</a:t>
            </a:r>
            <a:endParaRPr sz="1050" dirty="0">
              <a:latin typeface="Segoe UI"/>
              <a:cs typeface="Segoe U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0" y="6793991"/>
            <a:ext cx="12192000" cy="64135"/>
          </a:xfrm>
          <a:custGeom>
            <a:avLst/>
            <a:gdLst/>
            <a:ahLst/>
            <a:cxnLst/>
            <a:rect l="l" t="t" r="r" b="b"/>
            <a:pathLst>
              <a:path w="12192000" h="64134">
                <a:moveTo>
                  <a:pt x="0" y="0"/>
                </a:moveTo>
                <a:lnTo>
                  <a:pt x="12191999" y="0"/>
                </a:lnTo>
                <a:lnTo>
                  <a:pt x="12191999" y="64008"/>
                </a:ln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215900"/>
            <a:ext cx="49961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OOTB</a:t>
            </a:r>
            <a:r>
              <a:rPr spc="160" dirty="0"/>
              <a:t> </a:t>
            </a:r>
            <a:r>
              <a:rPr dirty="0"/>
              <a:t>vs</a:t>
            </a:r>
            <a:r>
              <a:rPr spc="160" dirty="0"/>
              <a:t> </a:t>
            </a:r>
            <a:r>
              <a:rPr dirty="0"/>
              <a:t>Custom</a:t>
            </a:r>
            <a:r>
              <a:rPr spc="160" dirty="0"/>
              <a:t> </a:t>
            </a:r>
            <a:r>
              <a:rPr dirty="0"/>
              <a:t>Universal</a:t>
            </a:r>
            <a:r>
              <a:rPr spc="165" dirty="0"/>
              <a:t> </a:t>
            </a:r>
            <a:r>
              <a:rPr spc="-10" dirty="0"/>
              <a:t>Connectors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33821" y="292100"/>
            <a:ext cx="1878964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Comparison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and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 Characteristics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7368" y="868679"/>
            <a:ext cx="11637645" cy="2893060"/>
            <a:chOff x="277368" y="868679"/>
            <a:chExt cx="11637645" cy="2893060"/>
          </a:xfrm>
        </p:grpSpPr>
        <p:sp>
          <p:nvSpPr>
            <p:cNvPr id="6" name="object 6"/>
            <p:cNvSpPr/>
            <p:nvPr/>
          </p:nvSpPr>
          <p:spPr>
            <a:xfrm>
              <a:off x="277368" y="868679"/>
              <a:ext cx="11637645" cy="2893060"/>
            </a:xfrm>
            <a:custGeom>
              <a:avLst/>
              <a:gdLst/>
              <a:ahLst/>
              <a:cxnLst/>
              <a:rect l="l" t="t" r="r" b="b"/>
              <a:pathLst>
                <a:path w="11637645" h="2893060">
                  <a:moveTo>
                    <a:pt x="11637263" y="2892551"/>
                  </a:moveTo>
                  <a:lnTo>
                    <a:pt x="0" y="2892551"/>
                  </a:lnTo>
                  <a:lnTo>
                    <a:pt x="0" y="0"/>
                  </a:lnTo>
                  <a:lnTo>
                    <a:pt x="11637263" y="0"/>
                  </a:lnTo>
                  <a:lnTo>
                    <a:pt x="11637263" y="93344"/>
                  </a:lnTo>
                  <a:lnTo>
                    <a:pt x="179831" y="93344"/>
                  </a:lnTo>
                  <a:lnTo>
                    <a:pt x="173263" y="93662"/>
                  </a:lnTo>
                  <a:lnTo>
                    <a:pt x="137554" y="108453"/>
                  </a:lnTo>
                  <a:lnTo>
                    <a:pt x="116011" y="140694"/>
                  </a:lnTo>
                  <a:lnTo>
                    <a:pt x="113156" y="160019"/>
                  </a:lnTo>
                  <a:lnTo>
                    <a:pt x="113156" y="2693669"/>
                  </a:lnTo>
                  <a:lnTo>
                    <a:pt x="124383" y="2730722"/>
                  </a:lnTo>
                  <a:lnTo>
                    <a:pt x="154317" y="2755270"/>
                  </a:lnTo>
                  <a:lnTo>
                    <a:pt x="179831" y="2760360"/>
                  </a:lnTo>
                  <a:lnTo>
                    <a:pt x="11637263" y="2760360"/>
                  </a:lnTo>
                  <a:lnTo>
                    <a:pt x="11637263" y="2892551"/>
                  </a:lnTo>
                  <a:close/>
                </a:path>
                <a:path w="11637645" h="2893060">
                  <a:moveTo>
                    <a:pt x="11637263" y="2760360"/>
                  </a:moveTo>
                  <a:lnTo>
                    <a:pt x="11457431" y="2760360"/>
                  </a:lnTo>
                  <a:lnTo>
                    <a:pt x="11463998" y="2760027"/>
                  </a:lnTo>
                  <a:lnTo>
                    <a:pt x="11470439" y="2759072"/>
                  </a:lnTo>
                  <a:lnTo>
                    <a:pt x="11504584" y="2740822"/>
                  </a:lnTo>
                  <a:lnTo>
                    <a:pt x="11522834" y="2706677"/>
                  </a:lnTo>
                  <a:lnTo>
                    <a:pt x="11524121" y="2693669"/>
                  </a:lnTo>
                  <a:lnTo>
                    <a:pt x="11524121" y="160019"/>
                  </a:lnTo>
                  <a:lnTo>
                    <a:pt x="11512882" y="122970"/>
                  </a:lnTo>
                  <a:lnTo>
                    <a:pt x="11482943" y="98419"/>
                  </a:lnTo>
                  <a:lnTo>
                    <a:pt x="11457431" y="93344"/>
                  </a:lnTo>
                  <a:lnTo>
                    <a:pt x="11637263" y="93344"/>
                  </a:lnTo>
                  <a:lnTo>
                    <a:pt x="11637263" y="276036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5762" y="957262"/>
              <a:ext cx="11420475" cy="2676525"/>
            </a:xfrm>
            <a:custGeom>
              <a:avLst/>
              <a:gdLst/>
              <a:ahLst/>
              <a:cxnLst/>
              <a:rect l="l" t="t" r="r" b="b"/>
              <a:pathLst>
                <a:path w="11420475" h="2676525">
                  <a:moveTo>
                    <a:pt x="11353704" y="2676525"/>
                  </a:moveTo>
                  <a:lnTo>
                    <a:pt x="66746" y="2676525"/>
                  </a:lnTo>
                  <a:lnTo>
                    <a:pt x="62101" y="2676067"/>
                  </a:lnTo>
                  <a:lnTo>
                    <a:pt x="24240" y="2658913"/>
                  </a:lnTo>
                  <a:lnTo>
                    <a:pt x="2287" y="2623623"/>
                  </a:lnTo>
                  <a:lnTo>
                    <a:pt x="0" y="2609773"/>
                  </a:lnTo>
                  <a:lnTo>
                    <a:pt x="0" y="2605087"/>
                  </a:lnTo>
                  <a:lnTo>
                    <a:pt x="0" y="66751"/>
                  </a:lnTo>
                  <a:lnTo>
                    <a:pt x="14645" y="27851"/>
                  </a:lnTo>
                  <a:lnTo>
                    <a:pt x="48432" y="3638"/>
                  </a:lnTo>
                  <a:lnTo>
                    <a:pt x="66746" y="0"/>
                  </a:lnTo>
                  <a:lnTo>
                    <a:pt x="11353704" y="0"/>
                  </a:lnTo>
                  <a:lnTo>
                    <a:pt x="11392662" y="14649"/>
                  </a:lnTo>
                  <a:lnTo>
                    <a:pt x="11416855" y="48434"/>
                  </a:lnTo>
                  <a:lnTo>
                    <a:pt x="11420475" y="66751"/>
                  </a:lnTo>
                  <a:lnTo>
                    <a:pt x="11420475" y="2609773"/>
                  </a:lnTo>
                  <a:lnTo>
                    <a:pt x="11405806" y="2648673"/>
                  </a:lnTo>
                  <a:lnTo>
                    <a:pt x="11372088" y="2672886"/>
                  </a:lnTo>
                  <a:lnTo>
                    <a:pt x="11358372" y="2676067"/>
                  </a:lnTo>
                  <a:lnTo>
                    <a:pt x="11353704" y="26765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5762" y="957262"/>
              <a:ext cx="11420475" cy="2676525"/>
            </a:xfrm>
            <a:custGeom>
              <a:avLst/>
              <a:gdLst/>
              <a:ahLst/>
              <a:cxnLst/>
              <a:rect l="l" t="t" r="r" b="b"/>
              <a:pathLst>
                <a:path w="11420475" h="2676525">
                  <a:moveTo>
                    <a:pt x="0" y="2605087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103"/>
                  </a:lnTo>
                  <a:lnTo>
                    <a:pt x="1372" y="57502"/>
                  </a:lnTo>
                  <a:lnTo>
                    <a:pt x="2287" y="52901"/>
                  </a:lnTo>
                  <a:lnTo>
                    <a:pt x="3642" y="48434"/>
                  </a:lnTo>
                  <a:lnTo>
                    <a:pt x="5437" y="44100"/>
                  </a:lnTo>
                  <a:lnTo>
                    <a:pt x="7233" y="39766"/>
                  </a:lnTo>
                  <a:lnTo>
                    <a:pt x="20923" y="20926"/>
                  </a:lnTo>
                  <a:lnTo>
                    <a:pt x="24240" y="17602"/>
                  </a:lnTo>
                  <a:lnTo>
                    <a:pt x="44099" y="5438"/>
                  </a:lnTo>
                  <a:lnTo>
                    <a:pt x="48432" y="3638"/>
                  </a:lnTo>
                  <a:lnTo>
                    <a:pt x="52899" y="2285"/>
                  </a:lnTo>
                  <a:lnTo>
                    <a:pt x="57500" y="1371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349037" y="0"/>
                  </a:lnTo>
                  <a:lnTo>
                    <a:pt x="11353704" y="0"/>
                  </a:lnTo>
                  <a:lnTo>
                    <a:pt x="11358372" y="457"/>
                  </a:lnTo>
                  <a:lnTo>
                    <a:pt x="11362944" y="1371"/>
                  </a:lnTo>
                  <a:lnTo>
                    <a:pt x="11367611" y="2285"/>
                  </a:lnTo>
                  <a:lnTo>
                    <a:pt x="11372088" y="3638"/>
                  </a:lnTo>
                  <a:lnTo>
                    <a:pt x="11376374" y="5438"/>
                  </a:lnTo>
                  <a:lnTo>
                    <a:pt x="11380755" y="7229"/>
                  </a:lnTo>
                  <a:lnTo>
                    <a:pt x="11399519" y="20926"/>
                  </a:lnTo>
                  <a:lnTo>
                    <a:pt x="11402853" y="24241"/>
                  </a:lnTo>
                  <a:lnTo>
                    <a:pt x="11415045" y="44100"/>
                  </a:lnTo>
                  <a:lnTo>
                    <a:pt x="11416855" y="48434"/>
                  </a:lnTo>
                  <a:lnTo>
                    <a:pt x="11418189" y="52901"/>
                  </a:lnTo>
                  <a:lnTo>
                    <a:pt x="11419141" y="57502"/>
                  </a:lnTo>
                  <a:lnTo>
                    <a:pt x="11419998" y="62103"/>
                  </a:lnTo>
                  <a:lnTo>
                    <a:pt x="11420475" y="66751"/>
                  </a:lnTo>
                  <a:lnTo>
                    <a:pt x="11420475" y="71437"/>
                  </a:lnTo>
                  <a:lnTo>
                    <a:pt x="11420475" y="2605087"/>
                  </a:lnTo>
                  <a:lnTo>
                    <a:pt x="11420475" y="2609773"/>
                  </a:lnTo>
                  <a:lnTo>
                    <a:pt x="11419998" y="2614422"/>
                  </a:lnTo>
                  <a:lnTo>
                    <a:pt x="11402853" y="2652283"/>
                  </a:lnTo>
                  <a:lnTo>
                    <a:pt x="11399519" y="2655598"/>
                  </a:lnTo>
                  <a:lnTo>
                    <a:pt x="11396281" y="2658913"/>
                  </a:lnTo>
                  <a:lnTo>
                    <a:pt x="11376374" y="2671086"/>
                  </a:lnTo>
                  <a:lnTo>
                    <a:pt x="11372088" y="2672886"/>
                  </a:lnTo>
                  <a:lnTo>
                    <a:pt x="11367611" y="2674239"/>
                  </a:lnTo>
                  <a:lnTo>
                    <a:pt x="11362944" y="2675153"/>
                  </a:lnTo>
                  <a:lnTo>
                    <a:pt x="11358372" y="2676067"/>
                  </a:lnTo>
                  <a:lnTo>
                    <a:pt x="11353704" y="2676525"/>
                  </a:lnTo>
                  <a:lnTo>
                    <a:pt x="11349037" y="2676525"/>
                  </a:lnTo>
                  <a:lnTo>
                    <a:pt x="71437" y="2676525"/>
                  </a:lnTo>
                  <a:lnTo>
                    <a:pt x="66746" y="2676525"/>
                  </a:lnTo>
                  <a:lnTo>
                    <a:pt x="62101" y="2676067"/>
                  </a:lnTo>
                  <a:lnTo>
                    <a:pt x="57500" y="2675153"/>
                  </a:lnTo>
                  <a:lnTo>
                    <a:pt x="52899" y="2674239"/>
                  </a:lnTo>
                  <a:lnTo>
                    <a:pt x="48432" y="2672886"/>
                  </a:lnTo>
                  <a:lnTo>
                    <a:pt x="44099" y="2671086"/>
                  </a:lnTo>
                  <a:lnTo>
                    <a:pt x="39765" y="2669295"/>
                  </a:lnTo>
                  <a:lnTo>
                    <a:pt x="9433" y="2640872"/>
                  </a:lnTo>
                  <a:lnTo>
                    <a:pt x="0" y="2609773"/>
                  </a:lnTo>
                  <a:lnTo>
                    <a:pt x="0" y="2605087"/>
                  </a:lnTo>
                  <a:close/>
                </a:path>
              </a:pathLst>
            </a:custGeom>
            <a:ln w="9525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25" y="1171574"/>
              <a:ext cx="152400" cy="13335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96925" y="1130300"/>
            <a:ext cx="20891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Connector</a:t>
            </a:r>
            <a:r>
              <a:rPr sz="1200" b="1" spc="-4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Comparison</a:t>
            </a:r>
            <a:r>
              <a:rPr sz="1200" b="1" spc="-4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Table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00250" y="1933575"/>
            <a:ext cx="1038225" cy="180975"/>
          </a:xfrm>
          <a:custGeom>
            <a:avLst/>
            <a:gdLst/>
            <a:ahLst/>
            <a:cxnLst/>
            <a:rect l="l" t="t" r="r" b="b"/>
            <a:pathLst>
              <a:path w="1038225" h="180975">
                <a:moveTo>
                  <a:pt x="953681" y="180975"/>
                </a:moveTo>
                <a:lnTo>
                  <a:pt x="84543" y="180975"/>
                </a:lnTo>
                <a:lnTo>
                  <a:pt x="78657" y="180393"/>
                </a:lnTo>
                <a:lnTo>
                  <a:pt x="35271" y="162420"/>
                </a:lnTo>
                <a:lnTo>
                  <a:pt x="9163" y="130606"/>
                </a:lnTo>
                <a:lnTo>
                  <a:pt x="0" y="96431"/>
                </a:lnTo>
                <a:lnTo>
                  <a:pt x="0" y="90487"/>
                </a:lnTo>
                <a:lnTo>
                  <a:pt x="0" y="84543"/>
                </a:lnTo>
                <a:lnTo>
                  <a:pt x="11944" y="45158"/>
                </a:lnTo>
                <a:lnTo>
                  <a:pt x="45158" y="11944"/>
                </a:lnTo>
                <a:lnTo>
                  <a:pt x="84543" y="0"/>
                </a:lnTo>
                <a:lnTo>
                  <a:pt x="953681" y="0"/>
                </a:lnTo>
                <a:lnTo>
                  <a:pt x="993066" y="11944"/>
                </a:lnTo>
                <a:lnTo>
                  <a:pt x="1026280" y="45158"/>
                </a:lnTo>
                <a:lnTo>
                  <a:pt x="1038225" y="84543"/>
                </a:lnTo>
                <a:lnTo>
                  <a:pt x="1038225" y="96431"/>
                </a:lnTo>
                <a:lnTo>
                  <a:pt x="1026280" y="135816"/>
                </a:lnTo>
                <a:lnTo>
                  <a:pt x="993066" y="169021"/>
                </a:lnTo>
                <a:lnTo>
                  <a:pt x="959567" y="180393"/>
                </a:lnTo>
                <a:lnTo>
                  <a:pt x="953681" y="180975"/>
                </a:lnTo>
                <a:close/>
              </a:path>
            </a:pathLst>
          </a:custGeom>
          <a:solidFill>
            <a:srgbClr val="DBFB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00250" y="2733675"/>
            <a:ext cx="1314450" cy="180975"/>
          </a:xfrm>
          <a:custGeom>
            <a:avLst/>
            <a:gdLst/>
            <a:ahLst/>
            <a:cxnLst/>
            <a:rect l="l" t="t" r="r" b="b"/>
            <a:pathLst>
              <a:path w="1314450" h="180975">
                <a:moveTo>
                  <a:pt x="1229906" y="180975"/>
                </a:moveTo>
                <a:lnTo>
                  <a:pt x="84543" y="180975"/>
                </a:lnTo>
                <a:lnTo>
                  <a:pt x="78657" y="180393"/>
                </a:lnTo>
                <a:lnTo>
                  <a:pt x="35271" y="162420"/>
                </a:lnTo>
                <a:lnTo>
                  <a:pt x="9163" y="130606"/>
                </a:lnTo>
                <a:lnTo>
                  <a:pt x="0" y="96431"/>
                </a:lnTo>
                <a:lnTo>
                  <a:pt x="0" y="90487"/>
                </a:lnTo>
                <a:lnTo>
                  <a:pt x="0" y="84543"/>
                </a:lnTo>
                <a:lnTo>
                  <a:pt x="11944" y="45158"/>
                </a:lnTo>
                <a:lnTo>
                  <a:pt x="45158" y="11944"/>
                </a:lnTo>
                <a:lnTo>
                  <a:pt x="84543" y="0"/>
                </a:lnTo>
                <a:lnTo>
                  <a:pt x="1229906" y="0"/>
                </a:lnTo>
                <a:lnTo>
                  <a:pt x="1269291" y="11944"/>
                </a:lnTo>
                <a:lnTo>
                  <a:pt x="1302496" y="45158"/>
                </a:lnTo>
                <a:lnTo>
                  <a:pt x="1314450" y="84543"/>
                </a:lnTo>
                <a:lnTo>
                  <a:pt x="1314450" y="96431"/>
                </a:lnTo>
                <a:lnTo>
                  <a:pt x="1302496" y="135816"/>
                </a:lnTo>
                <a:lnTo>
                  <a:pt x="1269291" y="169021"/>
                </a:lnTo>
                <a:lnTo>
                  <a:pt x="1235792" y="180393"/>
                </a:lnTo>
                <a:lnTo>
                  <a:pt x="1229906" y="180975"/>
                </a:lnTo>
                <a:close/>
              </a:path>
            </a:pathLst>
          </a:custGeom>
          <a:solidFill>
            <a:srgbClr val="FEF2C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576262" y="1443037"/>
          <a:ext cx="11027408" cy="2004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9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8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582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950" spc="-20" dirty="0">
                          <a:solidFill>
                            <a:srgbClr val="1D3A5E"/>
                          </a:solidFill>
                          <a:latin typeface="Segoe UI Semibold"/>
                          <a:cs typeface="Segoe UI Semibold"/>
                        </a:rPr>
                        <a:t>Type</a:t>
                      </a:r>
                      <a:endParaRPr sz="950">
                        <a:latin typeface="Segoe UI Semibold"/>
                        <a:cs typeface="Segoe UI Semibold"/>
                      </a:endParaRPr>
                    </a:p>
                  </a:txBody>
                  <a:tcPr marL="0" marR="0" marT="127000" marB="0">
                    <a:lnR w="9525">
                      <a:solidFill>
                        <a:srgbClr val="E2E7F0"/>
                      </a:solidFill>
                      <a:prstDash val="solid"/>
                    </a:lnR>
                    <a:lnB w="19050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950" spc="-10" dirty="0">
                          <a:solidFill>
                            <a:srgbClr val="1D3A5E"/>
                          </a:solidFill>
                          <a:latin typeface="Segoe UI Semibold"/>
                          <a:cs typeface="Segoe UI Semibold"/>
                        </a:rPr>
                        <a:t>Source</a:t>
                      </a:r>
                      <a:endParaRPr sz="950">
                        <a:latin typeface="Segoe UI Semibold"/>
                        <a:cs typeface="Segoe UI Semibold"/>
                      </a:endParaRPr>
                    </a:p>
                  </a:txBody>
                  <a:tcPr marL="0" marR="0" marT="127000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B w="19050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950" spc="-10" dirty="0">
                          <a:solidFill>
                            <a:srgbClr val="1D3A5E"/>
                          </a:solidFill>
                          <a:latin typeface="Segoe UI Semibold"/>
                          <a:cs typeface="Segoe UI Semibold"/>
                        </a:rPr>
                        <a:t>Characteristics</a:t>
                      </a:r>
                      <a:endParaRPr sz="950">
                        <a:latin typeface="Segoe UI Semibold"/>
                        <a:cs typeface="Segoe UI Semibold"/>
                      </a:endParaRPr>
                    </a:p>
                  </a:txBody>
                  <a:tcPr marL="0" marR="0" marT="127000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B w="19050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950" spc="-10" dirty="0">
                          <a:solidFill>
                            <a:srgbClr val="1D3A5E"/>
                          </a:solidFill>
                          <a:latin typeface="Segoe UI Semibold"/>
                          <a:cs typeface="Segoe UI Semibold"/>
                        </a:rPr>
                        <a:t>Examples</a:t>
                      </a:r>
                      <a:endParaRPr sz="950">
                        <a:latin typeface="Segoe UI Semibold"/>
                        <a:cs typeface="Segoe UI Semibold"/>
                      </a:endParaRPr>
                    </a:p>
                  </a:txBody>
                  <a:tcPr marL="0" marR="0" marT="127000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B w="19050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950" spc="-20" dirty="0">
                          <a:solidFill>
                            <a:srgbClr val="1D3A5E"/>
                          </a:solidFill>
                          <a:latin typeface="Segoe UI Black"/>
                          <a:cs typeface="Segoe UI Black"/>
                        </a:rPr>
                        <a:t>OOTB</a:t>
                      </a:r>
                      <a:endParaRPr sz="950">
                        <a:latin typeface="Segoe UI Black"/>
                        <a:cs typeface="Segoe UI Black"/>
                      </a:endParaRPr>
                    </a:p>
                  </a:txBody>
                  <a:tcPr marL="0" marR="0" marT="98425" marB="0">
                    <a:lnR w="9525">
                      <a:solidFill>
                        <a:srgbClr val="E2E7F0"/>
                      </a:solidFill>
                      <a:prstDash val="solid"/>
                    </a:lnR>
                    <a:lnT w="19050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7970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166533"/>
                          </a:solidFill>
                          <a:latin typeface="Segoe UI Semibold"/>
                          <a:cs typeface="Segoe UI Semibold"/>
                        </a:rPr>
                        <a:t>Installed</a:t>
                      </a:r>
                      <a:r>
                        <a:rPr sz="800" spc="55" dirty="0">
                          <a:solidFill>
                            <a:srgbClr val="166533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800" dirty="0">
                          <a:solidFill>
                            <a:srgbClr val="166533"/>
                          </a:solidFill>
                          <a:latin typeface="Segoe UI Semibold"/>
                          <a:cs typeface="Segoe UI Semibold"/>
                        </a:rPr>
                        <a:t>with</a:t>
                      </a:r>
                      <a:r>
                        <a:rPr sz="800" spc="60" dirty="0">
                          <a:solidFill>
                            <a:srgbClr val="166533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800" spc="-25" dirty="0">
                          <a:solidFill>
                            <a:srgbClr val="166533"/>
                          </a:solidFill>
                          <a:latin typeface="Segoe UI Semibold"/>
                          <a:cs typeface="Segoe UI Semibold"/>
                        </a:rPr>
                        <a:t>PSM</a:t>
                      </a:r>
                      <a:endParaRPr sz="800">
                        <a:latin typeface="Segoe UI Semibold"/>
                        <a:cs typeface="Segoe UI Semibold"/>
                      </a:endParaRPr>
                    </a:p>
                  </a:txBody>
                  <a:tcPr marL="0" marR="0" marT="635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19050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marR="359410">
                        <a:lnSpc>
                          <a:spcPct val="164500"/>
                        </a:lnSpc>
                        <a:spcBef>
                          <a:spcPts val="40"/>
                        </a:spcBef>
                      </a:pPr>
                      <a:r>
                        <a:rPr sz="950" b="1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Preconfigured:</a:t>
                      </a:r>
                      <a:r>
                        <a:rPr sz="950" b="1" spc="5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Ready</a:t>
                      </a:r>
                      <a:r>
                        <a:rPr sz="950" spc="5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sz="950" spc="6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immediate</a:t>
                      </a:r>
                      <a:r>
                        <a:rPr sz="950" spc="5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use</a:t>
                      </a:r>
                      <a:r>
                        <a:rPr sz="950" spc="6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with</a:t>
                      </a:r>
                      <a:r>
                        <a:rPr sz="950" spc="5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default</a:t>
                      </a:r>
                      <a:r>
                        <a:rPr sz="950" spc="6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1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settings </a:t>
                      </a:r>
                      <a:r>
                        <a:rPr sz="950" b="1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Configurable:</a:t>
                      </a:r>
                      <a:r>
                        <a:rPr sz="950" b="1" spc="6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Can</a:t>
                      </a:r>
                      <a:r>
                        <a:rPr sz="950" spc="6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be</a:t>
                      </a:r>
                      <a:r>
                        <a:rPr sz="950" spc="6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customized</a:t>
                      </a:r>
                      <a:r>
                        <a:rPr sz="950" spc="6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by</a:t>
                      </a:r>
                      <a:r>
                        <a:rPr sz="950" spc="6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changing</a:t>
                      </a:r>
                      <a:r>
                        <a:rPr sz="950" spc="6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1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parameters </a:t>
                      </a:r>
                      <a:r>
                        <a:rPr sz="950" b="1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Supported:</a:t>
                      </a:r>
                      <a:r>
                        <a:rPr sz="950" b="1" spc="8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Official</a:t>
                      </a:r>
                      <a:r>
                        <a:rPr sz="950" spc="9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CyberArk</a:t>
                      </a:r>
                      <a:r>
                        <a:rPr sz="950" spc="9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maintenance</a:t>
                      </a:r>
                      <a:r>
                        <a:rPr sz="950" spc="9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and</a:t>
                      </a:r>
                      <a:r>
                        <a:rPr sz="950" spc="8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1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support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080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19050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950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PSM-SSH,</a:t>
                      </a:r>
                      <a:r>
                        <a:rPr sz="950" spc="150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PSM-RDP,</a:t>
                      </a:r>
                      <a:r>
                        <a:rPr sz="950" spc="155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PSM-</a:t>
                      </a:r>
                      <a:r>
                        <a:rPr sz="950" spc="-10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Telnet</a:t>
                      </a:r>
                      <a:endParaRPr sz="950">
                        <a:latin typeface="Segoe UI"/>
                        <a:cs typeface="Segoe UI"/>
                      </a:endParaRPr>
                    </a:p>
                    <a:p>
                      <a:pPr marL="264160" marR="1615440">
                        <a:lnSpc>
                          <a:spcPct val="151300"/>
                        </a:lnSpc>
                      </a:pPr>
                      <a:r>
                        <a:rPr sz="950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PSM-TOAD,</a:t>
                      </a:r>
                      <a:r>
                        <a:rPr sz="950" spc="135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PSM-SQLPlus,</a:t>
                      </a:r>
                      <a:r>
                        <a:rPr sz="950" spc="140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PSM-</a:t>
                      </a:r>
                      <a:r>
                        <a:rPr sz="950" spc="-25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PTA </a:t>
                      </a:r>
                      <a:r>
                        <a:rPr sz="950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PSM-WinSCP,</a:t>
                      </a:r>
                      <a:r>
                        <a:rPr sz="950" spc="175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PSMP-</a:t>
                      </a:r>
                      <a:r>
                        <a:rPr sz="950" spc="-10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SSH/SCP/SFTP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98425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19050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325755" marR="414020">
                        <a:lnSpc>
                          <a:spcPct val="111800"/>
                        </a:lnSpc>
                        <a:spcBef>
                          <a:spcPts val="600"/>
                        </a:spcBef>
                      </a:pPr>
                      <a:r>
                        <a:rPr sz="950" spc="-10" dirty="0">
                          <a:solidFill>
                            <a:srgbClr val="1D3A5E"/>
                          </a:solidFill>
                          <a:latin typeface="Segoe UI Black"/>
                          <a:cs typeface="Segoe UI Black"/>
                        </a:rPr>
                        <a:t>Custom Universal</a:t>
                      </a:r>
                      <a:endParaRPr sz="950">
                        <a:latin typeface="Segoe UI Black"/>
                        <a:cs typeface="Segoe UI Black"/>
                      </a:endParaRPr>
                    </a:p>
                  </a:txBody>
                  <a:tcPr marL="0" marR="0" marT="76200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800" spc="-10" dirty="0">
                          <a:solidFill>
                            <a:srgbClr val="91400D"/>
                          </a:solidFill>
                          <a:latin typeface="Segoe UI Semibold"/>
                          <a:cs typeface="Segoe UI Semibold"/>
                        </a:rPr>
                        <a:t>Developed/Downloaded</a:t>
                      </a:r>
                      <a:endParaRPr sz="800" dirty="0">
                        <a:latin typeface="Segoe UI Semibold"/>
                        <a:cs typeface="Segoe UI Semibold"/>
                      </a:endParaRPr>
                    </a:p>
                  </a:txBody>
                  <a:tcPr marL="0" marR="0" marT="112395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950" b="1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AutoIt-based:</a:t>
                      </a:r>
                      <a:r>
                        <a:rPr sz="950" b="1" spc="6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Automation</a:t>
                      </a:r>
                      <a:r>
                        <a:rPr sz="950" spc="6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sz="950" spc="6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client</a:t>
                      </a:r>
                      <a:r>
                        <a:rPr sz="950" spc="6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1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launch/login</a:t>
                      </a:r>
                      <a:endParaRPr sz="950">
                        <a:latin typeface="Segoe UI"/>
                        <a:cs typeface="Segoe UI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950" b="1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Full</a:t>
                      </a:r>
                      <a:r>
                        <a:rPr sz="950" b="1" spc="6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b="1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lifecycle:</a:t>
                      </a:r>
                      <a:r>
                        <a:rPr sz="950" b="1" spc="6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Complete</a:t>
                      </a:r>
                      <a:r>
                        <a:rPr sz="950" spc="6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development</a:t>
                      </a:r>
                      <a:r>
                        <a:rPr sz="950" spc="7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and</a:t>
                      </a:r>
                      <a:r>
                        <a:rPr sz="950" spc="6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1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management</a:t>
                      </a:r>
                      <a:endParaRPr sz="950">
                        <a:latin typeface="Segoe UI"/>
                        <a:cs typeface="Segoe UI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950" b="1" spc="-2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Task-</a:t>
                      </a:r>
                      <a:r>
                        <a:rPr sz="950" b="1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specific:</a:t>
                      </a:r>
                      <a:r>
                        <a:rPr sz="950" b="1" spc="7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Can</a:t>
                      </a:r>
                      <a:r>
                        <a:rPr sz="950" spc="8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automate</a:t>
                      </a:r>
                      <a:r>
                        <a:rPr sz="950" spc="8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specific</a:t>
                      </a:r>
                      <a:r>
                        <a:rPr sz="950" spc="8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privileged</a:t>
                      </a:r>
                      <a:r>
                        <a:rPr sz="950" spc="8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1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tasks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93345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4160" marR="2239010">
                        <a:lnSpc>
                          <a:spcPct val="151300"/>
                        </a:lnSpc>
                        <a:spcBef>
                          <a:spcPts val="150"/>
                        </a:spcBef>
                      </a:pPr>
                      <a:r>
                        <a:rPr sz="950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VNC</a:t>
                      </a:r>
                      <a:r>
                        <a:rPr sz="950" spc="50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sample</a:t>
                      </a:r>
                      <a:r>
                        <a:rPr sz="950" spc="55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10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connector </a:t>
                      </a:r>
                      <a:r>
                        <a:rPr sz="950" spc="-20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Task-</a:t>
                      </a:r>
                      <a:r>
                        <a:rPr sz="950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specific</a:t>
                      </a:r>
                      <a:r>
                        <a:rPr sz="950" spc="95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10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automation</a:t>
                      </a:r>
                      <a:endParaRPr sz="950" dirty="0">
                        <a:latin typeface="Segoe UI"/>
                        <a:cs typeface="Segoe UI"/>
                      </a:endParaRPr>
                    </a:p>
                    <a:p>
                      <a:pPr marL="26416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950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Custom</a:t>
                      </a:r>
                      <a:r>
                        <a:rPr sz="950" spc="80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application</a:t>
                      </a:r>
                      <a:r>
                        <a:rPr sz="950" spc="85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10" dirty="0">
                          <a:solidFill>
                            <a:srgbClr val="465469"/>
                          </a:solidFill>
                          <a:latin typeface="Segoe UI"/>
                          <a:cs typeface="Segoe UI"/>
                        </a:rPr>
                        <a:t>integration</a:t>
                      </a:r>
                      <a:endParaRPr sz="950" dirty="0">
                        <a:latin typeface="Segoe UI"/>
                        <a:cs typeface="Segoe UI"/>
                      </a:endParaRPr>
                    </a:p>
                  </a:txBody>
                  <a:tcPr marL="0" marR="0" marT="19050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1955800"/>
            <a:ext cx="111125" cy="11112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47256" y="1981200"/>
            <a:ext cx="111125" cy="7937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47256" y="2200275"/>
            <a:ext cx="111125" cy="7937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47256" y="2419350"/>
            <a:ext cx="111125" cy="7937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6275" y="2832100"/>
            <a:ext cx="155575" cy="13017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47256" y="2781300"/>
            <a:ext cx="111125" cy="7937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47256" y="3000375"/>
            <a:ext cx="111125" cy="7937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47256" y="3219450"/>
            <a:ext cx="111125" cy="79375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277368" y="3745991"/>
            <a:ext cx="11637645" cy="1826260"/>
            <a:chOff x="277368" y="3745991"/>
            <a:chExt cx="11637645" cy="1826260"/>
          </a:xfrm>
        </p:grpSpPr>
        <p:sp>
          <p:nvSpPr>
            <p:cNvPr id="23" name="object 23"/>
            <p:cNvSpPr/>
            <p:nvPr/>
          </p:nvSpPr>
          <p:spPr>
            <a:xfrm>
              <a:off x="277368" y="3745991"/>
              <a:ext cx="11637645" cy="1826260"/>
            </a:xfrm>
            <a:custGeom>
              <a:avLst/>
              <a:gdLst/>
              <a:ahLst/>
              <a:cxnLst/>
              <a:rect l="l" t="t" r="r" b="b"/>
              <a:pathLst>
                <a:path w="11637645" h="1826260">
                  <a:moveTo>
                    <a:pt x="11637263" y="1825751"/>
                  </a:moveTo>
                  <a:lnTo>
                    <a:pt x="0" y="1825751"/>
                  </a:lnTo>
                  <a:lnTo>
                    <a:pt x="0" y="0"/>
                  </a:lnTo>
                  <a:lnTo>
                    <a:pt x="11637263" y="0"/>
                  </a:lnTo>
                  <a:lnTo>
                    <a:pt x="11637263" y="92567"/>
                  </a:lnTo>
                  <a:lnTo>
                    <a:pt x="179831" y="92567"/>
                  </a:lnTo>
                  <a:lnTo>
                    <a:pt x="173263" y="92887"/>
                  </a:lnTo>
                  <a:lnTo>
                    <a:pt x="137554" y="107687"/>
                  </a:lnTo>
                  <a:lnTo>
                    <a:pt x="116011" y="139935"/>
                  </a:lnTo>
                  <a:lnTo>
                    <a:pt x="113156" y="159257"/>
                  </a:lnTo>
                  <a:lnTo>
                    <a:pt x="113156" y="1626107"/>
                  </a:lnTo>
                  <a:lnTo>
                    <a:pt x="124383" y="1663160"/>
                  </a:lnTo>
                  <a:lnTo>
                    <a:pt x="154317" y="1687708"/>
                  </a:lnTo>
                  <a:lnTo>
                    <a:pt x="179831" y="1692798"/>
                  </a:lnTo>
                  <a:lnTo>
                    <a:pt x="11637263" y="1692798"/>
                  </a:lnTo>
                  <a:lnTo>
                    <a:pt x="11637263" y="1825751"/>
                  </a:lnTo>
                  <a:close/>
                </a:path>
                <a:path w="11637645" h="1826260">
                  <a:moveTo>
                    <a:pt x="11637263" y="1692798"/>
                  </a:moveTo>
                  <a:lnTo>
                    <a:pt x="11457431" y="1692798"/>
                  </a:lnTo>
                  <a:lnTo>
                    <a:pt x="11463998" y="1692465"/>
                  </a:lnTo>
                  <a:lnTo>
                    <a:pt x="11470439" y="1691510"/>
                  </a:lnTo>
                  <a:lnTo>
                    <a:pt x="11504584" y="1673260"/>
                  </a:lnTo>
                  <a:lnTo>
                    <a:pt x="11522834" y="1639115"/>
                  </a:lnTo>
                  <a:lnTo>
                    <a:pt x="11524121" y="1626107"/>
                  </a:lnTo>
                  <a:lnTo>
                    <a:pt x="11524121" y="159257"/>
                  </a:lnTo>
                  <a:lnTo>
                    <a:pt x="11512882" y="122205"/>
                  </a:lnTo>
                  <a:lnTo>
                    <a:pt x="11482943" y="97657"/>
                  </a:lnTo>
                  <a:lnTo>
                    <a:pt x="11457431" y="92567"/>
                  </a:lnTo>
                  <a:lnTo>
                    <a:pt x="11637263" y="92567"/>
                  </a:lnTo>
                  <a:lnTo>
                    <a:pt x="11637263" y="169279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5762" y="3833812"/>
              <a:ext cx="11420475" cy="1609725"/>
            </a:xfrm>
            <a:custGeom>
              <a:avLst/>
              <a:gdLst/>
              <a:ahLst/>
              <a:cxnLst/>
              <a:rect l="l" t="t" r="r" b="b"/>
              <a:pathLst>
                <a:path w="11420475" h="1609725">
                  <a:moveTo>
                    <a:pt x="11353704" y="1609725"/>
                  </a:moveTo>
                  <a:lnTo>
                    <a:pt x="66746" y="1609725"/>
                  </a:lnTo>
                  <a:lnTo>
                    <a:pt x="62101" y="1609267"/>
                  </a:lnTo>
                  <a:lnTo>
                    <a:pt x="24240" y="1592113"/>
                  </a:lnTo>
                  <a:lnTo>
                    <a:pt x="2287" y="1556823"/>
                  </a:lnTo>
                  <a:lnTo>
                    <a:pt x="0" y="1542973"/>
                  </a:lnTo>
                  <a:lnTo>
                    <a:pt x="0" y="1538287"/>
                  </a:lnTo>
                  <a:lnTo>
                    <a:pt x="0" y="66751"/>
                  </a:lnTo>
                  <a:lnTo>
                    <a:pt x="14645" y="27851"/>
                  </a:lnTo>
                  <a:lnTo>
                    <a:pt x="48432" y="3638"/>
                  </a:lnTo>
                  <a:lnTo>
                    <a:pt x="66746" y="0"/>
                  </a:lnTo>
                  <a:lnTo>
                    <a:pt x="11353704" y="0"/>
                  </a:lnTo>
                  <a:lnTo>
                    <a:pt x="11392662" y="14649"/>
                  </a:lnTo>
                  <a:lnTo>
                    <a:pt x="11416855" y="48434"/>
                  </a:lnTo>
                  <a:lnTo>
                    <a:pt x="11420475" y="66751"/>
                  </a:lnTo>
                  <a:lnTo>
                    <a:pt x="11420475" y="1542973"/>
                  </a:lnTo>
                  <a:lnTo>
                    <a:pt x="11405806" y="1581873"/>
                  </a:lnTo>
                  <a:lnTo>
                    <a:pt x="11372088" y="1606076"/>
                  </a:lnTo>
                  <a:lnTo>
                    <a:pt x="11358372" y="1609267"/>
                  </a:lnTo>
                  <a:lnTo>
                    <a:pt x="11353704" y="16097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5762" y="3833812"/>
              <a:ext cx="11420475" cy="1609725"/>
            </a:xfrm>
            <a:custGeom>
              <a:avLst/>
              <a:gdLst/>
              <a:ahLst/>
              <a:cxnLst/>
              <a:rect l="l" t="t" r="r" b="b"/>
              <a:pathLst>
                <a:path w="11420475" h="1609725">
                  <a:moveTo>
                    <a:pt x="0" y="1538287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102"/>
                  </a:lnTo>
                  <a:lnTo>
                    <a:pt x="17606" y="24241"/>
                  </a:lnTo>
                  <a:lnTo>
                    <a:pt x="20923" y="20926"/>
                  </a:lnTo>
                  <a:lnTo>
                    <a:pt x="24240" y="17602"/>
                  </a:lnTo>
                  <a:lnTo>
                    <a:pt x="44099" y="5438"/>
                  </a:lnTo>
                  <a:lnTo>
                    <a:pt x="48432" y="3638"/>
                  </a:lnTo>
                  <a:lnTo>
                    <a:pt x="52899" y="2286"/>
                  </a:lnTo>
                  <a:lnTo>
                    <a:pt x="57500" y="1371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349037" y="0"/>
                  </a:lnTo>
                  <a:lnTo>
                    <a:pt x="11353704" y="0"/>
                  </a:lnTo>
                  <a:lnTo>
                    <a:pt x="11358372" y="457"/>
                  </a:lnTo>
                  <a:lnTo>
                    <a:pt x="11362944" y="1371"/>
                  </a:lnTo>
                  <a:lnTo>
                    <a:pt x="11367611" y="2286"/>
                  </a:lnTo>
                  <a:lnTo>
                    <a:pt x="11372088" y="3638"/>
                  </a:lnTo>
                  <a:lnTo>
                    <a:pt x="11376374" y="5438"/>
                  </a:lnTo>
                  <a:lnTo>
                    <a:pt x="11380755" y="7229"/>
                  </a:lnTo>
                  <a:lnTo>
                    <a:pt x="11399519" y="20926"/>
                  </a:lnTo>
                  <a:lnTo>
                    <a:pt x="11402853" y="24241"/>
                  </a:lnTo>
                  <a:lnTo>
                    <a:pt x="11419998" y="62102"/>
                  </a:lnTo>
                  <a:lnTo>
                    <a:pt x="11420475" y="66751"/>
                  </a:lnTo>
                  <a:lnTo>
                    <a:pt x="11420475" y="71437"/>
                  </a:lnTo>
                  <a:lnTo>
                    <a:pt x="11420475" y="1538287"/>
                  </a:lnTo>
                  <a:lnTo>
                    <a:pt x="11420475" y="1542973"/>
                  </a:lnTo>
                  <a:lnTo>
                    <a:pt x="11419998" y="1547622"/>
                  </a:lnTo>
                  <a:lnTo>
                    <a:pt x="11402853" y="1585483"/>
                  </a:lnTo>
                  <a:lnTo>
                    <a:pt x="11399519" y="1588798"/>
                  </a:lnTo>
                  <a:lnTo>
                    <a:pt x="11396281" y="1592113"/>
                  </a:lnTo>
                  <a:lnTo>
                    <a:pt x="11376374" y="1604286"/>
                  </a:lnTo>
                  <a:lnTo>
                    <a:pt x="11372088" y="1606076"/>
                  </a:lnTo>
                  <a:lnTo>
                    <a:pt x="11367611" y="1607439"/>
                  </a:lnTo>
                  <a:lnTo>
                    <a:pt x="11362944" y="1608353"/>
                  </a:lnTo>
                  <a:lnTo>
                    <a:pt x="11358372" y="1609267"/>
                  </a:lnTo>
                  <a:lnTo>
                    <a:pt x="11353704" y="1609725"/>
                  </a:lnTo>
                  <a:lnTo>
                    <a:pt x="11349037" y="1609725"/>
                  </a:lnTo>
                  <a:lnTo>
                    <a:pt x="71437" y="1609725"/>
                  </a:lnTo>
                  <a:lnTo>
                    <a:pt x="66746" y="1609725"/>
                  </a:lnTo>
                  <a:lnTo>
                    <a:pt x="62101" y="1609267"/>
                  </a:lnTo>
                  <a:lnTo>
                    <a:pt x="57500" y="1608353"/>
                  </a:lnTo>
                  <a:lnTo>
                    <a:pt x="52899" y="1607439"/>
                  </a:lnTo>
                  <a:lnTo>
                    <a:pt x="48432" y="1606076"/>
                  </a:lnTo>
                  <a:lnTo>
                    <a:pt x="44099" y="1604286"/>
                  </a:lnTo>
                  <a:lnTo>
                    <a:pt x="39765" y="1602495"/>
                  </a:lnTo>
                  <a:lnTo>
                    <a:pt x="20923" y="1588798"/>
                  </a:lnTo>
                  <a:lnTo>
                    <a:pt x="17606" y="1585483"/>
                  </a:lnTo>
                  <a:lnTo>
                    <a:pt x="1372" y="1552222"/>
                  </a:lnTo>
                  <a:lnTo>
                    <a:pt x="457" y="1547622"/>
                  </a:lnTo>
                  <a:lnTo>
                    <a:pt x="0" y="1542973"/>
                  </a:lnTo>
                  <a:lnTo>
                    <a:pt x="0" y="1538287"/>
                  </a:lnTo>
                  <a:close/>
                </a:path>
              </a:pathLst>
            </a:custGeom>
            <a:ln w="9525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1025" y="4038600"/>
              <a:ext cx="152400" cy="15240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796925" y="4006850"/>
            <a:ext cx="1930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Key</a:t>
            </a:r>
            <a:r>
              <a:rPr sz="1200" b="1" spc="-2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Differences</a:t>
            </a:r>
            <a:r>
              <a:rPr sz="1200" b="1" spc="-2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and</a:t>
            </a:r>
            <a:r>
              <a:rPr sz="1200" b="1" spc="-2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Usage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81025" y="4324350"/>
            <a:ext cx="3552825" cy="942975"/>
            <a:chOff x="581025" y="4324350"/>
            <a:chExt cx="3552825" cy="942975"/>
          </a:xfrm>
        </p:grpSpPr>
        <p:sp>
          <p:nvSpPr>
            <p:cNvPr id="29" name="object 29"/>
            <p:cNvSpPr/>
            <p:nvPr/>
          </p:nvSpPr>
          <p:spPr>
            <a:xfrm>
              <a:off x="595312" y="4324350"/>
              <a:ext cx="3538854" cy="942975"/>
            </a:xfrm>
            <a:custGeom>
              <a:avLst/>
              <a:gdLst/>
              <a:ahLst/>
              <a:cxnLst/>
              <a:rect l="l" t="t" r="r" b="b"/>
              <a:pathLst>
                <a:path w="3538854" h="942975">
                  <a:moveTo>
                    <a:pt x="3485140" y="942975"/>
                  </a:moveTo>
                  <a:lnTo>
                    <a:pt x="40047" y="942975"/>
                  </a:lnTo>
                  <a:lnTo>
                    <a:pt x="37260" y="942603"/>
                  </a:lnTo>
                  <a:lnTo>
                    <a:pt x="5659" y="914457"/>
                  </a:lnTo>
                  <a:lnTo>
                    <a:pt x="0" y="889577"/>
                  </a:lnTo>
                  <a:lnTo>
                    <a:pt x="0" y="885825"/>
                  </a:lnTo>
                  <a:lnTo>
                    <a:pt x="0" y="53397"/>
                  </a:lnTo>
                  <a:lnTo>
                    <a:pt x="14543" y="14087"/>
                  </a:lnTo>
                  <a:lnTo>
                    <a:pt x="40047" y="0"/>
                  </a:lnTo>
                  <a:lnTo>
                    <a:pt x="3485140" y="0"/>
                  </a:lnTo>
                  <a:lnTo>
                    <a:pt x="3524450" y="19392"/>
                  </a:lnTo>
                  <a:lnTo>
                    <a:pt x="3538537" y="53397"/>
                  </a:lnTo>
                  <a:lnTo>
                    <a:pt x="3538537" y="889577"/>
                  </a:lnTo>
                  <a:lnTo>
                    <a:pt x="3519144" y="928887"/>
                  </a:lnTo>
                  <a:lnTo>
                    <a:pt x="3488855" y="942603"/>
                  </a:lnTo>
                  <a:lnTo>
                    <a:pt x="3485140" y="94297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1025" y="4324350"/>
              <a:ext cx="57150" cy="942975"/>
            </a:xfrm>
            <a:custGeom>
              <a:avLst/>
              <a:gdLst/>
              <a:ahLst/>
              <a:cxnLst/>
              <a:rect l="l" t="t" r="r" b="b"/>
              <a:pathLst>
                <a:path w="57150" h="942975">
                  <a:moveTo>
                    <a:pt x="57149" y="942975"/>
                  </a:moveTo>
                  <a:lnTo>
                    <a:pt x="49572" y="942975"/>
                  </a:lnTo>
                  <a:lnTo>
                    <a:pt x="42281" y="941527"/>
                  </a:lnTo>
                  <a:lnTo>
                    <a:pt x="7251" y="914704"/>
                  </a:lnTo>
                  <a:lnTo>
                    <a:pt x="0" y="893399"/>
                  </a:lnTo>
                  <a:lnTo>
                    <a:pt x="0" y="49560"/>
                  </a:lnTo>
                  <a:lnTo>
                    <a:pt x="22097" y="11368"/>
                  </a:lnTo>
                  <a:lnTo>
                    <a:pt x="49572" y="0"/>
                  </a:lnTo>
                  <a:lnTo>
                    <a:pt x="57149" y="0"/>
                  </a:lnTo>
                  <a:lnTo>
                    <a:pt x="51448" y="1045"/>
                  </a:lnTo>
                  <a:lnTo>
                    <a:pt x="46179" y="4183"/>
                  </a:lnTo>
                  <a:lnTo>
                    <a:pt x="29097" y="45742"/>
                  </a:lnTo>
                  <a:lnTo>
                    <a:pt x="28574" y="57149"/>
                  </a:lnTo>
                  <a:lnTo>
                    <a:pt x="28574" y="885840"/>
                  </a:lnTo>
                  <a:lnTo>
                    <a:pt x="36944" y="926226"/>
                  </a:lnTo>
                  <a:lnTo>
                    <a:pt x="51448" y="941913"/>
                  </a:lnTo>
                  <a:lnTo>
                    <a:pt x="57149" y="942975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7074" y="4460875"/>
              <a:ext cx="117475" cy="130175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711200" y="4435475"/>
            <a:ext cx="3285490" cy="7245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27329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Security</a:t>
            </a:r>
            <a:r>
              <a:rPr sz="950" spc="4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&amp;</a:t>
            </a:r>
            <a:r>
              <a:rPr sz="950" spc="5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Maintenance</a:t>
            </a:r>
            <a:endParaRPr sz="950">
              <a:latin typeface="Segoe UI Semibold"/>
              <a:cs typeface="Segoe UI Semibold"/>
            </a:endParaRPr>
          </a:p>
          <a:p>
            <a:pPr marL="12700" marR="5080" algn="just">
              <a:lnSpc>
                <a:spcPct val="118100"/>
              </a:lnSpc>
              <a:spcBef>
                <a:spcPts val="515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OOTB</a:t>
            </a:r>
            <a:r>
              <a:rPr sz="900" spc="-3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connectors</a:t>
            </a:r>
            <a:r>
              <a:rPr sz="900" spc="-3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receive</a:t>
            </a:r>
            <a:r>
              <a:rPr sz="900" spc="-3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official</a:t>
            </a:r>
            <a:r>
              <a:rPr sz="900" spc="-2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CyberArk</a:t>
            </a:r>
            <a:r>
              <a:rPr sz="900" spc="-2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updates</a:t>
            </a:r>
            <a:r>
              <a:rPr sz="900" spc="-2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and</a:t>
            </a:r>
            <a:r>
              <a:rPr sz="900" spc="-2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support.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Custom</a:t>
            </a:r>
            <a:r>
              <a:rPr sz="900" spc="-3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connectors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require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periodic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maintenance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and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regression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testing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after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version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updates.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324350" y="4324350"/>
            <a:ext cx="3543300" cy="942975"/>
            <a:chOff x="4324350" y="4324350"/>
            <a:chExt cx="3543300" cy="942975"/>
          </a:xfrm>
        </p:grpSpPr>
        <p:sp>
          <p:nvSpPr>
            <p:cNvPr id="34" name="object 34"/>
            <p:cNvSpPr/>
            <p:nvPr/>
          </p:nvSpPr>
          <p:spPr>
            <a:xfrm>
              <a:off x="4338637" y="4324350"/>
              <a:ext cx="3529329" cy="942975"/>
            </a:xfrm>
            <a:custGeom>
              <a:avLst/>
              <a:gdLst/>
              <a:ahLst/>
              <a:cxnLst/>
              <a:rect l="l" t="t" r="r" b="b"/>
              <a:pathLst>
                <a:path w="3529329" h="942975">
                  <a:moveTo>
                    <a:pt x="3475615" y="942975"/>
                  </a:moveTo>
                  <a:lnTo>
                    <a:pt x="40052" y="942975"/>
                  </a:lnTo>
                  <a:lnTo>
                    <a:pt x="37261" y="942603"/>
                  </a:lnTo>
                  <a:lnTo>
                    <a:pt x="5657" y="914457"/>
                  </a:lnTo>
                  <a:lnTo>
                    <a:pt x="0" y="889577"/>
                  </a:lnTo>
                  <a:lnTo>
                    <a:pt x="0" y="885825"/>
                  </a:lnTo>
                  <a:lnTo>
                    <a:pt x="0" y="53397"/>
                  </a:lnTo>
                  <a:lnTo>
                    <a:pt x="14544" y="14087"/>
                  </a:lnTo>
                  <a:lnTo>
                    <a:pt x="40052" y="0"/>
                  </a:lnTo>
                  <a:lnTo>
                    <a:pt x="3475615" y="0"/>
                  </a:lnTo>
                  <a:lnTo>
                    <a:pt x="3514925" y="19392"/>
                  </a:lnTo>
                  <a:lnTo>
                    <a:pt x="3529012" y="53397"/>
                  </a:lnTo>
                  <a:lnTo>
                    <a:pt x="3529012" y="889577"/>
                  </a:lnTo>
                  <a:lnTo>
                    <a:pt x="3509619" y="928887"/>
                  </a:lnTo>
                  <a:lnTo>
                    <a:pt x="3479330" y="942603"/>
                  </a:lnTo>
                  <a:lnTo>
                    <a:pt x="3475615" y="94297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324350" y="4324350"/>
              <a:ext cx="57150" cy="942975"/>
            </a:xfrm>
            <a:custGeom>
              <a:avLst/>
              <a:gdLst/>
              <a:ahLst/>
              <a:cxnLst/>
              <a:rect l="l" t="t" r="r" b="b"/>
              <a:pathLst>
                <a:path w="57150" h="942975">
                  <a:moveTo>
                    <a:pt x="57149" y="942975"/>
                  </a:moveTo>
                  <a:lnTo>
                    <a:pt x="49560" y="942975"/>
                  </a:lnTo>
                  <a:lnTo>
                    <a:pt x="42275" y="941527"/>
                  </a:lnTo>
                  <a:lnTo>
                    <a:pt x="7254" y="914704"/>
                  </a:lnTo>
                  <a:lnTo>
                    <a:pt x="0" y="893399"/>
                  </a:lnTo>
                  <a:lnTo>
                    <a:pt x="0" y="49560"/>
                  </a:lnTo>
                  <a:lnTo>
                    <a:pt x="22097" y="11368"/>
                  </a:lnTo>
                  <a:lnTo>
                    <a:pt x="49560" y="0"/>
                  </a:lnTo>
                  <a:lnTo>
                    <a:pt x="57149" y="0"/>
                  </a:lnTo>
                  <a:lnTo>
                    <a:pt x="51446" y="1045"/>
                  </a:lnTo>
                  <a:lnTo>
                    <a:pt x="46177" y="4183"/>
                  </a:lnTo>
                  <a:lnTo>
                    <a:pt x="29097" y="45742"/>
                  </a:lnTo>
                  <a:lnTo>
                    <a:pt x="28590" y="57149"/>
                  </a:lnTo>
                  <a:lnTo>
                    <a:pt x="28590" y="885840"/>
                  </a:lnTo>
                  <a:lnTo>
                    <a:pt x="36941" y="926226"/>
                  </a:lnTo>
                  <a:lnTo>
                    <a:pt x="51446" y="941913"/>
                  </a:lnTo>
                  <a:lnTo>
                    <a:pt x="57149" y="942975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63948" y="4464050"/>
              <a:ext cx="155575" cy="123825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4451248" y="4435475"/>
            <a:ext cx="3300729" cy="7245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Development</a:t>
            </a:r>
            <a:r>
              <a:rPr sz="950" spc="8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&amp;</a:t>
            </a:r>
            <a:r>
              <a:rPr sz="950" spc="9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Deployment</a:t>
            </a:r>
            <a:endParaRPr sz="950">
              <a:latin typeface="Segoe UI Semibold"/>
              <a:cs typeface="Segoe UI Semibold"/>
            </a:endParaRPr>
          </a:p>
          <a:p>
            <a:pPr marL="12700" marR="5080">
              <a:lnSpc>
                <a:spcPct val="118100"/>
              </a:lnSpc>
              <a:spcBef>
                <a:spcPts val="515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Custom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connectors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can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be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developed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using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AutoIt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and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deployed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via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PSMUniversalConnectors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Safe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for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automatic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distribution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across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all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PSM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servers.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058150" y="4324350"/>
            <a:ext cx="3552825" cy="942975"/>
            <a:chOff x="8058150" y="4324350"/>
            <a:chExt cx="3552825" cy="942975"/>
          </a:xfrm>
        </p:grpSpPr>
        <p:sp>
          <p:nvSpPr>
            <p:cNvPr id="39" name="object 39"/>
            <p:cNvSpPr/>
            <p:nvPr/>
          </p:nvSpPr>
          <p:spPr>
            <a:xfrm>
              <a:off x="8072437" y="4324350"/>
              <a:ext cx="3538854" cy="942975"/>
            </a:xfrm>
            <a:custGeom>
              <a:avLst/>
              <a:gdLst/>
              <a:ahLst/>
              <a:cxnLst/>
              <a:rect l="l" t="t" r="r" b="b"/>
              <a:pathLst>
                <a:path w="3538854" h="942975">
                  <a:moveTo>
                    <a:pt x="3485102" y="942975"/>
                  </a:moveTo>
                  <a:lnTo>
                    <a:pt x="40052" y="942975"/>
                  </a:lnTo>
                  <a:lnTo>
                    <a:pt x="37261" y="942603"/>
                  </a:lnTo>
                  <a:lnTo>
                    <a:pt x="5657" y="914457"/>
                  </a:lnTo>
                  <a:lnTo>
                    <a:pt x="0" y="889577"/>
                  </a:lnTo>
                  <a:lnTo>
                    <a:pt x="0" y="885825"/>
                  </a:lnTo>
                  <a:lnTo>
                    <a:pt x="0" y="53397"/>
                  </a:lnTo>
                  <a:lnTo>
                    <a:pt x="14544" y="14087"/>
                  </a:lnTo>
                  <a:lnTo>
                    <a:pt x="40052" y="0"/>
                  </a:lnTo>
                  <a:lnTo>
                    <a:pt x="3485102" y="0"/>
                  </a:lnTo>
                  <a:lnTo>
                    <a:pt x="3524440" y="19392"/>
                  </a:lnTo>
                  <a:lnTo>
                    <a:pt x="3538537" y="53397"/>
                  </a:lnTo>
                  <a:lnTo>
                    <a:pt x="3538537" y="889577"/>
                  </a:lnTo>
                  <a:lnTo>
                    <a:pt x="3519106" y="928887"/>
                  </a:lnTo>
                  <a:lnTo>
                    <a:pt x="3488817" y="942603"/>
                  </a:lnTo>
                  <a:lnTo>
                    <a:pt x="3485102" y="94297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058150" y="4324350"/>
              <a:ext cx="57150" cy="942975"/>
            </a:xfrm>
            <a:custGeom>
              <a:avLst/>
              <a:gdLst/>
              <a:ahLst/>
              <a:cxnLst/>
              <a:rect l="l" t="t" r="r" b="b"/>
              <a:pathLst>
                <a:path w="57150" h="942975">
                  <a:moveTo>
                    <a:pt x="57149" y="942975"/>
                  </a:moveTo>
                  <a:lnTo>
                    <a:pt x="49560" y="942975"/>
                  </a:lnTo>
                  <a:lnTo>
                    <a:pt x="42275" y="941527"/>
                  </a:lnTo>
                  <a:lnTo>
                    <a:pt x="7254" y="914704"/>
                  </a:lnTo>
                  <a:lnTo>
                    <a:pt x="0" y="893399"/>
                  </a:lnTo>
                  <a:lnTo>
                    <a:pt x="0" y="49560"/>
                  </a:lnTo>
                  <a:lnTo>
                    <a:pt x="22097" y="11368"/>
                  </a:lnTo>
                  <a:lnTo>
                    <a:pt x="49560" y="0"/>
                  </a:lnTo>
                  <a:lnTo>
                    <a:pt x="57149" y="0"/>
                  </a:lnTo>
                  <a:lnTo>
                    <a:pt x="51446" y="1045"/>
                  </a:lnTo>
                  <a:lnTo>
                    <a:pt x="46177" y="4183"/>
                  </a:lnTo>
                  <a:lnTo>
                    <a:pt x="29084" y="45742"/>
                  </a:lnTo>
                  <a:lnTo>
                    <a:pt x="28559" y="57149"/>
                  </a:lnTo>
                  <a:lnTo>
                    <a:pt x="28559" y="885840"/>
                  </a:lnTo>
                  <a:lnTo>
                    <a:pt x="36941" y="926226"/>
                  </a:lnTo>
                  <a:lnTo>
                    <a:pt x="51446" y="941913"/>
                  </a:lnTo>
                  <a:lnTo>
                    <a:pt x="57149" y="942975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04148" y="4460875"/>
              <a:ext cx="155575" cy="127000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8191448" y="4435475"/>
            <a:ext cx="3048000" cy="7245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User</a:t>
            </a:r>
            <a:r>
              <a:rPr sz="950" spc="6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Experience</a:t>
            </a:r>
            <a:endParaRPr sz="950">
              <a:latin typeface="Segoe UI Semibold"/>
              <a:cs typeface="Segoe UI Semibold"/>
            </a:endParaRPr>
          </a:p>
          <a:p>
            <a:pPr marL="12700" marR="5080">
              <a:lnSpc>
                <a:spcPct val="118100"/>
              </a:lnSpc>
              <a:spcBef>
                <a:spcPts val="515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OOTB</a:t>
            </a:r>
            <a:r>
              <a:rPr sz="900" spc="-2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connectors</a:t>
            </a:r>
            <a:r>
              <a:rPr sz="900" spc="-2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provide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immediate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functionality.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Custom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connectors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offer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tailored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automation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for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specific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application requirements.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0" y="6793991"/>
            <a:ext cx="12192000" cy="64135"/>
          </a:xfrm>
          <a:custGeom>
            <a:avLst/>
            <a:gdLst/>
            <a:ahLst/>
            <a:cxnLst/>
            <a:rect l="l" t="t" r="r" b="b"/>
            <a:pathLst>
              <a:path w="12192000" h="64134">
                <a:moveTo>
                  <a:pt x="0" y="0"/>
                </a:moveTo>
                <a:lnTo>
                  <a:pt x="12191999" y="0"/>
                </a:lnTo>
                <a:lnTo>
                  <a:pt x="12191999" y="64008"/>
                </a:ln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215900"/>
            <a:ext cx="41001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Prerequisites:</a:t>
            </a:r>
            <a:r>
              <a:rPr spc="315" dirty="0"/>
              <a:t> </a:t>
            </a:r>
            <a:r>
              <a:rPr dirty="0"/>
              <a:t>AutoIt3</a:t>
            </a:r>
            <a:r>
              <a:rPr spc="315" dirty="0"/>
              <a:t> </a:t>
            </a:r>
            <a:r>
              <a:rPr spc="-10" dirty="0"/>
              <a:t>v3.3.14.2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37728" y="292100"/>
            <a:ext cx="19735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Development Environment 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Setup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7368" y="868679"/>
            <a:ext cx="11637263" cy="4541519"/>
            <a:chOff x="277368" y="868679"/>
            <a:chExt cx="11637263" cy="454151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368" y="868679"/>
              <a:ext cx="11637263" cy="454151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025" y="1162049"/>
              <a:ext cx="152400" cy="1524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96925" y="1130300"/>
            <a:ext cx="15138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Installation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Checklist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23900" y="1584325"/>
            <a:ext cx="371475" cy="1016000"/>
            <a:chOff x="723900" y="1584325"/>
            <a:chExt cx="371475" cy="101600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3900" y="1619250"/>
              <a:ext cx="152400" cy="1524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1550" y="1584325"/>
              <a:ext cx="123825" cy="127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3900" y="2447925"/>
              <a:ext cx="152400" cy="1524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1550" y="2413000"/>
              <a:ext cx="123825" cy="1270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139825" y="1568450"/>
            <a:ext cx="156908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Download</a:t>
            </a:r>
            <a:r>
              <a:rPr sz="950" spc="9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AutoIt3</a:t>
            </a:r>
            <a:r>
              <a:rPr sz="950" spc="9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v3.3.14.2</a:t>
            </a:r>
            <a:endParaRPr sz="950">
              <a:latin typeface="Segoe UI Semibold"/>
              <a:cs typeface="Segoe UI Semibold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84390" y="1577975"/>
            <a:ext cx="54864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166533"/>
                </a:solidFill>
                <a:latin typeface="Segoe UI Semibold"/>
                <a:cs typeface="Segoe UI Semibold"/>
              </a:rPr>
              <a:t>Completed</a:t>
            </a:r>
            <a:endParaRPr sz="800" dirty="0">
              <a:latin typeface="Segoe UI Semibold"/>
              <a:cs typeface="Segoe UI Semibol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8850" y="1762760"/>
            <a:ext cx="4832350" cy="33020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Download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and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install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AutoIt3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version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3.3.14.2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from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official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website.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Default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installation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path: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%ProgramFiles%\AutoIt3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84390" y="2406650"/>
            <a:ext cx="54864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166533"/>
                </a:solidFill>
                <a:latin typeface="Segoe UI Semibold"/>
                <a:cs typeface="Segoe UI Semibold"/>
              </a:rPr>
              <a:t>Completed</a:t>
            </a:r>
            <a:endParaRPr sz="800" dirty="0">
              <a:latin typeface="Segoe UI Semibold"/>
              <a:cs typeface="Segoe UI Semibold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58850" y="2331085"/>
            <a:ext cx="4171950" cy="43815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93675">
              <a:lnSpc>
                <a:spcPct val="100000"/>
              </a:lnSpc>
              <a:spcBef>
                <a:spcPts val="645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Configure</a:t>
            </a:r>
            <a:r>
              <a:rPr sz="950" spc="13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Development</a:t>
            </a:r>
            <a:r>
              <a:rPr sz="950" spc="13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Environment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Set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up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separate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development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machine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for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AutoIt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script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development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and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testing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23900" y="3098800"/>
            <a:ext cx="387350" cy="187325"/>
            <a:chOff x="723900" y="3098800"/>
            <a:chExt cx="387350" cy="18732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3900" y="3133725"/>
              <a:ext cx="152400" cy="1524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1550" y="3098800"/>
              <a:ext cx="139700" cy="12700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284390" y="3092450"/>
            <a:ext cx="54864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166533"/>
                </a:solidFill>
                <a:latin typeface="Segoe UI Semibold"/>
                <a:cs typeface="Segoe UI Semibold"/>
              </a:rPr>
              <a:t>Comp</a:t>
            </a:r>
            <a:r>
              <a:rPr lang="en-US" sz="800" spc="-10" dirty="0">
                <a:solidFill>
                  <a:srgbClr val="166533"/>
                </a:solidFill>
                <a:latin typeface="Segoe UI Semibold"/>
                <a:cs typeface="Segoe UI Semibold"/>
              </a:rPr>
              <a:t>l</a:t>
            </a:r>
            <a:r>
              <a:rPr sz="800" spc="-10" dirty="0">
                <a:solidFill>
                  <a:srgbClr val="166533"/>
                </a:solidFill>
                <a:latin typeface="Segoe UI Semibold"/>
                <a:cs typeface="Segoe UI Semibold"/>
              </a:rPr>
              <a:t>eted</a:t>
            </a:r>
            <a:endParaRPr sz="800" dirty="0">
              <a:latin typeface="Segoe UI Semibold"/>
              <a:cs typeface="Segoe UI Semibold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58850" y="3016885"/>
            <a:ext cx="4034790" cy="43815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208915">
              <a:lnSpc>
                <a:spcPct val="100000"/>
              </a:lnSpc>
              <a:spcBef>
                <a:spcPts val="645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Install</a:t>
            </a:r>
            <a:r>
              <a:rPr sz="950" spc="1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Target</a:t>
            </a:r>
            <a:r>
              <a:rPr sz="950" spc="1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Application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Install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application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client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you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want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integrate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on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development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machine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324600" y="1584325"/>
            <a:ext cx="342900" cy="187325"/>
            <a:chOff x="6324600" y="1584325"/>
            <a:chExt cx="342900" cy="187325"/>
          </a:xfrm>
        </p:grpSpPr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24600" y="1619250"/>
              <a:ext cx="152400" cy="1524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72250" y="1584325"/>
              <a:ext cx="95250" cy="12700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1018487" y="1577975"/>
            <a:ext cx="41529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91400D"/>
                </a:solidFill>
                <a:latin typeface="Segoe UI Semibold"/>
                <a:cs typeface="Segoe UI Semibold"/>
              </a:rPr>
              <a:t>P</a:t>
            </a:r>
            <a:r>
              <a:rPr lang="en-US" sz="800" spc="-10" dirty="0">
                <a:solidFill>
                  <a:srgbClr val="91400D"/>
                </a:solidFill>
                <a:latin typeface="Segoe UI Semibold"/>
                <a:cs typeface="Segoe UI Semibold"/>
              </a:rPr>
              <a:t>en</a:t>
            </a:r>
            <a:r>
              <a:rPr sz="800" spc="-10" dirty="0">
                <a:solidFill>
                  <a:srgbClr val="91400D"/>
                </a:solidFill>
                <a:latin typeface="Segoe UI Semibold"/>
                <a:cs typeface="Segoe UI Semibold"/>
              </a:rPr>
              <a:t>ding</a:t>
            </a:r>
            <a:endParaRPr sz="800" dirty="0">
              <a:latin typeface="Segoe UI Semibold"/>
              <a:cs typeface="Segoe UI Semibold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59550" y="1502410"/>
            <a:ext cx="3610610" cy="43815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645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Copy</a:t>
            </a:r>
            <a:r>
              <a:rPr sz="950" spc="4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PSMAutoItDispatcherSkeleton.au3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Copy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skeleton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file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your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development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environment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and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rename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Segoe UI"/>
                <a:cs typeface="Segoe UI"/>
              </a:rPr>
              <a:t>it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324600" y="2260600"/>
            <a:ext cx="403225" cy="187325"/>
            <a:chOff x="6324600" y="2260600"/>
            <a:chExt cx="403225" cy="187325"/>
          </a:xfrm>
        </p:grpSpPr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24600" y="2295525"/>
              <a:ext cx="152400" cy="1524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72250" y="2260600"/>
              <a:ext cx="155575" cy="130175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1018487" y="2254250"/>
            <a:ext cx="41529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91400D"/>
                </a:solidFill>
                <a:latin typeface="Segoe UI Semibold"/>
                <a:cs typeface="Segoe UI Semibold"/>
              </a:rPr>
              <a:t>Pending</a:t>
            </a:r>
            <a:endParaRPr sz="800" dirty="0">
              <a:latin typeface="Segoe UI Semibold"/>
              <a:cs typeface="Segoe UI Semibold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559550" y="2178685"/>
            <a:ext cx="3373120" cy="59055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224154">
              <a:lnSpc>
                <a:spcPct val="100000"/>
              </a:lnSpc>
              <a:spcBef>
                <a:spcPts val="645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Copy</a:t>
            </a:r>
            <a:r>
              <a:rPr sz="950" spc="4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Required</a:t>
            </a:r>
            <a:r>
              <a:rPr sz="950" spc="5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Files</a:t>
            </a:r>
            <a:endParaRPr sz="950">
              <a:latin typeface="Segoe UI Semibold"/>
              <a:cs typeface="Segoe UI Semibold"/>
            </a:endParaRPr>
          </a:p>
          <a:p>
            <a:pPr marL="12700" marR="5080">
              <a:lnSpc>
                <a:spcPct val="111100"/>
              </a:lnSpc>
              <a:spcBef>
                <a:spcPts val="365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Copy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PSMGenericClientDriver.dll,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PSMGenericClientDriver.xml,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Segoe UI"/>
                <a:cs typeface="Segoe UI"/>
              </a:rPr>
              <a:t>and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PSMGenericClientWrapper.au3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324600" y="3098800"/>
            <a:ext cx="371475" cy="187325"/>
            <a:chOff x="6324600" y="3098800"/>
            <a:chExt cx="371475" cy="187325"/>
          </a:xfrm>
        </p:grpSpPr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24600" y="3133725"/>
              <a:ext cx="152400" cy="1524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72250" y="3098800"/>
              <a:ext cx="123825" cy="12700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11018487" y="3092450"/>
            <a:ext cx="41529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91400D"/>
                </a:solidFill>
                <a:latin typeface="Segoe UI Semibold"/>
                <a:cs typeface="Segoe UI Semibold"/>
              </a:rPr>
              <a:t>Pending</a:t>
            </a:r>
            <a:endParaRPr sz="800" dirty="0">
              <a:latin typeface="Segoe UI Semibold"/>
              <a:cs typeface="Segoe UI Semibold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559550" y="3016885"/>
            <a:ext cx="3754754" cy="43815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93675">
              <a:lnSpc>
                <a:spcPct val="100000"/>
              </a:lnSpc>
              <a:spcBef>
                <a:spcPts val="645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Configure</a:t>
            </a:r>
            <a:r>
              <a:rPr sz="950" spc="4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Test</a:t>
            </a:r>
            <a:r>
              <a:rPr sz="950" spc="4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Environment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Update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PSMGenericClientDriver.xml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with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test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values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for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session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properties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39" name="object 3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81025" y="4229100"/>
            <a:ext cx="152400" cy="152400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720725" y="4206875"/>
            <a:ext cx="1072832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Important</a:t>
            </a:r>
            <a:r>
              <a:rPr sz="1200" b="1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Notes</a:t>
            </a:r>
            <a:endParaRPr sz="12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200" dirty="0">
              <a:latin typeface="Segoe UI"/>
              <a:cs typeface="Segoe UI"/>
            </a:endParaRPr>
          </a:p>
          <a:p>
            <a:pPr marL="12700" marR="5080">
              <a:lnSpc>
                <a:spcPct val="125000"/>
              </a:lnSpc>
            </a:pPr>
            <a:r>
              <a:rPr sz="950" b="1" dirty="0">
                <a:solidFill>
                  <a:srgbClr val="1D3A5E"/>
                </a:solidFill>
                <a:latin typeface="Segoe UI"/>
                <a:cs typeface="Segoe UI"/>
              </a:rPr>
              <a:t>Security</a:t>
            </a:r>
            <a:r>
              <a:rPr sz="950" b="1" spc="5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b="1" dirty="0">
                <a:solidFill>
                  <a:srgbClr val="1D3A5E"/>
                </a:solidFill>
                <a:latin typeface="Segoe UI"/>
                <a:cs typeface="Segoe UI"/>
              </a:rPr>
              <a:t>Recommendation:</a:t>
            </a:r>
            <a:r>
              <a:rPr sz="950" b="1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When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using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AutoIt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based</a:t>
            </a:r>
            <a:r>
              <a:rPr sz="950" spc="5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connection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components,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we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recommend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that</a:t>
            </a:r>
            <a:r>
              <a:rPr sz="950" spc="5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you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compile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the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Autoit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script</a:t>
            </a:r>
            <a:r>
              <a:rPr sz="950" spc="5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to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an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executable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form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and</a:t>
            </a:r>
            <a:r>
              <a:rPr sz="950" spc="5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use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that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binary.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Running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AutoIt</a:t>
            </a:r>
            <a:r>
              <a:rPr sz="950" spc="5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"/>
                <a:cs typeface="Segoe UI"/>
              </a:rPr>
              <a:t>scripts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directly</a:t>
            </a:r>
            <a:r>
              <a:rPr sz="950" spc="7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using</a:t>
            </a:r>
            <a:r>
              <a:rPr sz="950" spc="7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AutoIt3.exe</a:t>
            </a:r>
            <a:r>
              <a:rPr sz="950" spc="7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might</a:t>
            </a:r>
            <a:r>
              <a:rPr sz="950" spc="7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introduce</a:t>
            </a:r>
            <a:r>
              <a:rPr sz="950" spc="7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security</a:t>
            </a:r>
            <a:r>
              <a:rPr sz="950" spc="7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"/>
                <a:cs typeface="Segoe UI"/>
              </a:rPr>
              <a:t>risks.</a:t>
            </a:r>
            <a:endParaRPr sz="950" dirty="0">
              <a:latin typeface="Segoe UI"/>
              <a:cs typeface="Segoe U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0" y="6793991"/>
            <a:ext cx="12192000" cy="64135"/>
          </a:xfrm>
          <a:custGeom>
            <a:avLst/>
            <a:gdLst/>
            <a:ahLst/>
            <a:cxnLst/>
            <a:rect l="l" t="t" r="r" b="b"/>
            <a:pathLst>
              <a:path w="12192000" h="64134">
                <a:moveTo>
                  <a:pt x="0" y="0"/>
                </a:moveTo>
                <a:lnTo>
                  <a:pt x="12191999" y="0"/>
                </a:lnTo>
                <a:lnTo>
                  <a:pt x="12191999" y="64008"/>
                </a:ln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215900"/>
            <a:ext cx="605409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Security</a:t>
            </a:r>
            <a:r>
              <a:rPr spc="240" dirty="0"/>
              <a:t> </a:t>
            </a:r>
            <a:r>
              <a:rPr dirty="0"/>
              <a:t>Considerations:</a:t>
            </a:r>
            <a:r>
              <a:rPr spc="245" dirty="0"/>
              <a:t> </a:t>
            </a:r>
            <a:r>
              <a:rPr dirty="0"/>
              <a:t>.au3</a:t>
            </a:r>
            <a:r>
              <a:rPr spc="240" dirty="0"/>
              <a:t> </a:t>
            </a:r>
            <a:r>
              <a:rPr dirty="0"/>
              <a:t>vs</a:t>
            </a:r>
            <a:r>
              <a:rPr spc="245" dirty="0"/>
              <a:t> </a:t>
            </a:r>
            <a:r>
              <a:rPr dirty="0"/>
              <a:t>Compiled</a:t>
            </a:r>
            <a:r>
              <a:rPr spc="245" dirty="0"/>
              <a:t> </a:t>
            </a:r>
            <a:r>
              <a:rPr spc="-20" dirty="0"/>
              <a:t>.exe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91992" y="292100"/>
            <a:ext cx="12649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AutoIt Script 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Security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7368" y="886967"/>
            <a:ext cx="11637645" cy="4693920"/>
            <a:chOff x="277368" y="886967"/>
            <a:chExt cx="11637645" cy="469392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368" y="886967"/>
              <a:ext cx="11637263" cy="469391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200" y="1162049"/>
              <a:ext cx="146050" cy="15557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96925" y="1130300"/>
            <a:ext cx="29959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Security</a:t>
            </a:r>
            <a:r>
              <a:rPr sz="1200" b="1" spc="-2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Comparison:</a:t>
            </a:r>
            <a:r>
              <a:rPr sz="1200" b="1" spc="-2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Source</a:t>
            </a:r>
            <a:r>
              <a:rPr sz="1200" b="1" spc="-2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vs</a:t>
            </a:r>
            <a:r>
              <a:rPr sz="1200" b="1" spc="-2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Compiled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62000" y="1606550"/>
            <a:ext cx="5727700" cy="1450975"/>
            <a:chOff x="762000" y="1606550"/>
            <a:chExt cx="5727700" cy="145097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000" y="1606550"/>
              <a:ext cx="101600" cy="1365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53175" y="1606550"/>
              <a:ext cx="133350" cy="1365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50000" y="2936875"/>
              <a:ext cx="139700" cy="12065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925512" y="1587500"/>
            <a:ext cx="102933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D3A5E"/>
                </a:solidFill>
                <a:latin typeface="Segoe UI Semibold"/>
                <a:cs typeface="Segoe UI Semibold"/>
              </a:rPr>
              <a:t>.au3</a:t>
            </a:r>
            <a:r>
              <a:rPr sz="1050" spc="-2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1050" dirty="0">
                <a:solidFill>
                  <a:srgbClr val="1D3A5E"/>
                </a:solidFill>
                <a:latin typeface="Segoe UI Semibold"/>
                <a:cs typeface="Segoe UI Semibold"/>
              </a:rPr>
              <a:t>Source</a:t>
            </a:r>
            <a:r>
              <a:rPr sz="1050" spc="-1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10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Files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47941" y="1597025"/>
            <a:ext cx="4660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91400D"/>
                </a:solidFill>
                <a:latin typeface="Segoe UI Semibold"/>
                <a:cs typeface="Segoe UI Semibold"/>
              </a:rPr>
              <a:t>Warning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9300" y="1829435"/>
            <a:ext cx="51308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Running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.au3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scripts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directly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using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AutoIt3.exe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may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introduce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security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risks.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Source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code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is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visible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Segoe UI"/>
                <a:cs typeface="Segoe UI"/>
              </a:rPr>
              <a:t>and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can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be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modified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without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detection.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5500" y="2292350"/>
            <a:ext cx="320167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465469"/>
                </a:solidFill>
                <a:latin typeface="Segoe UI Emoji"/>
                <a:cs typeface="Segoe UI Emoji"/>
              </a:rPr>
              <a:t>⚠</a:t>
            </a:r>
            <a:r>
              <a:rPr sz="800" spc="55" dirty="0">
                <a:solidFill>
                  <a:srgbClr val="465469"/>
                </a:solidFill>
                <a:latin typeface="Segoe UI Emoji"/>
                <a:cs typeface="Segoe UI Emoji"/>
              </a:rPr>
              <a:t> </a:t>
            </a:r>
            <a:r>
              <a:rPr sz="800" b="1" dirty="0">
                <a:solidFill>
                  <a:srgbClr val="465469"/>
                </a:solidFill>
                <a:latin typeface="Segoe UI"/>
                <a:cs typeface="Segoe UI"/>
              </a:rPr>
              <a:t>Risk:</a:t>
            </a:r>
            <a:r>
              <a:rPr sz="800" b="1" spc="5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Source</a:t>
            </a:r>
            <a:r>
              <a:rPr sz="800" spc="6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code</a:t>
            </a:r>
            <a:r>
              <a:rPr sz="800" spc="5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exposure,</a:t>
            </a:r>
            <a:r>
              <a:rPr sz="800" spc="5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easier</a:t>
            </a:r>
            <a:r>
              <a:rPr sz="800" spc="6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to</a:t>
            </a:r>
            <a:r>
              <a:rPr sz="800" spc="5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modify,</a:t>
            </a:r>
            <a:r>
              <a:rPr sz="800" spc="5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no</a:t>
            </a:r>
            <a:r>
              <a:rPr sz="800" spc="6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integrity</a:t>
            </a:r>
            <a:r>
              <a:rPr sz="800" spc="5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465469"/>
                </a:solidFill>
                <a:latin typeface="Segoe UI"/>
                <a:cs typeface="Segoe UI"/>
              </a:rPr>
              <a:t>checks</a:t>
            </a:r>
            <a:endParaRPr sz="80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65968" y="2921000"/>
            <a:ext cx="2476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166533"/>
                </a:solidFill>
                <a:latin typeface="Segoe UI Semibold"/>
                <a:cs typeface="Segoe UI Semibold"/>
              </a:rPr>
              <a:t>Safe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9300" y="2901950"/>
            <a:ext cx="4758690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D3A5E"/>
                </a:solidFill>
                <a:latin typeface="Segoe UI Semibold"/>
                <a:cs typeface="Segoe UI Semibold"/>
              </a:rPr>
              <a:t>Compiled</a:t>
            </a:r>
            <a:r>
              <a:rPr sz="1050" spc="-4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1050" dirty="0">
                <a:solidFill>
                  <a:srgbClr val="1D3A5E"/>
                </a:solidFill>
                <a:latin typeface="Segoe UI Semibold"/>
                <a:cs typeface="Segoe UI Semibold"/>
              </a:rPr>
              <a:t>.exe</a:t>
            </a:r>
            <a:r>
              <a:rPr sz="1050" spc="-4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10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Files</a:t>
            </a:r>
            <a:endParaRPr sz="1050">
              <a:latin typeface="Segoe UI Semibold"/>
              <a:cs typeface="Segoe UI Semibold"/>
            </a:endParaRPr>
          </a:p>
          <a:p>
            <a:pPr marL="12700" marR="5080">
              <a:lnSpc>
                <a:spcPct val="111100"/>
              </a:lnSpc>
              <a:spcBef>
                <a:spcPts val="72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Compile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AutoIt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scripts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executables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for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deployment.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Compiled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binaries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are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harder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reverse engineer.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5500" y="3616325"/>
            <a:ext cx="304609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0014" indent="-114300">
              <a:lnSpc>
                <a:spcPct val="100000"/>
              </a:lnSpc>
              <a:spcBef>
                <a:spcPts val="125"/>
              </a:spcBef>
              <a:buFont typeface="MS PGothic"/>
              <a:buChar char="✓"/>
              <a:tabLst>
                <a:tab pos="120014" algn="l"/>
              </a:tabLst>
            </a:pPr>
            <a:r>
              <a:rPr sz="800" b="1" dirty="0">
                <a:solidFill>
                  <a:srgbClr val="465469"/>
                </a:solidFill>
                <a:latin typeface="Segoe UI"/>
                <a:cs typeface="Segoe UI"/>
              </a:rPr>
              <a:t>Recommended:</a:t>
            </a:r>
            <a:r>
              <a:rPr sz="800" b="1" spc="6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Use</a:t>
            </a:r>
            <a:r>
              <a:rPr sz="800" spc="6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compiled</a:t>
            </a:r>
            <a:r>
              <a:rPr sz="800" spc="6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.exe</a:t>
            </a:r>
            <a:r>
              <a:rPr sz="800" spc="6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for</a:t>
            </a:r>
            <a:r>
              <a:rPr sz="800" spc="6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production</a:t>
            </a:r>
            <a:r>
              <a:rPr sz="800" spc="6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465469"/>
                </a:solidFill>
                <a:latin typeface="Segoe UI"/>
                <a:cs typeface="Segoe UI"/>
              </a:rPr>
              <a:t>deployment</a:t>
            </a:r>
            <a:endParaRPr sz="800">
              <a:latin typeface="Segoe UI"/>
              <a:cs typeface="Segoe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50025" y="1587500"/>
            <a:ext cx="12566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Password</a:t>
            </a:r>
            <a:r>
              <a:rPr sz="105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10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Protection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033728" y="1597025"/>
            <a:ext cx="3708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166533"/>
                </a:solidFill>
                <a:latin typeface="Segoe UI Semibold"/>
                <a:cs typeface="Segoe UI Semibold"/>
              </a:rPr>
              <a:t>Secure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40475" y="1829435"/>
            <a:ext cx="50114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Ensure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password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used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by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PSM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Universal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Connector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connection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client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cannot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be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exposed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Segoe UI"/>
                <a:cs typeface="Segoe UI"/>
              </a:rPr>
              <a:t>the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user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interface.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16675" y="2292350"/>
            <a:ext cx="254825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0014" indent="-114300">
              <a:lnSpc>
                <a:spcPct val="100000"/>
              </a:lnSpc>
              <a:spcBef>
                <a:spcPts val="125"/>
              </a:spcBef>
              <a:buFont typeface="MS PGothic"/>
              <a:buChar char="✓"/>
              <a:tabLst>
                <a:tab pos="120014" algn="l"/>
              </a:tabLst>
            </a:pPr>
            <a:r>
              <a:rPr sz="800" b="1" dirty="0">
                <a:solidFill>
                  <a:srgbClr val="465469"/>
                </a:solidFill>
                <a:latin typeface="Segoe UI"/>
                <a:cs typeface="Segoe UI"/>
              </a:rPr>
              <a:t>Best</a:t>
            </a:r>
            <a:r>
              <a:rPr sz="800" b="1" spc="5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b="1" dirty="0">
                <a:solidFill>
                  <a:srgbClr val="465469"/>
                </a:solidFill>
                <a:latin typeface="Segoe UI"/>
                <a:cs typeface="Segoe UI"/>
              </a:rPr>
              <a:t>Practice:</a:t>
            </a:r>
            <a:r>
              <a:rPr sz="800" b="1" spc="5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Never</a:t>
            </a:r>
            <a:r>
              <a:rPr sz="800" spc="5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display</a:t>
            </a:r>
            <a:r>
              <a:rPr sz="800" spc="5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passwords</a:t>
            </a:r>
            <a:r>
              <a:rPr sz="800" spc="5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in</a:t>
            </a:r>
            <a:r>
              <a:rPr sz="800" spc="5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UI</a:t>
            </a:r>
            <a:r>
              <a:rPr sz="800" spc="5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or</a:t>
            </a:r>
            <a:r>
              <a:rPr sz="800" spc="5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spc="-20" dirty="0">
                <a:solidFill>
                  <a:srgbClr val="465469"/>
                </a:solidFill>
                <a:latin typeface="Segoe UI"/>
                <a:cs typeface="Segoe UI"/>
              </a:rPr>
              <a:t>logs</a:t>
            </a:r>
            <a:endParaRPr sz="800">
              <a:latin typeface="Segoe UI"/>
              <a:cs typeface="Segoe U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021536" y="2921000"/>
            <a:ext cx="3835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991B1B"/>
                </a:solidFill>
                <a:latin typeface="Segoe UI Semibold"/>
                <a:cs typeface="Segoe UI Semibold"/>
              </a:rPr>
              <a:t>Critical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40475" y="2901950"/>
            <a:ext cx="3911600" cy="4292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D3A5E"/>
                </a:solidFill>
                <a:latin typeface="Segoe UI Semibold"/>
                <a:cs typeface="Segoe UI Semibold"/>
              </a:rPr>
              <a:t>Sensitive</a:t>
            </a:r>
            <a:r>
              <a:rPr sz="1050" spc="-3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1050" dirty="0">
                <a:solidFill>
                  <a:srgbClr val="1D3A5E"/>
                </a:solidFill>
                <a:latin typeface="Segoe UI Semibold"/>
                <a:cs typeface="Segoe UI Semibold"/>
              </a:rPr>
              <a:t>Data</a:t>
            </a:r>
            <a:r>
              <a:rPr sz="1050" spc="-2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10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Storage</a:t>
            </a:r>
            <a:endParaRPr sz="10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Make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sure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that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sensitive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data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will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not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be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saved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disk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during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session.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16675" y="3463925"/>
            <a:ext cx="321437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465469"/>
                </a:solidFill>
                <a:latin typeface="Segoe UI Emoji"/>
                <a:cs typeface="Segoe UI Emoji"/>
              </a:rPr>
              <a:t>⚠</a:t>
            </a:r>
            <a:r>
              <a:rPr sz="800" spc="40" dirty="0">
                <a:solidFill>
                  <a:srgbClr val="465469"/>
                </a:solidFill>
                <a:latin typeface="Segoe UI Emoji"/>
                <a:cs typeface="Segoe UI Emoji"/>
              </a:rPr>
              <a:t> </a:t>
            </a:r>
            <a:r>
              <a:rPr sz="800" b="1" dirty="0">
                <a:solidFill>
                  <a:srgbClr val="465469"/>
                </a:solidFill>
                <a:latin typeface="Segoe UI"/>
                <a:cs typeface="Segoe UI"/>
              </a:rPr>
              <a:t>Critical:</a:t>
            </a:r>
            <a:r>
              <a:rPr sz="800" b="1" spc="4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Clean</a:t>
            </a:r>
            <a:r>
              <a:rPr sz="800" spc="4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sensitive</a:t>
            </a:r>
            <a:r>
              <a:rPr sz="800" spc="4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data</a:t>
            </a:r>
            <a:r>
              <a:rPr sz="800" spc="4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from</a:t>
            </a:r>
            <a:r>
              <a:rPr sz="800" spc="4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disk</a:t>
            </a:r>
            <a:r>
              <a:rPr sz="800" spc="4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as</a:t>
            </a:r>
            <a:r>
              <a:rPr sz="800" spc="4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part</a:t>
            </a:r>
            <a:r>
              <a:rPr sz="800" spc="4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of</a:t>
            </a:r>
            <a:r>
              <a:rPr sz="800" spc="4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the</a:t>
            </a:r>
            <a:r>
              <a:rPr sz="800" spc="4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AutoIt</a:t>
            </a:r>
            <a:r>
              <a:rPr sz="800" spc="4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465469"/>
                </a:solidFill>
                <a:latin typeface="Segoe UI"/>
                <a:cs typeface="Segoe UI"/>
              </a:rPr>
              <a:t>script</a:t>
            </a:r>
            <a:endParaRPr sz="800">
              <a:latin typeface="Segoe UI"/>
              <a:cs typeface="Segoe U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81025" y="4908550"/>
            <a:ext cx="8586470" cy="365125"/>
            <a:chOff x="581025" y="4908550"/>
            <a:chExt cx="8586470" cy="365125"/>
          </a:xfrm>
        </p:grpSpPr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1025" y="4908550"/>
              <a:ext cx="114300" cy="11747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59125" y="4908550"/>
              <a:ext cx="114300" cy="11747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04184" y="4908550"/>
              <a:ext cx="114300" cy="11747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99696" y="4908550"/>
              <a:ext cx="114300" cy="11747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52617" y="4908550"/>
              <a:ext cx="114300" cy="11747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1025" y="5156200"/>
              <a:ext cx="114300" cy="117475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2917875" y="4892675"/>
            <a:ext cx="18275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Use</a:t>
            </a:r>
            <a:r>
              <a:rPr sz="900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separate</a:t>
            </a:r>
            <a:r>
              <a:rPr sz="90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development</a:t>
            </a:r>
            <a:r>
              <a:rPr sz="90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334054"/>
                </a:solidFill>
                <a:latin typeface="Segoe UI"/>
                <a:cs typeface="Segoe UI"/>
              </a:rPr>
              <a:t>machine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062934" y="4892675"/>
            <a:ext cx="18783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Never</a:t>
            </a:r>
            <a:r>
              <a:rPr sz="90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run</a:t>
            </a:r>
            <a:r>
              <a:rPr sz="90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.au3</a:t>
            </a:r>
            <a:r>
              <a:rPr sz="90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directly</a:t>
            </a:r>
            <a:r>
              <a:rPr sz="90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in</a:t>
            </a:r>
            <a:r>
              <a:rPr sz="900" spc="-10" dirty="0">
                <a:solidFill>
                  <a:srgbClr val="334054"/>
                </a:solidFill>
                <a:latin typeface="Segoe UI"/>
                <a:cs typeface="Segoe UI"/>
              </a:rPr>
              <a:t> production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258446" y="4892675"/>
            <a:ext cx="16357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Implement</a:t>
            </a:r>
            <a:r>
              <a:rPr sz="900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password</a:t>
            </a:r>
            <a:r>
              <a:rPr sz="900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334054"/>
                </a:solidFill>
                <a:latin typeface="Segoe UI"/>
                <a:cs typeface="Segoe UI"/>
              </a:rPr>
              <a:t>protection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211367" y="4892675"/>
            <a:ext cx="15259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Clean</a:t>
            </a:r>
            <a:r>
              <a:rPr sz="900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sensitive</a:t>
            </a:r>
            <a:r>
              <a:rPr sz="900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data</a:t>
            </a:r>
            <a:r>
              <a:rPr sz="900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from</a:t>
            </a:r>
            <a:r>
              <a:rPr sz="900" spc="-20" dirty="0">
                <a:solidFill>
                  <a:srgbClr val="334054"/>
                </a:solidFill>
                <a:latin typeface="Segoe UI"/>
                <a:cs typeface="Segoe UI"/>
              </a:rPr>
              <a:t> disk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44525" y="4578350"/>
            <a:ext cx="1956435" cy="724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Security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Checklist</a:t>
            </a:r>
            <a:endParaRPr sz="1200">
              <a:latin typeface="Segoe UI"/>
              <a:cs typeface="Segoe UI"/>
            </a:endParaRPr>
          </a:p>
          <a:p>
            <a:pPr marL="107950" marR="5080">
              <a:lnSpc>
                <a:spcPct val="180600"/>
              </a:lnSpc>
              <a:spcBef>
                <a:spcPts val="165"/>
              </a:spcBef>
            </a:pP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Compile</a:t>
            </a:r>
            <a:r>
              <a:rPr sz="90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.au3</a:t>
            </a:r>
            <a:r>
              <a:rPr sz="90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to</a:t>
            </a:r>
            <a:r>
              <a:rPr sz="90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.exe</a:t>
            </a:r>
            <a:r>
              <a:rPr sz="90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for</a:t>
            </a:r>
            <a:r>
              <a:rPr sz="900" spc="-10" dirty="0">
                <a:solidFill>
                  <a:srgbClr val="334054"/>
                </a:solidFill>
                <a:latin typeface="Segoe UI"/>
                <a:cs typeface="Segoe UI"/>
              </a:rPr>
              <a:t> deployment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Use</a:t>
            </a:r>
            <a:r>
              <a:rPr sz="90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secure</a:t>
            </a:r>
            <a:r>
              <a:rPr sz="90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credential</a:t>
            </a:r>
            <a:r>
              <a:rPr sz="90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334054"/>
                </a:solidFill>
                <a:latin typeface="Segoe UI"/>
                <a:cs typeface="Segoe UI"/>
              </a:rPr>
              <a:t>handling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0" y="6793991"/>
            <a:ext cx="12192000" cy="64135"/>
          </a:xfrm>
          <a:custGeom>
            <a:avLst/>
            <a:gdLst/>
            <a:ahLst/>
            <a:cxnLst/>
            <a:rect l="l" t="t" r="r" b="b"/>
            <a:pathLst>
              <a:path w="12192000" h="64134">
                <a:moveTo>
                  <a:pt x="0" y="0"/>
                </a:moveTo>
                <a:lnTo>
                  <a:pt x="12191999" y="0"/>
                </a:lnTo>
                <a:lnTo>
                  <a:pt x="12191999" y="64008"/>
                </a:ln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Development</a:t>
            </a:r>
            <a:r>
              <a:rPr spc="260" dirty="0"/>
              <a:t> </a:t>
            </a:r>
            <a:r>
              <a:rPr dirty="0"/>
              <a:t>Machine</a:t>
            </a:r>
            <a:r>
              <a:rPr spc="265" dirty="0"/>
              <a:t> </a:t>
            </a:r>
            <a:r>
              <a:rPr spc="-10" dirty="0"/>
              <a:t>Setup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3315" y="292100"/>
            <a:ext cx="221424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Configure Development 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Environment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7368" y="868679"/>
            <a:ext cx="11637645" cy="4434840"/>
            <a:chOff x="277368" y="868679"/>
            <a:chExt cx="11637645" cy="44348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368" y="868679"/>
              <a:ext cx="11637263" cy="44348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025" y="1142999"/>
              <a:ext cx="190500" cy="1524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3900" y="1581149"/>
              <a:ext cx="152400" cy="1524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1550" y="1546224"/>
              <a:ext cx="95250" cy="1270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198665" y="1539875"/>
            <a:ext cx="54864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166533"/>
                </a:solidFill>
                <a:latin typeface="Segoe UI Semibold"/>
                <a:cs typeface="Segoe UI Semibold"/>
              </a:rPr>
              <a:t>Completed</a:t>
            </a:r>
            <a:endParaRPr sz="800">
              <a:latin typeface="Segoe UI Semibold"/>
              <a:cs typeface="Segoe UI Semibold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23900" y="2374900"/>
            <a:ext cx="428625" cy="1079500"/>
            <a:chOff x="723900" y="2374900"/>
            <a:chExt cx="428625" cy="107950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3900" y="2409825"/>
              <a:ext cx="152400" cy="1524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1550" y="2374900"/>
              <a:ext cx="123825" cy="1270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6800" y="2917825"/>
              <a:ext cx="85725" cy="1174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6800" y="3127375"/>
              <a:ext cx="85725" cy="1174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6800" y="3336925"/>
              <a:ext cx="85725" cy="11747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198665" y="2368550"/>
            <a:ext cx="54864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166533"/>
                </a:solidFill>
                <a:latin typeface="Segoe UI Semibold"/>
                <a:cs typeface="Segoe UI Semibold"/>
              </a:rPr>
              <a:t>Completed</a:t>
            </a:r>
            <a:endParaRPr sz="800">
              <a:latin typeface="Segoe UI Semibold"/>
              <a:cs typeface="Segoe UI Semibold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5025" y="1111250"/>
            <a:ext cx="4955540" cy="237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Setup</a:t>
            </a:r>
            <a:r>
              <a:rPr sz="1200" b="1" spc="-3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Checklist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200">
              <a:latin typeface="Segoe UI"/>
              <a:cs typeface="Segoe UI"/>
            </a:endParaRPr>
          </a:p>
          <a:p>
            <a:pPr marL="286385">
              <a:lnSpc>
                <a:spcPct val="100000"/>
              </a:lnSpc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Copy</a:t>
            </a:r>
            <a:r>
              <a:rPr sz="950" spc="4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PSMAutoItDispatcherSkeleton.au3</a:t>
            </a:r>
            <a:endParaRPr sz="950">
              <a:latin typeface="Segoe UI Semibold"/>
              <a:cs typeface="Segoe UI Semibold"/>
            </a:endParaRPr>
          </a:p>
          <a:p>
            <a:pPr marL="136525" marR="5080">
              <a:lnSpc>
                <a:spcPct val="111100"/>
              </a:lnSpc>
              <a:spcBef>
                <a:spcPts val="37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Copy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skeleton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file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from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PSM\Components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your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development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environment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and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rename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Segoe UI"/>
                <a:cs typeface="Segoe UI"/>
              </a:rPr>
              <a:t>it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(keep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.au3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extension)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900">
              <a:latin typeface="Segoe UI"/>
              <a:cs typeface="Segoe UI"/>
            </a:endParaRPr>
          </a:p>
          <a:p>
            <a:pPr marL="317500">
              <a:lnSpc>
                <a:spcPct val="100000"/>
              </a:lnSpc>
              <a:spcBef>
                <a:spcPts val="5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Copy</a:t>
            </a:r>
            <a:r>
              <a:rPr sz="950" spc="4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Required</a:t>
            </a:r>
            <a:r>
              <a:rPr sz="950" spc="5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Files</a:t>
            </a:r>
            <a:r>
              <a:rPr sz="950" spc="5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from</a:t>
            </a:r>
            <a:r>
              <a:rPr sz="950" spc="5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PSM\Components</a:t>
            </a:r>
            <a:endParaRPr sz="950">
              <a:latin typeface="Segoe UI Semibold"/>
              <a:cs typeface="Segoe UI Semibold"/>
            </a:endParaRPr>
          </a:p>
          <a:p>
            <a:pPr marL="136525">
              <a:lnSpc>
                <a:spcPct val="100000"/>
              </a:lnSpc>
              <a:spcBef>
                <a:spcPts val="484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Copy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following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files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your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development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folder:</a:t>
            </a:r>
            <a:endParaRPr sz="900">
              <a:latin typeface="Segoe UI"/>
              <a:cs typeface="Segoe UI"/>
            </a:endParaRPr>
          </a:p>
          <a:p>
            <a:pPr marL="393700" marR="3006090">
              <a:lnSpc>
                <a:spcPct val="152800"/>
              </a:lnSpc>
              <a:spcBef>
                <a:spcPts val="975"/>
              </a:spcBef>
            </a:pPr>
            <a:r>
              <a:rPr sz="900" spc="-10" dirty="0">
                <a:solidFill>
                  <a:srgbClr val="465469"/>
                </a:solidFill>
                <a:latin typeface="Segoe UI"/>
                <a:cs typeface="Segoe UI"/>
              </a:rPr>
              <a:t>PSMGenericClientDriver.dll PSMGenericClientDriver.xml PSMGenericClientWrapper.au3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334125" y="1546225"/>
            <a:ext cx="371475" cy="187325"/>
            <a:chOff x="6334125" y="1546225"/>
            <a:chExt cx="371475" cy="187325"/>
          </a:xfrm>
        </p:grpSpPr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34125" y="1581150"/>
              <a:ext cx="152400" cy="1524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81775" y="1546225"/>
              <a:ext cx="123825" cy="12700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0942287" y="1539875"/>
            <a:ext cx="41529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91400D"/>
                </a:solidFill>
                <a:latin typeface="Segoe UI Semibold"/>
                <a:cs typeface="Segoe UI Semibold"/>
              </a:rPr>
              <a:t>Pending</a:t>
            </a:r>
            <a:endParaRPr sz="800">
              <a:latin typeface="Segoe UI Semibold"/>
              <a:cs typeface="Segoe UI Semibold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69075" y="1464310"/>
            <a:ext cx="3533140" cy="43815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93675">
              <a:lnSpc>
                <a:spcPct val="100000"/>
              </a:lnSpc>
              <a:spcBef>
                <a:spcPts val="645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Copy</a:t>
            </a:r>
            <a:r>
              <a:rPr sz="950" spc="4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PSMAutoItDispatcherSkeleton.au3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Update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SessionProperties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section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with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test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values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for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your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application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334125" y="2232025"/>
            <a:ext cx="387350" cy="177800"/>
            <a:chOff x="6334125" y="2232025"/>
            <a:chExt cx="387350" cy="177800"/>
          </a:xfrm>
        </p:grpSpPr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34125" y="2257425"/>
              <a:ext cx="152400" cy="1524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81775" y="2232025"/>
              <a:ext cx="139700" cy="111125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0942287" y="2216150"/>
            <a:ext cx="41529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91400D"/>
                </a:solidFill>
                <a:latin typeface="Segoe UI Semibold"/>
                <a:cs typeface="Segoe UI Semibold"/>
              </a:rPr>
              <a:t>Pending</a:t>
            </a:r>
            <a:endParaRPr sz="800">
              <a:latin typeface="Segoe UI Semibold"/>
              <a:cs typeface="Segoe UI Semibold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69075" y="2140585"/>
            <a:ext cx="3390265" cy="43815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208915">
              <a:lnSpc>
                <a:spcPct val="100000"/>
              </a:lnSpc>
              <a:spcBef>
                <a:spcPts val="645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Set</a:t>
            </a:r>
            <a:r>
              <a:rPr sz="950" spc="1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up</a:t>
            </a:r>
            <a:r>
              <a:rPr sz="950" spc="1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Test</a:t>
            </a:r>
            <a:r>
              <a:rPr sz="950" spc="1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Environment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Run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test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driver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verify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connection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component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works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correctly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81025" y="4324350"/>
            <a:ext cx="152400" cy="152400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720725" y="4292600"/>
            <a:ext cx="4398010" cy="602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Key</a:t>
            </a:r>
            <a:r>
              <a:rPr sz="1200" b="1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Configuration</a:t>
            </a:r>
            <a:r>
              <a:rPr sz="1200" b="1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Points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950" b="1" dirty="0">
                <a:solidFill>
                  <a:srgbClr val="1D3A5E"/>
                </a:solidFill>
                <a:latin typeface="Segoe UI"/>
                <a:cs typeface="Segoe UI"/>
              </a:rPr>
              <a:t>File</a:t>
            </a:r>
            <a:r>
              <a:rPr sz="950" b="1" spc="4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b="1" dirty="0">
                <a:solidFill>
                  <a:srgbClr val="1D3A5E"/>
                </a:solidFill>
                <a:latin typeface="Segoe UI"/>
                <a:cs typeface="Segoe UI"/>
              </a:rPr>
              <a:t>Location:</a:t>
            </a:r>
            <a:r>
              <a:rPr sz="950" b="1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Place</a:t>
            </a:r>
            <a:r>
              <a:rPr sz="950" spc="4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all</a:t>
            </a:r>
            <a:r>
              <a:rPr sz="950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files</a:t>
            </a:r>
            <a:r>
              <a:rPr sz="950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in</a:t>
            </a:r>
            <a:r>
              <a:rPr sz="950" spc="4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a</a:t>
            </a:r>
            <a:r>
              <a:rPr sz="950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dedicated</a:t>
            </a:r>
            <a:r>
              <a:rPr sz="950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subfolder,</a:t>
            </a:r>
            <a:r>
              <a:rPr sz="950" spc="4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not</a:t>
            </a:r>
            <a:r>
              <a:rPr sz="950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directly</a:t>
            </a:r>
            <a:r>
              <a:rPr sz="950" spc="4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under</a:t>
            </a:r>
            <a:r>
              <a:rPr sz="950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C:\</a:t>
            </a:r>
            <a:r>
              <a:rPr sz="950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"/>
                <a:cs typeface="Segoe UI"/>
              </a:rPr>
              <a:t>drive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330950" y="4721225"/>
            <a:ext cx="459676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1D3A5E"/>
                </a:solidFill>
                <a:latin typeface="Segoe UI"/>
                <a:cs typeface="Segoe UI"/>
              </a:rPr>
              <a:t>Security</a:t>
            </a:r>
            <a:r>
              <a:rPr sz="950" b="1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b="1" dirty="0">
                <a:solidFill>
                  <a:srgbClr val="1D3A5E"/>
                </a:solidFill>
                <a:latin typeface="Segoe UI"/>
                <a:cs typeface="Segoe UI"/>
              </a:rPr>
              <a:t>Note:</a:t>
            </a:r>
            <a:r>
              <a:rPr sz="950" b="1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Do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not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modify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PSMGenericClientWrapper.au3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-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it's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for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API</a:t>
            </a:r>
            <a:r>
              <a:rPr sz="950" spc="6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calls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-20" dirty="0">
                <a:solidFill>
                  <a:srgbClr val="1D3A5E"/>
                </a:solidFill>
                <a:latin typeface="Segoe UI"/>
                <a:cs typeface="Segoe UI"/>
              </a:rPr>
              <a:t>only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0" y="6793991"/>
            <a:ext cx="12192000" cy="64135"/>
          </a:xfrm>
          <a:custGeom>
            <a:avLst/>
            <a:gdLst/>
            <a:ahLst/>
            <a:cxnLst/>
            <a:rect l="l" t="t" r="r" b="b"/>
            <a:pathLst>
              <a:path w="12192000" h="64134">
                <a:moveTo>
                  <a:pt x="0" y="0"/>
                </a:moveTo>
                <a:lnTo>
                  <a:pt x="12191999" y="0"/>
                </a:lnTo>
                <a:lnTo>
                  <a:pt x="12191999" y="64008"/>
                </a:ln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215900"/>
            <a:ext cx="579374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PSMAutoItDispatcherSkeleton.au3</a:t>
            </a:r>
            <a:r>
              <a:rPr spc="-25" dirty="0"/>
              <a:t> 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1692" y="292100"/>
            <a:ext cx="19735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AutoIt Script Development 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Guide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7368" y="868679"/>
            <a:ext cx="7065645" cy="2834640"/>
            <a:chOff x="277368" y="868679"/>
            <a:chExt cx="7065645" cy="2834640"/>
          </a:xfrm>
        </p:grpSpPr>
        <p:sp>
          <p:nvSpPr>
            <p:cNvPr id="6" name="object 6"/>
            <p:cNvSpPr/>
            <p:nvPr/>
          </p:nvSpPr>
          <p:spPr>
            <a:xfrm>
              <a:off x="277368" y="868679"/>
              <a:ext cx="7065645" cy="2834640"/>
            </a:xfrm>
            <a:custGeom>
              <a:avLst/>
              <a:gdLst/>
              <a:ahLst/>
              <a:cxnLst/>
              <a:rect l="l" t="t" r="r" b="b"/>
              <a:pathLst>
                <a:path w="7065645" h="2834640">
                  <a:moveTo>
                    <a:pt x="7065263" y="2834639"/>
                  </a:moveTo>
                  <a:lnTo>
                    <a:pt x="0" y="2834639"/>
                  </a:lnTo>
                  <a:lnTo>
                    <a:pt x="0" y="0"/>
                  </a:lnTo>
                  <a:lnTo>
                    <a:pt x="7065263" y="0"/>
                  </a:lnTo>
                  <a:lnTo>
                    <a:pt x="7065263" y="93344"/>
                  </a:lnTo>
                  <a:lnTo>
                    <a:pt x="179831" y="93344"/>
                  </a:lnTo>
                  <a:lnTo>
                    <a:pt x="173263" y="93662"/>
                  </a:lnTo>
                  <a:lnTo>
                    <a:pt x="137554" y="108453"/>
                  </a:lnTo>
                  <a:lnTo>
                    <a:pt x="116011" y="140694"/>
                  </a:lnTo>
                  <a:lnTo>
                    <a:pt x="113156" y="160019"/>
                  </a:lnTo>
                  <a:lnTo>
                    <a:pt x="113156" y="2636519"/>
                  </a:lnTo>
                  <a:lnTo>
                    <a:pt x="124383" y="2673572"/>
                  </a:lnTo>
                  <a:lnTo>
                    <a:pt x="154317" y="2698120"/>
                  </a:lnTo>
                  <a:lnTo>
                    <a:pt x="179831" y="2703210"/>
                  </a:lnTo>
                  <a:lnTo>
                    <a:pt x="7065263" y="2703210"/>
                  </a:lnTo>
                  <a:lnTo>
                    <a:pt x="7065263" y="2834639"/>
                  </a:lnTo>
                  <a:close/>
                </a:path>
                <a:path w="7065645" h="2834640">
                  <a:moveTo>
                    <a:pt x="7065263" y="2703210"/>
                  </a:moveTo>
                  <a:lnTo>
                    <a:pt x="6885431" y="2703210"/>
                  </a:lnTo>
                  <a:lnTo>
                    <a:pt x="6891998" y="2702877"/>
                  </a:lnTo>
                  <a:lnTo>
                    <a:pt x="6898439" y="2701922"/>
                  </a:lnTo>
                  <a:lnTo>
                    <a:pt x="6932584" y="2683672"/>
                  </a:lnTo>
                  <a:lnTo>
                    <a:pt x="6950845" y="2649527"/>
                  </a:lnTo>
                  <a:lnTo>
                    <a:pt x="6952122" y="2636519"/>
                  </a:lnTo>
                  <a:lnTo>
                    <a:pt x="6952122" y="160019"/>
                  </a:lnTo>
                  <a:lnTo>
                    <a:pt x="6940882" y="122970"/>
                  </a:lnTo>
                  <a:lnTo>
                    <a:pt x="6910943" y="98419"/>
                  </a:lnTo>
                  <a:lnTo>
                    <a:pt x="6885431" y="93344"/>
                  </a:lnTo>
                  <a:lnTo>
                    <a:pt x="7065263" y="93344"/>
                  </a:lnTo>
                  <a:lnTo>
                    <a:pt x="7065263" y="270321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5762" y="957262"/>
              <a:ext cx="6848475" cy="2619375"/>
            </a:xfrm>
            <a:custGeom>
              <a:avLst/>
              <a:gdLst/>
              <a:ahLst/>
              <a:cxnLst/>
              <a:rect l="l" t="t" r="r" b="b"/>
              <a:pathLst>
                <a:path w="6848475" h="2619375">
                  <a:moveTo>
                    <a:pt x="6781723" y="2619375"/>
                  </a:moveTo>
                  <a:lnTo>
                    <a:pt x="66746" y="2619375"/>
                  </a:lnTo>
                  <a:lnTo>
                    <a:pt x="62101" y="2618917"/>
                  </a:lnTo>
                  <a:lnTo>
                    <a:pt x="24240" y="2601763"/>
                  </a:lnTo>
                  <a:lnTo>
                    <a:pt x="2287" y="2566473"/>
                  </a:lnTo>
                  <a:lnTo>
                    <a:pt x="0" y="2552623"/>
                  </a:lnTo>
                  <a:lnTo>
                    <a:pt x="0" y="2547937"/>
                  </a:lnTo>
                  <a:lnTo>
                    <a:pt x="0" y="66751"/>
                  </a:lnTo>
                  <a:lnTo>
                    <a:pt x="14645" y="27851"/>
                  </a:lnTo>
                  <a:lnTo>
                    <a:pt x="48432" y="3638"/>
                  </a:lnTo>
                  <a:lnTo>
                    <a:pt x="66746" y="0"/>
                  </a:lnTo>
                  <a:lnTo>
                    <a:pt x="6781723" y="0"/>
                  </a:lnTo>
                  <a:lnTo>
                    <a:pt x="6820623" y="14649"/>
                  </a:lnTo>
                  <a:lnTo>
                    <a:pt x="6844826" y="48434"/>
                  </a:lnTo>
                  <a:lnTo>
                    <a:pt x="6848475" y="66751"/>
                  </a:lnTo>
                  <a:lnTo>
                    <a:pt x="6848475" y="2552623"/>
                  </a:lnTo>
                  <a:lnTo>
                    <a:pt x="6833825" y="2591523"/>
                  </a:lnTo>
                  <a:lnTo>
                    <a:pt x="6800040" y="2615726"/>
                  </a:lnTo>
                  <a:lnTo>
                    <a:pt x="6786372" y="2618917"/>
                  </a:lnTo>
                  <a:lnTo>
                    <a:pt x="6781723" y="26193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5762" y="957262"/>
              <a:ext cx="6848475" cy="2619375"/>
            </a:xfrm>
            <a:custGeom>
              <a:avLst/>
              <a:gdLst/>
              <a:ahLst/>
              <a:cxnLst/>
              <a:rect l="l" t="t" r="r" b="b"/>
              <a:pathLst>
                <a:path w="6848475" h="2619375">
                  <a:moveTo>
                    <a:pt x="0" y="2547937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103"/>
                  </a:lnTo>
                  <a:lnTo>
                    <a:pt x="1372" y="57502"/>
                  </a:lnTo>
                  <a:lnTo>
                    <a:pt x="2287" y="52901"/>
                  </a:lnTo>
                  <a:lnTo>
                    <a:pt x="3642" y="48434"/>
                  </a:lnTo>
                  <a:lnTo>
                    <a:pt x="5437" y="44100"/>
                  </a:lnTo>
                  <a:lnTo>
                    <a:pt x="7233" y="39766"/>
                  </a:lnTo>
                  <a:lnTo>
                    <a:pt x="20923" y="20926"/>
                  </a:lnTo>
                  <a:lnTo>
                    <a:pt x="24240" y="17602"/>
                  </a:lnTo>
                  <a:lnTo>
                    <a:pt x="44099" y="5438"/>
                  </a:lnTo>
                  <a:lnTo>
                    <a:pt x="48432" y="3638"/>
                  </a:lnTo>
                  <a:lnTo>
                    <a:pt x="52899" y="2285"/>
                  </a:lnTo>
                  <a:lnTo>
                    <a:pt x="57500" y="1371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777037" y="0"/>
                  </a:lnTo>
                  <a:lnTo>
                    <a:pt x="6781723" y="0"/>
                  </a:lnTo>
                  <a:lnTo>
                    <a:pt x="6786372" y="457"/>
                  </a:lnTo>
                  <a:lnTo>
                    <a:pt x="6790972" y="1371"/>
                  </a:lnTo>
                  <a:lnTo>
                    <a:pt x="6795573" y="2285"/>
                  </a:lnTo>
                  <a:lnTo>
                    <a:pt x="6800040" y="3638"/>
                  </a:lnTo>
                  <a:lnTo>
                    <a:pt x="6804374" y="5438"/>
                  </a:lnTo>
                  <a:lnTo>
                    <a:pt x="6808708" y="7229"/>
                  </a:lnTo>
                  <a:lnTo>
                    <a:pt x="6827548" y="20926"/>
                  </a:lnTo>
                  <a:lnTo>
                    <a:pt x="6830863" y="24241"/>
                  </a:lnTo>
                  <a:lnTo>
                    <a:pt x="6843036" y="44100"/>
                  </a:lnTo>
                  <a:lnTo>
                    <a:pt x="6844826" y="48434"/>
                  </a:lnTo>
                  <a:lnTo>
                    <a:pt x="6846188" y="52901"/>
                  </a:lnTo>
                  <a:lnTo>
                    <a:pt x="6847103" y="57502"/>
                  </a:lnTo>
                  <a:lnTo>
                    <a:pt x="6848017" y="62103"/>
                  </a:lnTo>
                  <a:lnTo>
                    <a:pt x="6848475" y="66751"/>
                  </a:lnTo>
                  <a:lnTo>
                    <a:pt x="6848475" y="71437"/>
                  </a:lnTo>
                  <a:lnTo>
                    <a:pt x="6848475" y="2547937"/>
                  </a:lnTo>
                  <a:lnTo>
                    <a:pt x="6848475" y="2552623"/>
                  </a:lnTo>
                  <a:lnTo>
                    <a:pt x="6848017" y="2557272"/>
                  </a:lnTo>
                  <a:lnTo>
                    <a:pt x="6830863" y="2595133"/>
                  </a:lnTo>
                  <a:lnTo>
                    <a:pt x="6804374" y="2613936"/>
                  </a:lnTo>
                  <a:lnTo>
                    <a:pt x="6800040" y="2615726"/>
                  </a:lnTo>
                  <a:lnTo>
                    <a:pt x="6795573" y="2617089"/>
                  </a:lnTo>
                  <a:lnTo>
                    <a:pt x="6790972" y="2618003"/>
                  </a:lnTo>
                  <a:lnTo>
                    <a:pt x="6786372" y="2618917"/>
                  </a:lnTo>
                  <a:lnTo>
                    <a:pt x="6781723" y="2619375"/>
                  </a:lnTo>
                  <a:lnTo>
                    <a:pt x="6777037" y="2619375"/>
                  </a:lnTo>
                  <a:lnTo>
                    <a:pt x="71437" y="2619375"/>
                  </a:lnTo>
                  <a:lnTo>
                    <a:pt x="66746" y="2619375"/>
                  </a:lnTo>
                  <a:lnTo>
                    <a:pt x="62101" y="2618917"/>
                  </a:lnTo>
                  <a:lnTo>
                    <a:pt x="57500" y="2618003"/>
                  </a:lnTo>
                  <a:lnTo>
                    <a:pt x="52899" y="2617089"/>
                  </a:lnTo>
                  <a:lnTo>
                    <a:pt x="48432" y="2615726"/>
                  </a:lnTo>
                  <a:lnTo>
                    <a:pt x="44099" y="2613936"/>
                  </a:lnTo>
                  <a:lnTo>
                    <a:pt x="39765" y="2612145"/>
                  </a:lnTo>
                  <a:lnTo>
                    <a:pt x="9433" y="2583722"/>
                  </a:lnTo>
                  <a:lnTo>
                    <a:pt x="0" y="2552623"/>
                  </a:lnTo>
                  <a:lnTo>
                    <a:pt x="0" y="2547937"/>
                  </a:lnTo>
                  <a:close/>
                </a:path>
              </a:pathLst>
            </a:custGeom>
            <a:ln w="9525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1025" y="2000250"/>
              <a:ext cx="6457950" cy="1381125"/>
            </a:xfrm>
            <a:custGeom>
              <a:avLst/>
              <a:gdLst/>
              <a:ahLst/>
              <a:cxnLst/>
              <a:rect l="l" t="t" r="r" b="b"/>
              <a:pathLst>
                <a:path w="6457950" h="1381125">
                  <a:moveTo>
                    <a:pt x="6404552" y="1381125"/>
                  </a:moveTo>
                  <a:lnTo>
                    <a:pt x="53397" y="1381125"/>
                  </a:lnTo>
                  <a:lnTo>
                    <a:pt x="49681" y="1380763"/>
                  </a:lnTo>
                  <a:lnTo>
                    <a:pt x="14085" y="1361732"/>
                  </a:lnTo>
                  <a:lnTo>
                    <a:pt x="0" y="1327727"/>
                  </a:lnTo>
                  <a:lnTo>
                    <a:pt x="0" y="1323975"/>
                  </a:lnTo>
                  <a:lnTo>
                    <a:pt x="0" y="53397"/>
                  </a:lnTo>
                  <a:lnTo>
                    <a:pt x="19391" y="14087"/>
                  </a:lnTo>
                  <a:lnTo>
                    <a:pt x="53397" y="0"/>
                  </a:lnTo>
                  <a:lnTo>
                    <a:pt x="6404552" y="0"/>
                  </a:lnTo>
                  <a:lnTo>
                    <a:pt x="6443862" y="19392"/>
                  </a:lnTo>
                  <a:lnTo>
                    <a:pt x="6457950" y="53397"/>
                  </a:lnTo>
                  <a:lnTo>
                    <a:pt x="6457950" y="1327727"/>
                  </a:lnTo>
                  <a:lnTo>
                    <a:pt x="6438557" y="1367037"/>
                  </a:lnTo>
                  <a:lnTo>
                    <a:pt x="6408267" y="1380763"/>
                  </a:lnTo>
                  <a:lnTo>
                    <a:pt x="6404552" y="1381125"/>
                  </a:lnTo>
                  <a:close/>
                </a:path>
              </a:pathLst>
            </a:custGeom>
            <a:solidFill>
              <a:srgbClr val="1D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25" y="1181099"/>
              <a:ext cx="114300" cy="15240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68325" y="1149350"/>
            <a:ext cx="6007100" cy="709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Base</a:t>
            </a:r>
            <a:r>
              <a:rPr sz="1200" b="1" spc="-2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AutoIt</a:t>
            </a:r>
            <a:r>
              <a:rPr sz="1200" b="1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Script</a:t>
            </a:r>
            <a:r>
              <a:rPr sz="1200" b="1" spc="-2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Structure</a:t>
            </a:r>
            <a:endParaRPr sz="1200">
              <a:latin typeface="Segoe UI"/>
              <a:cs typeface="Segoe UI"/>
            </a:endParaRPr>
          </a:p>
          <a:p>
            <a:pPr marL="12700" marR="5080">
              <a:lnSpc>
                <a:spcPct val="113100"/>
              </a:lnSpc>
              <a:spcBef>
                <a:spcPts val="1095"/>
              </a:spcBef>
            </a:pP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The</a:t>
            </a:r>
            <a:r>
              <a:rPr sz="1050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Consolas"/>
                <a:cs typeface="Consolas"/>
              </a:rPr>
              <a:t>PSMAutoItDispatcherSkeleton.au3</a:t>
            </a:r>
            <a:r>
              <a:rPr sz="1050" spc="-290" dirty="0">
                <a:solidFill>
                  <a:srgbClr val="334054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is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the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foundation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for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developing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PSM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Universal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Connector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dispatchers.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It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provides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skeleton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script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that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you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customize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for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your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specific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application.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1200" y="2050414"/>
            <a:ext cx="5132070" cy="112077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950" spc="5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Include</a:t>
            </a:r>
            <a:r>
              <a:rPr sz="950" spc="5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the</a:t>
            </a:r>
            <a:r>
              <a:rPr sz="950" spc="5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PSM</a:t>
            </a:r>
            <a:r>
              <a:rPr sz="950" spc="5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wrapper</a:t>
            </a:r>
            <a:r>
              <a:rPr sz="950" spc="5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for</a:t>
            </a:r>
            <a:r>
              <a:rPr sz="950" spc="5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API</a:t>
            </a:r>
            <a:r>
              <a:rPr sz="950" spc="5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94A2B8"/>
                </a:solidFill>
                <a:latin typeface="Consolas"/>
                <a:cs typeface="Consolas"/>
              </a:rPr>
              <a:t>functions</a:t>
            </a:r>
            <a:endParaRPr sz="9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#include</a:t>
            </a:r>
            <a:r>
              <a:rPr sz="950" spc="85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"PSMGenericClientWrapper.au3"</a:t>
            </a:r>
            <a:r>
              <a:rPr sz="950" spc="90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950" spc="9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Do</a:t>
            </a:r>
            <a:r>
              <a:rPr sz="950" spc="9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not</a:t>
            </a:r>
            <a:r>
              <a:rPr sz="950" spc="9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modify</a:t>
            </a:r>
            <a:r>
              <a:rPr sz="950" spc="9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this</a:t>
            </a:r>
            <a:r>
              <a:rPr sz="950" spc="9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spc="-20" dirty="0">
                <a:solidFill>
                  <a:srgbClr val="94A2B8"/>
                </a:solidFill>
                <a:latin typeface="Consolas"/>
                <a:cs typeface="Consolas"/>
              </a:rPr>
              <a:t>file</a:t>
            </a:r>
            <a:endParaRPr sz="9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950" spc="7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CHANGE_ME:</a:t>
            </a:r>
            <a:r>
              <a:rPr sz="950" spc="7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Replace</a:t>
            </a:r>
            <a:r>
              <a:rPr sz="950" spc="7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with</a:t>
            </a:r>
            <a:r>
              <a:rPr sz="950" spc="7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your</a:t>
            </a:r>
            <a:r>
              <a:rPr sz="950" spc="7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application</a:t>
            </a:r>
            <a:r>
              <a:rPr sz="950" spc="7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spc="-20" dirty="0">
                <a:solidFill>
                  <a:srgbClr val="94A2B8"/>
                </a:solidFill>
                <a:latin typeface="Consolas"/>
                <a:cs typeface="Consolas"/>
              </a:rPr>
              <a:t>path</a:t>
            </a:r>
            <a:endParaRPr sz="950">
              <a:latin typeface="Consolas"/>
              <a:cs typeface="Consolas"/>
            </a:endParaRPr>
          </a:p>
          <a:p>
            <a:pPr marL="12700" marR="5080">
              <a:lnSpc>
                <a:spcPct val="151300"/>
              </a:lnSpc>
            </a:pP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Global</a:t>
            </a:r>
            <a:r>
              <a:rPr sz="950" spc="95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Const</a:t>
            </a:r>
            <a:r>
              <a:rPr sz="950" spc="95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ABE24"/>
                </a:solidFill>
                <a:latin typeface="Consolas"/>
                <a:cs typeface="Consolas"/>
              </a:rPr>
              <a:t>$CLIENT_EXECUTABLE</a:t>
            </a:r>
            <a:r>
              <a:rPr sz="950" spc="95" dirty="0">
                <a:solidFill>
                  <a:srgbClr val="FABE24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950" spc="95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5F2FB"/>
                </a:solidFill>
                <a:latin typeface="Consolas"/>
                <a:cs typeface="Consolas"/>
              </a:rPr>
              <a:t>"C:\Program</a:t>
            </a:r>
            <a:r>
              <a:rPr sz="950" spc="100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A5F2FB"/>
                </a:solidFill>
                <a:latin typeface="Consolas"/>
                <a:cs typeface="Consolas"/>
              </a:rPr>
              <a:t>Files\Vendor\Application.exe"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Global</a:t>
            </a:r>
            <a:r>
              <a:rPr sz="950" spc="60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Const</a:t>
            </a:r>
            <a:r>
              <a:rPr sz="950" spc="65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ABE24"/>
                </a:solidFill>
                <a:latin typeface="Consolas"/>
                <a:cs typeface="Consolas"/>
              </a:rPr>
              <a:t>$CLIENT_ARGS</a:t>
            </a:r>
            <a:r>
              <a:rPr sz="950" spc="60" dirty="0">
                <a:solidFill>
                  <a:srgbClr val="FABE24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950" spc="65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5F2FB"/>
                </a:solidFill>
                <a:latin typeface="Consolas"/>
                <a:cs typeface="Consolas"/>
              </a:rPr>
              <a:t>""</a:t>
            </a:r>
            <a:r>
              <a:rPr sz="950" spc="60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950" spc="6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Optional</a:t>
            </a:r>
            <a:r>
              <a:rPr sz="950" spc="6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94A2B8"/>
                </a:solidFill>
                <a:latin typeface="Consolas"/>
                <a:cs typeface="Consolas"/>
              </a:rPr>
              <a:t>arguments</a:t>
            </a:r>
            <a:endParaRPr sz="950">
              <a:latin typeface="Consolas"/>
              <a:cs typeface="Consola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77368" y="3688079"/>
            <a:ext cx="7065645" cy="1978660"/>
            <a:chOff x="277368" y="3688079"/>
            <a:chExt cx="7065645" cy="1978660"/>
          </a:xfrm>
        </p:grpSpPr>
        <p:sp>
          <p:nvSpPr>
            <p:cNvPr id="14" name="object 14"/>
            <p:cNvSpPr/>
            <p:nvPr/>
          </p:nvSpPr>
          <p:spPr>
            <a:xfrm>
              <a:off x="277368" y="3688079"/>
              <a:ext cx="7065645" cy="1978660"/>
            </a:xfrm>
            <a:custGeom>
              <a:avLst/>
              <a:gdLst/>
              <a:ahLst/>
              <a:cxnLst/>
              <a:rect l="l" t="t" r="r" b="b"/>
              <a:pathLst>
                <a:path w="7065645" h="1978660">
                  <a:moveTo>
                    <a:pt x="7065263" y="1978151"/>
                  </a:moveTo>
                  <a:lnTo>
                    <a:pt x="0" y="1978151"/>
                  </a:lnTo>
                  <a:lnTo>
                    <a:pt x="0" y="0"/>
                  </a:lnTo>
                  <a:lnTo>
                    <a:pt x="7065263" y="0"/>
                  </a:lnTo>
                  <a:lnTo>
                    <a:pt x="7065263" y="93360"/>
                  </a:lnTo>
                  <a:lnTo>
                    <a:pt x="179831" y="93360"/>
                  </a:lnTo>
                  <a:lnTo>
                    <a:pt x="173263" y="93675"/>
                  </a:lnTo>
                  <a:lnTo>
                    <a:pt x="137554" y="108449"/>
                  </a:lnTo>
                  <a:lnTo>
                    <a:pt x="116011" y="140697"/>
                  </a:lnTo>
                  <a:lnTo>
                    <a:pt x="113156" y="160019"/>
                  </a:lnTo>
                  <a:lnTo>
                    <a:pt x="113156" y="1779269"/>
                  </a:lnTo>
                  <a:lnTo>
                    <a:pt x="124383" y="1816322"/>
                  </a:lnTo>
                  <a:lnTo>
                    <a:pt x="154317" y="1840870"/>
                  </a:lnTo>
                  <a:lnTo>
                    <a:pt x="179831" y="1845960"/>
                  </a:lnTo>
                  <a:lnTo>
                    <a:pt x="7065263" y="1845960"/>
                  </a:lnTo>
                  <a:lnTo>
                    <a:pt x="7065263" y="1978151"/>
                  </a:lnTo>
                  <a:close/>
                </a:path>
                <a:path w="7065645" h="1978660">
                  <a:moveTo>
                    <a:pt x="7065263" y="1845960"/>
                  </a:moveTo>
                  <a:lnTo>
                    <a:pt x="6885431" y="1845960"/>
                  </a:lnTo>
                  <a:lnTo>
                    <a:pt x="6891998" y="1845627"/>
                  </a:lnTo>
                  <a:lnTo>
                    <a:pt x="6898439" y="1844672"/>
                  </a:lnTo>
                  <a:lnTo>
                    <a:pt x="6932584" y="1826422"/>
                  </a:lnTo>
                  <a:lnTo>
                    <a:pt x="6950845" y="1792277"/>
                  </a:lnTo>
                  <a:lnTo>
                    <a:pt x="6952122" y="1779269"/>
                  </a:lnTo>
                  <a:lnTo>
                    <a:pt x="6952122" y="160019"/>
                  </a:lnTo>
                  <a:lnTo>
                    <a:pt x="6940882" y="122967"/>
                  </a:lnTo>
                  <a:lnTo>
                    <a:pt x="6910943" y="98419"/>
                  </a:lnTo>
                  <a:lnTo>
                    <a:pt x="6885431" y="93360"/>
                  </a:lnTo>
                  <a:lnTo>
                    <a:pt x="7065263" y="93360"/>
                  </a:lnTo>
                  <a:lnTo>
                    <a:pt x="7065263" y="184596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5762" y="3776662"/>
              <a:ext cx="6848475" cy="1762125"/>
            </a:xfrm>
            <a:custGeom>
              <a:avLst/>
              <a:gdLst/>
              <a:ahLst/>
              <a:cxnLst/>
              <a:rect l="l" t="t" r="r" b="b"/>
              <a:pathLst>
                <a:path w="6848475" h="1762125">
                  <a:moveTo>
                    <a:pt x="6781723" y="1762125"/>
                  </a:moveTo>
                  <a:lnTo>
                    <a:pt x="66746" y="1762125"/>
                  </a:lnTo>
                  <a:lnTo>
                    <a:pt x="62101" y="1761667"/>
                  </a:lnTo>
                  <a:lnTo>
                    <a:pt x="24240" y="1744513"/>
                  </a:lnTo>
                  <a:lnTo>
                    <a:pt x="2287" y="1709223"/>
                  </a:lnTo>
                  <a:lnTo>
                    <a:pt x="0" y="1695373"/>
                  </a:lnTo>
                  <a:lnTo>
                    <a:pt x="0" y="1690687"/>
                  </a:lnTo>
                  <a:lnTo>
                    <a:pt x="0" y="66751"/>
                  </a:lnTo>
                  <a:lnTo>
                    <a:pt x="14645" y="27851"/>
                  </a:lnTo>
                  <a:lnTo>
                    <a:pt x="48432" y="3638"/>
                  </a:lnTo>
                  <a:lnTo>
                    <a:pt x="66746" y="0"/>
                  </a:lnTo>
                  <a:lnTo>
                    <a:pt x="6781723" y="0"/>
                  </a:lnTo>
                  <a:lnTo>
                    <a:pt x="6820623" y="14649"/>
                  </a:lnTo>
                  <a:lnTo>
                    <a:pt x="6844826" y="48434"/>
                  </a:lnTo>
                  <a:lnTo>
                    <a:pt x="6848475" y="66751"/>
                  </a:lnTo>
                  <a:lnTo>
                    <a:pt x="6848475" y="1695373"/>
                  </a:lnTo>
                  <a:lnTo>
                    <a:pt x="6833825" y="1734273"/>
                  </a:lnTo>
                  <a:lnTo>
                    <a:pt x="6800040" y="1758476"/>
                  </a:lnTo>
                  <a:lnTo>
                    <a:pt x="6786372" y="1761667"/>
                  </a:lnTo>
                  <a:lnTo>
                    <a:pt x="6781723" y="17621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5762" y="3776662"/>
              <a:ext cx="6848475" cy="1762125"/>
            </a:xfrm>
            <a:custGeom>
              <a:avLst/>
              <a:gdLst/>
              <a:ahLst/>
              <a:cxnLst/>
              <a:rect l="l" t="t" r="r" b="b"/>
              <a:pathLst>
                <a:path w="6848475" h="1762125">
                  <a:moveTo>
                    <a:pt x="0" y="1690687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102"/>
                  </a:lnTo>
                  <a:lnTo>
                    <a:pt x="17606" y="24241"/>
                  </a:lnTo>
                  <a:lnTo>
                    <a:pt x="20923" y="20926"/>
                  </a:lnTo>
                  <a:lnTo>
                    <a:pt x="24240" y="17602"/>
                  </a:lnTo>
                  <a:lnTo>
                    <a:pt x="44099" y="5438"/>
                  </a:lnTo>
                  <a:lnTo>
                    <a:pt x="48432" y="3638"/>
                  </a:lnTo>
                  <a:lnTo>
                    <a:pt x="52899" y="2286"/>
                  </a:lnTo>
                  <a:lnTo>
                    <a:pt x="57500" y="1371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777037" y="0"/>
                  </a:lnTo>
                  <a:lnTo>
                    <a:pt x="6781723" y="0"/>
                  </a:lnTo>
                  <a:lnTo>
                    <a:pt x="6786372" y="457"/>
                  </a:lnTo>
                  <a:lnTo>
                    <a:pt x="6790972" y="1371"/>
                  </a:lnTo>
                  <a:lnTo>
                    <a:pt x="6795573" y="2286"/>
                  </a:lnTo>
                  <a:lnTo>
                    <a:pt x="6800040" y="3638"/>
                  </a:lnTo>
                  <a:lnTo>
                    <a:pt x="6804374" y="5438"/>
                  </a:lnTo>
                  <a:lnTo>
                    <a:pt x="6808708" y="7229"/>
                  </a:lnTo>
                  <a:lnTo>
                    <a:pt x="6827548" y="20926"/>
                  </a:lnTo>
                  <a:lnTo>
                    <a:pt x="6830863" y="24241"/>
                  </a:lnTo>
                  <a:lnTo>
                    <a:pt x="6848017" y="62102"/>
                  </a:lnTo>
                  <a:lnTo>
                    <a:pt x="6848475" y="66751"/>
                  </a:lnTo>
                  <a:lnTo>
                    <a:pt x="6848475" y="71437"/>
                  </a:lnTo>
                  <a:lnTo>
                    <a:pt x="6848475" y="1690687"/>
                  </a:lnTo>
                  <a:lnTo>
                    <a:pt x="6848475" y="1695373"/>
                  </a:lnTo>
                  <a:lnTo>
                    <a:pt x="6848017" y="1700022"/>
                  </a:lnTo>
                  <a:lnTo>
                    <a:pt x="6830863" y="1737883"/>
                  </a:lnTo>
                  <a:lnTo>
                    <a:pt x="6827548" y="1741198"/>
                  </a:lnTo>
                  <a:lnTo>
                    <a:pt x="6824233" y="1744513"/>
                  </a:lnTo>
                  <a:lnTo>
                    <a:pt x="6804374" y="1756686"/>
                  </a:lnTo>
                  <a:lnTo>
                    <a:pt x="6800040" y="1758476"/>
                  </a:lnTo>
                  <a:lnTo>
                    <a:pt x="6795573" y="1759839"/>
                  </a:lnTo>
                  <a:lnTo>
                    <a:pt x="6790972" y="1760753"/>
                  </a:lnTo>
                  <a:lnTo>
                    <a:pt x="6786372" y="1761667"/>
                  </a:lnTo>
                  <a:lnTo>
                    <a:pt x="6781723" y="1762125"/>
                  </a:lnTo>
                  <a:lnTo>
                    <a:pt x="6777037" y="1762125"/>
                  </a:lnTo>
                  <a:lnTo>
                    <a:pt x="71437" y="1762125"/>
                  </a:lnTo>
                  <a:lnTo>
                    <a:pt x="66746" y="1762125"/>
                  </a:lnTo>
                  <a:lnTo>
                    <a:pt x="62101" y="1761667"/>
                  </a:lnTo>
                  <a:lnTo>
                    <a:pt x="57500" y="1760753"/>
                  </a:lnTo>
                  <a:lnTo>
                    <a:pt x="52899" y="1759839"/>
                  </a:lnTo>
                  <a:lnTo>
                    <a:pt x="48432" y="1758476"/>
                  </a:lnTo>
                  <a:lnTo>
                    <a:pt x="44099" y="1756686"/>
                  </a:lnTo>
                  <a:lnTo>
                    <a:pt x="39765" y="1754895"/>
                  </a:lnTo>
                  <a:lnTo>
                    <a:pt x="20923" y="1741198"/>
                  </a:lnTo>
                  <a:lnTo>
                    <a:pt x="17606" y="1737883"/>
                  </a:lnTo>
                  <a:lnTo>
                    <a:pt x="1372" y="1704622"/>
                  </a:lnTo>
                  <a:lnTo>
                    <a:pt x="457" y="1700022"/>
                  </a:lnTo>
                  <a:lnTo>
                    <a:pt x="0" y="1695373"/>
                  </a:lnTo>
                  <a:lnTo>
                    <a:pt x="0" y="1690687"/>
                  </a:lnTo>
                  <a:close/>
                </a:path>
              </a:pathLst>
            </a:custGeom>
            <a:ln w="9525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025" y="4000500"/>
              <a:ext cx="152400" cy="1524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1025" y="4378325"/>
              <a:ext cx="133350" cy="136525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796925" y="3968750"/>
            <a:ext cx="5575300" cy="537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Key</a:t>
            </a:r>
            <a:r>
              <a:rPr sz="1200" b="1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Editing</a:t>
            </a:r>
            <a:r>
              <a:rPr sz="1200" b="1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Points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1050" b="1" spc="-10" dirty="0">
                <a:solidFill>
                  <a:srgbClr val="334054"/>
                </a:solidFill>
                <a:latin typeface="Segoe UI"/>
                <a:cs typeface="Segoe UI"/>
              </a:rPr>
              <a:t>$CLIENT_EXECUTABLE: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Specify the full path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to the application executable you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want to 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launch.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81025" y="868679"/>
            <a:ext cx="11334115" cy="4798060"/>
            <a:chOff x="581025" y="868679"/>
            <a:chExt cx="11334115" cy="4798060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1025" y="4721224"/>
              <a:ext cx="133350" cy="13652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1025" y="5064124"/>
              <a:ext cx="133350" cy="13652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21879" y="868679"/>
              <a:ext cx="4492751" cy="479755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1600" y="1190624"/>
              <a:ext cx="177800" cy="13335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96925" y="4664075"/>
            <a:ext cx="55727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Main()</a:t>
            </a:r>
            <a:r>
              <a:rPr sz="1050" b="1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function:</a:t>
            </a:r>
            <a:r>
              <a:rPr sz="1050" b="1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Replace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the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"Handle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login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here!"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comment</a:t>
            </a:r>
            <a:r>
              <a:rPr sz="1050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with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your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login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automation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logic.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96925" y="5006975"/>
            <a:ext cx="51212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API</a:t>
            </a:r>
            <a:r>
              <a:rPr sz="1050" b="1" spc="-2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Integration:</a:t>
            </a:r>
            <a:r>
              <a:rPr sz="1050" b="1" spc="-2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Use</a:t>
            </a:r>
            <a:r>
              <a:rPr sz="1050" spc="-2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PSM</a:t>
            </a:r>
            <a:r>
              <a:rPr sz="1050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Universal</a:t>
            </a:r>
            <a:r>
              <a:rPr sz="1050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Connector</a:t>
            </a:r>
            <a:r>
              <a:rPr sz="1050" spc="-2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API</a:t>
            </a:r>
            <a:r>
              <a:rPr sz="1050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functions</a:t>
            </a:r>
            <a:r>
              <a:rPr sz="1050" spc="-2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for</a:t>
            </a:r>
            <a:r>
              <a:rPr sz="1050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session</a:t>
            </a:r>
            <a:r>
              <a:rPr sz="1050" spc="-2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management.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959725" y="1149350"/>
            <a:ext cx="10280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Required</a:t>
            </a:r>
            <a:r>
              <a:rPr sz="1200" b="1" spc="-4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Files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727950" y="1597025"/>
            <a:ext cx="273050" cy="2724150"/>
            <a:chOff x="7727950" y="1597025"/>
            <a:chExt cx="273050" cy="2724150"/>
          </a:xfrm>
        </p:grpSpPr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0500" y="1597025"/>
              <a:ext cx="101600" cy="13652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0500" y="2025650"/>
              <a:ext cx="101600" cy="13652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0500" y="2454275"/>
              <a:ext cx="101600" cy="1365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27950" y="3733800"/>
              <a:ext cx="107950" cy="1524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77175" y="4194175"/>
              <a:ext cx="123825" cy="127000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7993062" y="1577975"/>
            <a:ext cx="1951989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PSMAutoItDispatcherSkeleton.au3</a:t>
            </a:r>
            <a:endParaRPr sz="950">
              <a:latin typeface="Segoe UI Semibold"/>
              <a:cs typeface="Segoe UI Semibold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520330" y="1587500"/>
            <a:ext cx="10179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Base</a:t>
            </a:r>
            <a:r>
              <a:rPr sz="900" spc="-3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skeleton</a:t>
            </a:r>
            <a:r>
              <a:rPr sz="900" spc="-2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script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993062" y="2006600"/>
            <a:ext cx="174688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PSMGenericClientWrapper.au3</a:t>
            </a:r>
            <a:endParaRPr sz="950">
              <a:latin typeface="Segoe UI Semibold"/>
              <a:cs typeface="Segoe UI Semibold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151522" y="2016125"/>
            <a:ext cx="13868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API wrapper (don't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modify)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993062" y="2435225"/>
            <a:ext cx="153035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PSMGenericClientDriver.dll</a:t>
            </a:r>
            <a:endParaRPr sz="950">
              <a:latin typeface="Segoe UI Semibold"/>
              <a:cs typeface="Segoe UI Semibold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996390" y="2444750"/>
            <a:ext cx="5416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Test</a:t>
            </a:r>
            <a:r>
              <a:rPr sz="900" spc="-3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driver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893050" y="2863850"/>
            <a:ext cx="159512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PSMGenericClientDriver.xml</a:t>
            </a:r>
            <a:endParaRPr sz="950">
              <a:latin typeface="Segoe UI Semibold"/>
              <a:cs typeface="Segoe UI Semibold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609580" y="2873375"/>
            <a:ext cx="92836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Test</a:t>
            </a:r>
            <a:r>
              <a:rPr sz="900" spc="-3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configuration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902575" y="3702050"/>
            <a:ext cx="1324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Development</a:t>
            </a:r>
            <a:r>
              <a:rPr sz="1200" b="1" spc="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20" dirty="0">
                <a:solidFill>
                  <a:srgbClr val="1D3A5E"/>
                </a:solidFill>
                <a:latin typeface="Segoe UI"/>
                <a:cs typeface="Segoe UI"/>
              </a:rPr>
              <a:t>Tips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864475" y="4126865"/>
            <a:ext cx="301688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7480">
              <a:lnSpc>
                <a:spcPct val="131600"/>
              </a:lnSpc>
              <a:spcBef>
                <a:spcPts val="95"/>
              </a:spcBef>
            </a:pPr>
            <a:r>
              <a:rPr sz="950" b="1" dirty="0">
                <a:solidFill>
                  <a:srgbClr val="1D3A5E"/>
                </a:solidFill>
                <a:latin typeface="Segoe UI"/>
                <a:cs typeface="Segoe UI"/>
              </a:rPr>
              <a:t>Best</a:t>
            </a:r>
            <a:r>
              <a:rPr sz="950" b="1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b="1" dirty="0">
                <a:solidFill>
                  <a:srgbClr val="1D3A5E"/>
                </a:solidFill>
                <a:latin typeface="Segoe UI"/>
                <a:cs typeface="Segoe UI"/>
              </a:rPr>
              <a:t>Practice:</a:t>
            </a:r>
            <a:r>
              <a:rPr sz="950" b="1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Compile</a:t>
            </a:r>
            <a:r>
              <a:rPr sz="950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your</a:t>
            </a:r>
            <a:r>
              <a:rPr sz="950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AutoIt</a:t>
            </a:r>
            <a:r>
              <a:rPr sz="950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script</a:t>
            </a:r>
            <a:r>
              <a:rPr sz="950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to</a:t>
            </a:r>
            <a:r>
              <a:rPr sz="950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.exe</a:t>
            </a:r>
            <a:r>
              <a:rPr sz="950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-25" dirty="0">
                <a:solidFill>
                  <a:srgbClr val="1D3A5E"/>
                </a:solidFill>
                <a:latin typeface="Segoe UI"/>
                <a:cs typeface="Segoe UI"/>
              </a:rPr>
              <a:t>for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production</a:t>
            </a:r>
            <a:r>
              <a:rPr sz="950" spc="6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deployment</a:t>
            </a:r>
            <a:r>
              <a:rPr sz="950" spc="7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to</a:t>
            </a:r>
            <a:r>
              <a:rPr sz="950" spc="6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avoid</a:t>
            </a:r>
            <a:r>
              <a:rPr sz="950" spc="7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security</a:t>
            </a:r>
            <a:r>
              <a:rPr sz="950" spc="6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"/>
                <a:cs typeface="Segoe UI"/>
              </a:rPr>
              <a:t>risks.</a:t>
            </a:r>
            <a:endParaRPr sz="950">
              <a:latin typeface="Segoe UI"/>
              <a:cs typeface="Segoe UI"/>
            </a:endParaRPr>
          </a:p>
        </p:txBody>
      </p:sp>
      <p:pic>
        <p:nvPicPr>
          <p:cNvPr id="44" name="object 4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874000" y="4899025"/>
            <a:ext cx="130175" cy="111125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7864475" y="4822190"/>
            <a:ext cx="353758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7480">
              <a:lnSpc>
                <a:spcPct val="131600"/>
              </a:lnSpc>
              <a:spcBef>
                <a:spcPts val="95"/>
              </a:spcBef>
            </a:pPr>
            <a:r>
              <a:rPr sz="950" b="1" dirty="0">
                <a:solidFill>
                  <a:srgbClr val="91400D"/>
                </a:solidFill>
                <a:latin typeface="Segoe UI"/>
                <a:cs typeface="Segoe UI"/>
              </a:rPr>
              <a:t>Security:</a:t>
            </a:r>
            <a:r>
              <a:rPr sz="950" b="1" spc="4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Never</a:t>
            </a:r>
            <a:r>
              <a:rPr sz="950" spc="5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expose</a:t>
            </a:r>
            <a:r>
              <a:rPr sz="950" spc="5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credentials</a:t>
            </a:r>
            <a:r>
              <a:rPr sz="950" spc="5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in</a:t>
            </a:r>
            <a:r>
              <a:rPr sz="950" spc="5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the</a:t>
            </a:r>
            <a:r>
              <a:rPr sz="950" spc="5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UI</a:t>
            </a:r>
            <a:r>
              <a:rPr sz="950" spc="5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or</a:t>
            </a:r>
            <a:r>
              <a:rPr sz="950" spc="4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write</a:t>
            </a:r>
            <a:r>
              <a:rPr sz="950" spc="5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91400D"/>
                </a:solidFill>
                <a:latin typeface="Segoe UI"/>
                <a:cs typeface="Segoe UI"/>
              </a:rPr>
              <a:t>sensitive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data</a:t>
            </a:r>
            <a:r>
              <a:rPr sz="950" spc="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to</a:t>
            </a:r>
            <a:r>
              <a:rPr sz="950" spc="2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91400D"/>
                </a:solidFill>
                <a:latin typeface="Segoe UI"/>
                <a:cs typeface="Segoe UI"/>
              </a:rPr>
              <a:t>disk.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0" y="6793991"/>
            <a:ext cx="12192000" cy="64135"/>
          </a:xfrm>
          <a:custGeom>
            <a:avLst/>
            <a:gdLst/>
            <a:ahLst/>
            <a:cxnLst/>
            <a:rect l="l" t="t" r="r" b="b"/>
            <a:pathLst>
              <a:path w="12192000" h="64134">
                <a:moveTo>
                  <a:pt x="0" y="0"/>
                </a:moveTo>
                <a:lnTo>
                  <a:pt x="12191999" y="0"/>
                </a:lnTo>
                <a:lnTo>
                  <a:pt x="12191999" y="64008"/>
                </a:ln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14287" y="6858000"/>
                  </a:moveTo>
                  <a:lnTo>
                    <a:pt x="70548" y="6849288"/>
                  </a:lnTo>
                  <a:lnTo>
                    <a:pt x="33477" y="6824535"/>
                  </a:lnTo>
                  <a:lnTo>
                    <a:pt x="8699" y="6787439"/>
                  </a:lnTo>
                  <a:lnTo>
                    <a:pt x="0" y="6743700"/>
                  </a:lnTo>
                  <a:lnTo>
                    <a:pt x="0" y="6858000"/>
                  </a:lnTo>
                  <a:lnTo>
                    <a:pt x="114287" y="6858000"/>
                  </a:lnTo>
                  <a:close/>
                </a:path>
                <a:path w="12192000" h="6858000">
                  <a:moveTo>
                    <a:pt x="12191987" y="6743700"/>
                  </a:moveTo>
                  <a:lnTo>
                    <a:pt x="12183275" y="6787439"/>
                  </a:lnTo>
                  <a:lnTo>
                    <a:pt x="12158523" y="6824535"/>
                  </a:lnTo>
                  <a:lnTo>
                    <a:pt x="12121426" y="6849288"/>
                  </a:lnTo>
                  <a:lnTo>
                    <a:pt x="12077687" y="6858000"/>
                  </a:lnTo>
                  <a:lnTo>
                    <a:pt x="12191987" y="6858000"/>
                  </a:lnTo>
                  <a:lnTo>
                    <a:pt x="12191987" y="6743700"/>
                  </a:lnTo>
                  <a:close/>
                </a:path>
                <a:path w="12192000" h="6858000">
                  <a:moveTo>
                    <a:pt x="12191987" y="0"/>
                  </a:moveTo>
                  <a:lnTo>
                    <a:pt x="12077687" y="0"/>
                  </a:lnTo>
                  <a:lnTo>
                    <a:pt x="114287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0" y="114300"/>
                  </a:lnTo>
                  <a:lnTo>
                    <a:pt x="533" y="103047"/>
                  </a:lnTo>
                  <a:lnTo>
                    <a:pt x="2171" y="91998"/>
                  </a:lnTo>
                  <a:lnTo>
                    <a:pt x="19240" y="50787"/>
                  </a:lnTo>
                  <a:lnTo>
                    <a:pt x="50774" y="19253"/>
                  </a:lnTo>
                  <a:lnTo>
                    <a:pt x="68821" y="9525"/>
                  </a:lnTo>
                  <a:lnTo>
                    <a:pt x="12123141" y="9525"/>
                  </a:lnTo>
                  <a:lnTo>
                    <a:pt x="12158523" y="33489"/>
                  </a:lnTo>
                  <a:lnTo>
                    <a:pt x="12183275" y="70561"/>
                  </a:lnTo>
                  <a:lnTo>
                    <a:pt x="12191987" y="114300"/>
                  </a:lnTo>
                  <a:lnTo>
                    <a:pt x="12191987" y="9525"/>
                  </a:lnTo>
                  <a:lnTo>
                    <a:pt x="12191987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" y="9525"/>
              <a:ext cx="12172950" cy="68389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62" y="4762"/>
              <a:ext cx="12182475" cy="6848475"/>
            </a:xfrm>
            <a:custGeom>
              <a:avLst/>
              <a:gdLst/>
              <a:ahLst/>
              <a:cxnLst/>
              <a:rect l="l" t="t" r="r" b="b"/>
              <a:pathLst>
                <a:path w="12182475" h="6848475">
                  <a:moveTo>
                    <a:pt x="0" y="0"/>
                  </a:moveTo>
                  <a:lnTo>
                    <a:pt x="12182475" y="0"/>
                  </a:lnTo>
                  <a:lnTo>
                    <a:pt x="12182475" y="6848475"/>
                  </a:lnTo>
                  <a:lnTo>
                    <a:pt x="0" y="68484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0525" y="4286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51402" y="304800"/>
                  </a:moveTo>
                  <a:lnTo>
                    <a:pt x="53397" y="304800"/>
                  </a:lnTo>
                  <a:lnTo>
                    <a:pt x="49680" y="304434"/>
                  </a:lnTo>
                  <a:lnTo>
                    <a:pt x="14085" y="285408"/>
                  </a:lnTo>
                  <a:lnTo>
                    <a:pt x="0" y="251402"/>
                  </a:lnTo>
                  <a:lnTo>
                    <a:pt x="0" y="247650"/>
                  </a:lnTo>
                  <a:lnTo>
                    <a:pt x="0" y="53397"/>
                  </a:lnTo>
                  <a:lnTo>
                    <a:pt x="19391" y="14085"/>
                  </a:lnTo>
                  <a:lnTo>
                    <a:pt x="53397" y="0"/>
                  </a:lnTo>
                  <a:lnTo>
                    <a:pt x="251402" y="0"/>
                  </a:lnTo>
                  <a:lnTo>
                    <a:pt x="290714" y="19391"/>
                  </a:lnTo>
                  <a:lnTo>
                    <a:pt x="304800" y="53397"/>
                  </a:lnTo>
                  <a:lnTo>
                    <a:pt x="304800" y="251402"/>
                  </a:lnTo>
                  <a:lnTo>
                    <a:pt x="285408" y="290714"/>
                  </a:lnTo>
                  <a:lnTo>
                    <a:pt x="255118" y="304434"/>
                  </a:lnTo>
                  <a:lnTo>
                    <a:pt x="251402" y="304800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6752" y="503723"/>
              <a:ext cx="192345" cy="15460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96925" y="271145"/>
            <a:ext cx="3949065" cy="56832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800" b="0" dirty="0">
                <a:solidFill>
                  <a:srgbClr val="1D293B"/>
                </a:solidFill>
                <a:latin typeface="Segoe UI Semibold"/>
                <a:cs typeface="Segoe UI Semibold"/>
              </a:rPr>
              <a:t>PSM</a:t>
            </a:r>
            <a:r>
              <a:rPr sz="1800" b="0" spc="-45" dirty="0">
                <a:solidFill>
                  <a:srgbClr val="1D293B"/>
                </a:solidFill>
                <a:latin typeface="Segoe UI Semibold"/>
                <a:cs typeface="Segoe UI Semibold"/>
              </a:rPr>
              <a:t> </a:t>
            </a:r>
            <a:r>
              <a:rPr sz="1800" b="0" dirty="0">
                <a:solidFill>
                  <a:srgbClr val="1D293B"/>
                </a:solidFill>
                <a:latin typeface="Segoe UI Semibold"/>
                <a:cs typeface="Segoe UI Semibold"/>
              </a:rPr>
              <a:t>Custom</a:t>
            </a:r>
            <a:r>
              <a:rPr sz="1800" b="0" spc="-40" dirty="0">
                <a:solidFill>
                  <a:srgbClr val="1D293B"/>
                </a:solidFill>
                <a:latin typeface="Segoe UI Semibold"/>
                <a:cs typeface="Segoe UI Semibold"/>
              </a:rPr>
              <a:t> </a:t>
            </a:r>
            <a:r>
              <a:rPr sz="1800" b="0" dirty="0">
                <a:solidFill>
                  <a:srgbClr val="1D293B"/>
                </a:solidFill>
                <a:latin typeface="Segoe UI Semibold"/>
                <a:cs typeface="Segoe UI Semibold"/>
              </a:rPr>
              <a:t>Connector</a:t>
            </a:r>
            <a:r>
              <a:rPr sz="1800" b="0" spc="-40" dirty="0">
                <a:solidFill>
                  <a:srgbClr val="1D293B"/>
                </a:solidFill>
                <a:latin typeface="Segoe UI Semibold"/>
                <a:cs typeface="Segoe UI Semibold"/>
              </a:rPr>
              <a:t> </a:t>
            </a:r>
            <a:r>
              <a:rPr sz="1800" b="0" spc="-10" dirty="0">
                <a:solidFill>
                  <a:srgbClr val="1D293B"/>
                </a:solidFill>
                <a:latin typeface="Segoe UI Semibold"/>
                <a:cs typeface="Segoe UI Semibold"/>
              </a:rPr>
              <a:t>Development</a:t>
            </a:r>
            <a:endParaRPr sz="18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050" b="0" dirty="0">
                <a:solidFill>
                  <a:srgbClr val="64738B"/>
                </a:solidFill>
                <a:latin typeface="Segoe UI Semibold"/>
                <a:cs typeface="Segoe UI Semibold"/>
              </a:rPr>
              <a:t>Editing</a:t>
            </a:r>
            <a:r>
              <a:rPr sz="1050" b="0" spc="-55" dirty="0">
                <a:solidFill>
                  <a:srgbClr val="64738B"/>
                </a:solidFill>
                <a:latin typeface="Segoe UI Semibold"/>
                <a:cs typeface="Segoe UI Semibold"/>
              </a:rPr>
              <a:t> </a:t>
            </a:r>
            <a:r>
              <a:rPr sz="1050" b="0" dirty="0">
                <a:solidFill>
                  <a:srgbClr val="64738B"/>
                </a:solidFill>
                <a:latin typeface="Segoe UI Semibold"/>
                <a:cs typeface="Segoe UI Semibold"/>
              </a:rPr>
              <a:t>$CLIENT_EXECUTABLE</a:t>
            </a:r>
            <a:r>
              <a:rPr sz="1050" b="0" spc="-50" dirty="0">
                <a:solidFill>
                  <a:srgbClr val="64738B"/>
                </a:solidFill>
                <a:latin typeface="Segoe UI Semibold"/>
                <a:cs typeface="Segoe UI Semibold"/>
              </a:rPr>
              <a:t> </a:t>
            </a:r>
            <a:r>
              <a:rPr sz="1050" b="0" spc="-20" dirty="0">
                <a:solidFill>
                  <a:srgbClr val="64738B"/>
                </a:solidFill>
                <a:latin typeface="Segoe UI Semibold"/>
                <a:cs typeface="Segoe UI Semibold"/>
              </a:rPr>
              <a:t>Path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03890" y="492125"/>
            <a:ext cx="291020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4738B"/>
                </a:solidFill>
                <a:latin typeface="Segoe UI"/>
                <a:cs typeface="Segoe UI"/>
              </a:rPr>
              <a:t>Step</a:t>
            </a:r>
            <a:r>
              <a:rPr sz="105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4738B"/>
                </a:solidFill>
                <a:latin typeface="Segoe UI"/>
                <a:cs typeface="Segoe UI"/>
              </a:rPr>
              <a:t>2</a:t>
            </a:r>
            <a:r>
              <a:rPr sz="105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4738B"/>
                </a:solidFill>
                <a:latin typeface="Segoe UI"/>
                <a:cs typeface="Segoe UI"/>
              </a:rPr>
              <a:t>of</a:t>
            </a:r>
            <a:r>
              <a:rPr sz="105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4738B"/>
                </a:solidFill>
                <a:latin typeface="Segoe UI"/>
                <a:cs typeface="Segoe UI"/>
              </a:rPr>
              <a:t>4:</a:t>
            </a:r>
            <a:r>
              <a:rPr sz="105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4738B"/>
                </a:solidFill>
                <a:latin typeface="Segoe UI"/>
                <a:cs typeface="Segoe UI"/>
              </a:rPr>
              <a:t>Configure</a:t>
            </a:r>
            <a:r>
              <a:rPr sz="105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105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4738B"/>
                </a:solidFill>
                <a:latin typeface="Segoe UI"/>
                <a:cs typeface="Segoe UI"/>
              </a:rPr>
              <a:t>target</a:t>
            </a:r>
            <a:r>
              <a:rPr sz="105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4738B"/>
                </a:solidFill>
                <a:latin typeface="Segoe UI"/>
                <a:cs typeface="Segoe UI"/>
              </a:rPr>
              <a:t>application</a:t>
            </a:r>
            <a:r>
              <a:rPr sz="105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64738B"/>
                </a:solidFill>
                <a:latin typeface="Segoe UI"/>
                <a:cs typeface="Segoe UI"/>
              </a:rPr>
              <a:t>path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50519" y="932687"/>
            <a:ext cx="4556760" cy="2002789"/>
            <a:chOff x="350519" y="932687"/>
            <a:chExt cx="4556760" cy="2002789"/>
          </a:xfrm>
        </p:grpSpPr>
        <p:sp>
          <p:nvSpPr>
            <p:cNvPr id="11" name="object 11"/>
            <p:cNvSpPr/>
            <p:nvPr/>
          </p:nvSpPr>
          <p:spPr>
            <a:xfrm>
              <a:off x="350519" y="932687"/>
              <a:ext cx="4556760" cy="2002789"/>
            </a:xfrm>
            <a:custGeom>
              <a:avLst/>
              <a:gdLst/>
              <a:ahLst/>
              <a:cxnLst/>
              <a:rect l="l" t="t" r="r" b="b"/>
              <a:pathLst>
                <a:path w="4556760" h="2002789">
                  <a:moveTo>
                    <a:pt x="4556759" y="2002535"/>
                  </a:moveTo>
                  <a:lnTo>
                    <a:pt x="0" y="2002535"/>
                  </a:lnTo>
                  <a:lnTo>
                    <a:pt x="0" y="0"/>
                  </a:lnTo>
                  <a:lnTo>
                    <a:pt x="4556759" y="0"/>
                  </a:lnTo>
                  <a:lnTo>
                    <a:pt x="4556759" y="38861"/>
                  </a:lnTo>
                  <a:lnTo>
                    <a:pt x="116204" y="38861"/>
                  </a:lnTo>
                  <a:lnTo>
                    <a:pt x="109636" y="39179"/>
                  </a:lnTo>
                  <a:lnTo>
                    <a:pt x="73927" y="53970"/>
                  </a:lnTo>
                  <a:lnTo>
                    <a:pt x="52384" y="86211"/>
                  </a:lnTo>
                  <a:lnTo>
                    <a:pt x="49529" y="105536"/>
                  </a:lnTo>
                  <a:lnTo>
                    <a:pt x="49529" y="1877186"/>
                  </a:lnTo>
                  <a:lnTo>
                    <a:pt x="60756" y="1914236"/>
                  </a:lnTo>
                  <a:lnTo>
                    <a:pt x="90690" y="1938787"/>
                  </a:lnTo>
                  <a:lnTo>
                    <a:pt x="116204" y="1943861"/>
                  </a:lnTo>
                  <a:lnTo>
                    <a:pt x="4556759" y="1943861"/>
                  </a:lnTo>
                  <a:lnTo>
                    <a:pt x="4556759" y="2002535"/>
                  </a:lnTo>
                  <a:close/>
                </a:path>
                <a:path w="4556760" h="2002789">
                  <a:moveTo>
                    <a:pt x="4556759" y="1943861"/>
                  </a:moveTo>
                  <a:lnTo>
                    <a:pt x="4440539" y="1943861"/>
                  </a:lnTo>
                  <a:lnTo>
                    <a:pt x="4447123" y="1943544"/>
                  </a:lnTo>
                  <a:lnTo>
                    <a:pt x="4453573" y="1942593"/>
                  </a:lnTo>
                  <a:lnTo>
                    <a:pt x="4487692" y="1924333"/>
                  </a:lnTo>
                  <a:lnTo>
                    <a:pt x="4505953" y="1890196"/>
                  </a:lnTo>
                  <a:lnTo>
                    <a:pt x="4507229" y="1877186"/>
                  </a:lnTo>
                  <a:lnTo>
                    <a:pt x="4507229" y="105536"/>
                  </a:lnTo>
                  <a:lnTo>
                    <a:pt x="4495990" y="68487"/>
                  </a:lnTo>
                  <a:lnTo>
                    <a:pt x="4466081" y="43936"/>
                  </a:lnTo>
                  <a:lnTo>
                    <a:pt x="4440539" y="38861"/>
                  </a:lnTo>
                  <a:lnTo>
                    <a:pt x="4556759" y="38861"/>
                  </a:lnTo>
                  <a:lnTo>
                    <a:pt x="4556759" y="194386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5287" y="966787"/>
              <a:ext cx="4467225" cy="1914525"/>
            </a:xfrm>
            <a:custGeom>
              <a:avLst/>
              <a:gdLst/>
              <a:ahLst/>
              <a:cxnLst/>
              <a:rect l="l" t="t" r="r" b="b"/>
              <a:pathLst>
                <a:path w="4467225" h="1914525">
                  <a:moveTo>
                    <a:pt x="4400473" y="1914525"/>
                  </a:moveTo>
                  <a:lnTo>
                    <a:pt x="66746" y="1914525"/>
                  </a:lnTo>
                  <a:lnTo>
                    <a:pt x="62101" y="1914067"/>
                  </a:lnTo>
                  <a:lnTo>
                    <a:pt x="24240" y="1896922"/>
                  </a:lnTo>
                  <a:lnTo>
                    <a:pt x="2287" y="1861623"/>
                  </a:lnTo>
                  <a:lnTo>
                    <a:pt x="0" y="1847773"/>
                  </a:lnTo>
                  <a:lnTo>
                    <a:pt x="0" y="1843087"/>
                  </a:lnTo>
                  <a:lnTo>
                    <a:pt x="0" y="66751"/>
                  </a:lnTo>
                  <a:lnTo>
                    <a:pt x="14645" y="27851"/>
                  </a:lnTo>
                  <a:lnTo>
                    <a:pt x="48432" y="3638"/>
                  </a:lnTo>
                  <a:lnTo>
                    <a:pt x="66746" y="0"/>
                  </a:lnTo>
                  <a:lnTo>
                    <a:pt x="4400473" y="0"/>
                  </a:lnTo>
                  <a:lnTo>
                    <a:pt x="4439373" y="14649"/>
                  </a:lnTo>
                  <a:lnTo>
                    <a:pt x="4463576" y="48434"/>
                  </a:lnTo>
                  <a:lnTo>
                    <a:pt x="4467225" y="66751"/>
                  </a:lnTo>
                  <a:lnTo>
                    <a:pt x="4467225" y="1847773"/>
                  </a:lnTo>
                  <a:lnTo>
                    <a:pt x="4452575" y="1886673"/>
                  </a:lnTo>
                  <a:lnTo>
                    <a:pt x="4418790" y="1910876"/>
                  </a:lnTo>
                  <a:lnTo>
                    <a:pt x="4405122" y="1914067"/>
                  </a:lnTo>
                  <a:lnTo>
                    <a:pt x="4400473" y="19145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95287" y="966787"/>
              <a:ext cx="4467225" cy="1914525"/>
            </a:xfrm>
            <a:custGeom>
              <a:avLst/>
              <a:gdLst/>
              <a:ahLst/>
              <a:cxnLst/>
              <a:rect l="l" t="t" r="r" b="b"/>
              <a:pathLst>
                <a:path w="4467225" h="1914525">
                  <a:moveTo>
                    <a:pt x="0" y="1843087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103"/>
                  </a:lnTo>
                  <a:lnTo>
                    <a:pt x="1372" y="57502"/>
                  </a:lnTo>
                  <a:lnTo>
                    <a:pt x="2287" y="52901"/>
                  </a:lnTo>
                  <a:lnTo>
                    <a:pt x="3642" y="48434"/>
                  </a:lnTo>
                  <a:lnTo>
                    <a:pt x="5437" y="44100"/>
                  </a:lnTo>
                  <a:lnTo>
                    <a:pt x="7233" y="39766"/>
                  </a:lnTo>
                  <a:lnTo>
                    <a:pt x="20923" y="20926"/>
                  </a:lnTo>
                  <a:lnTo>
                    <a:pt x="24240" y="17602"/>
                  </a:lnTo>
                  <a:lnTo>
                    <a:pt x="44099" y="5438"/>
                  </a:lnTo>
                  <a:lnTo>
                    <a:pt x="48432" y="3638"/>
                  </a:lnTo>
                  <a:lnTo>
                    <a:pt x="52899" y="2285"/>
                  </a:lnTo>
                  <a:lnTo>
                    <a:pt x="57500" y="1371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4395787" y="0"/>
                  </a:lnTo>
                  <a:lnTo>
                    <a:pt x="4400473" y="0"/>
                  </a:lnTo>
                  <a:lnTo>
                    <a:pt x="4405122" y="457"/>
                  </a:lnTo>
                  <a:lnTo>
                    <a:pt x="4409722" y="1371"/>
                  </a:lnTo>
                  <a:lnTo>
                    <a:pt x="4414323" y="2285"/>
                  </a:lnTo>
                  <a:lnTo>
                    <a:pt x="4418790" y="3638"/>
                  </a:lnTo>
                  <a:lnTo>
                    <a:pt x="4423124" y="5438"/>
                  </a:lnTo>
                  <a:lnTo>
                    <a:pt x="4427458" y="7229"/>
                  </a:lnTo>
                  <a:lnTo>
                    <a:pt x="4446298" y="20926"/>
                  </a:lnTo>
                  <a:lnTo>
                    <a:pt x="4449613" y="24241"/>
                  </a:lnTo>
                  <a:lnTo>
                    <a:pt x="4461786" y="44100"/>
                  </a:lnTo>
                  <a:lnTo>
                    <a:pt x="4463576" y="48434"/>
                  </a:lnTo>
                  <a:lnTo>
                    <a:pt x="4464939" y="52901"/>
                  </a:lnTo>
                  <a:lnTo>
                    <a:pt x="4465853" y="57502"/>
                  </a:lnTo>
                  <a:lnTo>
                    <a:pt x="4466767" y="62103"/>
                  </a:lnTo>
                  <a:lnTo>
                    <a:pt x="4467225" y="66751"/>
                  </a:lnTo>
                  <a:lnTo>
                    <a:pt x="4467225" y="71437"/>
                  </a:lnTo>
                  <a:lnTo>
                    <a:pt x="4467225" y="1843087"/>
                  </a:lnTo>
                  <a:lnTo>
                    <a:pt x="4467225" y="1847773"/>
                  </a:lnTo>
                  <a:lnTo>
                    <a:pt x="4466767" y="1852422"/>
                  </a:lnTo>
                  <a:lnTo>
                    <a:pt x="4465853" y="1857022"/>
                  </a:lnTo>
                  <a:lnTo>
                    <a:pt x="4464939" y="1861623"/>
                  </a:lnTo>
                  <a:lnTo>
                    <a:pt x="4463576" y="1866090"/>
                  </a:lnTo>
                  <a:lnTo>
                    <a:pt x="4461786" y="1870424"/>
                  </a:lnTo>
                  <a:lnTo>
                    <a:pt x="4459995" y="1874758"/>
                  </a:lnTo>
                  <a:lnTo>
                    <a:pt x="4446298" y="1893598"/>
                  </a:lnTo>
                  <a:lnTo>
                    <a:pt x="4442983" y="1896922"/>
                  </a:lnTo>
                  <a:lnTo>
                    <a:pt x="4423124" y="1909086"/>
                  </a:lnTo>
                  <a:lnTo>
                    <a:pt x="4418790" y="1910876"/>
                  </a:lnTo>
                  <a:lnTo>
                    <a:pt x="4414323" y="1912239"/>
                  </a:lnTo>
                  <a:lnTo>
                    <a:pt x="4409722" y="1913153"/>
                  </a:lnTo>
                  <a:lnTo>
                    <a:pt x="4405122" y="1914067"/>
                  </a:lnTo>
                  <a:lnTo>
                    <a:pt x="4400473" y="1914525"/>
                  </a:lnTo>
                  <a:lnTo>
                    <a:pt x="4395787" y="1914525"/>
                  </a:lnTo>
                  <a:lnTo>
                    <a:pt x="71437" y="1914525"/>
                  </a:lnTo>
                  <a:lnTo>
                    <a:pt x="66746" y="1914525"/>
                  </a:lnTo>
                  <a:lnTo>
                    <a:pt x="62101" y="1914067"/>
                  </a:lnTo>
                  <a:lnTo>
                    <a:pt x="57500" y="1913153"/>
                  </a:lnTo>
                  <a:lnTo>
                    <a:pt x="52899" y="1912239"/>
                  </a:lnTo>
                  <a:lnTo>
                    <a:pt x="48432" y="1910876"/>
                  </a:lnTo>
                  <a:lnTo>
                    <a:pt x="44099" y="1909086"/>
                  </a:lnTo>
                  <a:lnTo>
                    <a:pt x="39765" y="1907295"/>
                  </a:lnTo>
                  <a:lnTo>
                    <a:pt x="20923" y="1893598"/>
                  </a:lnTo>
                  <a:lnTo>
                    <a:pt x="17606" y="1890283"/>
                  </a:lnTo>
                  <a:lnTo>
                    <a:pt x="5437" y="1870424"/>
                  </a:lnTo>
                  <a:lnTo>
                    <a:pt x="3642" y="1866090"/>
                  </a:lnTo>
                  <a:lnTo>
                    <a:pt x="2287" y="1861623"/>
                  </a:lnTo>
                  <a:lnTo>
                    <a:pt x="1372" y="1857022"/>
                  </a:lnTo>
                  <a:lnTo>
                    <a:pt x="457" y="1852422"/>
                  </a:lnTo>
                  <a:lnTo>
                    <a:pt x="0" y="1847773"/>
                  </a:lnTo>
                  <a:lnTo>
                    <a:pt x="0" y="1843087"/>
                  </a:lnTo>
                  <a:close/>
                </a:path>
              </a:pathLst>
            </a:custGeom>
            <a:ln w="9525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6259" y="1152524"/>
              <a:ext cx="144750" cy="15237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2449" y="1438274"/>
              <a:ext cx="228600" cy="22860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30981" y="1473200"/>
            <a:ext cx="717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1</a:t>
            </a:r>
            <a:endParaRPr sz="900">
              <a:latin typeface="Segoe UI Semibold"/>
              <a:cs typeface="Segoe UI Semibold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2450" y="1905000"/>
            <a:ext cx="228600" cy="22860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22201" y="1939925"/>
            <a:ext cx="88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2</a:t>
            </a:r>
            <a:endParaRPr sz="900">
              <a:latin typeface="Segoe UI Semibold"/>
              <a:cs typeface="Segoe UI Semibold"/>
            </a:endParaRPr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2450" y="2371725"/>
            <a:ext cx="228600" cy="22860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22201" y="2406650"/>
            <a:ext cx="88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3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8350" y="1120775"/>
            <a:ext cx="2671445" cy="1610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D293B"/>
                </a:solidFill>
                <a:latin typeface="Segoe UI Semibold"/>
                <a:cs typeface="Segoe UI Semibold"/>
              </a:rPr>
              <a:t>Configuration</a:t>
            </a:r>
            <a:r>
              <a:rPr sz="1200" spc="-80" dirty="0">
                <a:solidFill>
                  <a:srgbClr val="1D293B"/>
                </a:solidFill>
                <a:latin typeface="Segoe UI Semibold"/>
                <a:cs typeface="Segoe UI Semibold"/>
              </a:rPr>
              <a:t> </a:t>
            </a:r>
            <a:r>
              <a:rPr sz="1200" spc="-20" dirty="0">
                <a:solidFill>
                  <a:srgbClr val="1D293B"/>
                </a:solidFill>
                <a:latin typeface="Segoe UI Semibold"/>
                <a:cs typeface="Segoe UI Semibold"/>
              </a:rPr>
              <a:t>Steps</a:t>
            </a:r>
            <a:endParaRPr sz="1200">
              <a:latin typeface="Segoe UI Semibold"/>
              <a:cs typeface="Segoe UI Semibold"/>
            </a:endParaRPr>
          </a:p>
          <a:p>
            <a:pPr marL="165100">
              <a:lnSpc>
                <a:spcPct val="100000"/>
              </a:lnSpc>
              <a:spcBef>
                <a:spcPts val="1035"/>
              </a:spcBef>
            </a:pPr>
            <a:r>
              <a:rPr sz="1050" dirty="0">
                <a:solidFill>
                  <a:srgbClr val="1D293B"/>
                </a:solidFill>
                <a:latin typeface="Segoe UI Semibold"/>
                <a:cs typeface="Segoe UI Semibold"/>
              </a:rPr>
              <a:t>Set</a:t>
            </a:r>
            <a:r>
              <a:rPr sz="1050" spc="-20" dirty="0">
                <a:solidFill>
                  <a:srgbClr val="1D293B"/>
                </a:solidFill>
                <a:latin typeface="Segoe UI Semibold"/>
                <a:cs typeface="Segoe UI Semibold"/>
              </a:rPr>
              <a:t> </a:t>
            </a:r>
            <a:r>
              <a:rPr sz="1050" spc="-10" dirty="0">
                <a:solidFill>
                  <a:srgbClr val="1D293B"/>
                </a:solidFill>
                <a:latin typeface="Segoe UI Semibold"/>
                <a:cs typeface="Segoe UI Semibold"/>
              </a:rPr>
              <a:t>$CLIENT_EXECUTABLE</a:t>
            </a:r>
            <a:endParaRPr sz="1050">
              <a:latin typeface="Segoe UI Semibold"/>
              <a:cs typeface="Segoe UI Semibold"/>
            </a:endParaRPr>
          </a:p>
          <a:p>
            <a:pPr marL="165100">
              <a:lnSpc>
                <a:spcPct val="100000"/>
              </a:lnSpc>
              <a:spcBef>
                <a:spcPts val="315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Specify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full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path to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application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executable</a:t>
            </a:r>
            <a:endParaRPr sz="900">
              <a:latin typeface="Segoe UI"/>
              <a:cs typeface="Segoe UI"/>
            </a:endParaRPr>
          </a:p>
          <a:p>
            <a:pPr marL="165100">
              <a:lnSpc>
                <a:spcPct val="100000"/>
              </a:lnSpc>
              <a:spcBef>
                <a:spcPts val="1020"/>
              </a:spcBef>
            </a:pPr>
            <a:r>
              <a:rPr sz="1050" dirty="0">
                <a:solidFill>
                  <a:srgbClr val="1D293B"/>
                </a:solidFill>
                <a:latin typeface="Segoe UI Semibold"/>
                <a:cs typeface="Segoe UI Semibold"/>
              </a:rPr>
              <a:t>Configure</a:t>
            </a:r>
            <a:r>
              <a:rPr sz="1050" spc="-60" dirty="0">
                <a:solidFill>
                  <a:srgbClr val="1D293B"/>
                </a:solidFill>
                <a:latin typeface="Segoe UI Semibold"/>
                <a:cs typeface="Segoe UI Semibold"/>
              </a:rPr>
              <a:t> </a:t>
            </a:r>
            <a:r>
              <a:rPr sz="1050" spc="-10" dirty="0">
                <a:solidFill>
                  <a:srgbClr val="1D293B"/>
                </a:solidFill>
                <a:latin typeface="Segoe UI Semibold"/>
                <a:cs typeface="Segoe UI Semibold"/>
              </a:rPr>
              <a:t>$CLIENT_ARGS</a:t>
            </a:r>
            <a:endParaRPr sz="1050">
              <a:latin typeface="Segoe UI Semibold"/>
              <a:cs typeface="Segoe UI Semibold"/>
            </a:endParaRPr>
          </a:p>
          <a:p>
            <a:pPr marL="165100">
              <a:lnSpc>
                <a:spcPct val="100000"/>
              </a:lnSpc>
              <a:spcBef>
                <a:spcPts val="315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Add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optional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command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line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arguments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if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needed</a:t>
            </a:r>
            <a:endParaRPr sz="900">
              <a:latin typeface="Segoe UI"/>
              <a:cs typeface="Segoe UI"/>
            </a:endParaRPr>
          </a:p>
          <a:p>
            <a:pPr marL="165100">
              <a:lnSpc>
                <a:spcPct val="100000"/>
              </a:lnSpc>
              <a:spcBef>
                <a:spcPts val="1020"/>
              </a:spcBef>
            </a:pPr>
            <a:r>
              <a:rPr sz="1050" dirty="0">
                <a:solidFill>
                  <a:srgbClr val="1D293B"/>
                </a:solidFill>
                <a:latin typeface="Segoe UI Semibold"/>
                <a:cs typeface="Segoe UI Semibold"/>
              </a:rPr>
              <a:t>Update</a:t>
            </a:r>
            <a:r>
              <a:rPr sz="1050" spc="-45" dirty="0">
                <a:solidFill>
                  <a:srgbClr val="1D293B"/>
                </a:solidFill>
                <a:latin typeface="Segoe UI Semibold"/>
                <a:cs typeface="Segoe UI Semibold"/>
              </a:rPr>
              <a:t> </a:t>
            </a:r>
            <a:r>
              <a:rPr sz="1050" spc="-10" dirty="0">
                <a:solidFill>
                  <a:srgbClr val="1D293B"/>
                </a:solidFill>
                <a:latin typeface="Segoe UI Semibold"/>
                <a:cs typeface="Segoe UI Semibold"/>
              </a:rPr>
              <a:t>LaunchClient()</a:t>
            </a:r>
            <a:endParaRPr sz="1050">
              <a:latin typeface="Segoe UI Semibold"/>
              <a:cs typeface="Segoe UI Semibold"/>
            </a:endParaRPr>
          </a:p>
          <a:p>
            <a:pPr marL="165100">
              <a:lnSpc>
                <a:spcPct val="100000"/>
              </a:lnSpc>
              <a:spcBef>
                <a:spcPts val="315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Implement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function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launch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application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50519" y="3008375"/>
            <a:ext cx="4556760" cy="1487805"/>
            <a:chOff x="350519" y="3008375"/>
            <a:chExt cx="4556760" cy="1487805"/>
          </a:xfrm>
        </p:grpSpPr>
        <p:sp>
          <p:nvSpPr>
            <p:cNvPr id="23" name="object 23"/>
            <p:cNvSpPr/>
            <p:nvPr/>
          </p:nvSpPr>
          <p:spPr>
            <a:xfrm>
              <a:off x="350519" y="3008375"/>
              <a:ext cx="4556760" cy="1487805"/>
            </a:xfrm>
            <a:custGeom>
              <a:avLst/>
              <a:gdLst/>
              <a:ahLst/>
              <a:cxnLst/>
              <a:rect l="l" t="t" r="r" b="b"/>
              <a:pathLst>
                <a:path w="4556760" h="1487804">
                  <a:moveTo>
                    <a:pt x="4556759" y="1487423"/>
                  </a:moveTo>
                  <a:lnTo>
                    <a:pt x="0" y="1487423"/>
                  </a:lnTo>
                  <a:lnTo>
                    <a:pt x="0" y="0"/>
                  </a:lnTo>
                  <a:lnTo>
                    <a:pt x="4556759" y="0"/>
                  </a:lnTo>
                  <a:lnTo>
                    <a:pt x="4556759" y="39623"/>
                  </a:lnTo>
                  <a:lnTo>
                    <a:pt x="116204" y="39623"/>
                  </a:lnTo>
                  <a:lnTo>
                    <a:pt x="109636" y="39943"/>
                  </a:lnTo>
                  <a:lnTo>
                    <a:pt x="73927" y="54743"/>
                  </a:lnTo>
                  <a:lnTo>
                    <a:pt x="52384" y="86961"/>
                  </a:lnTo>
                  <a:lnTo>
                    <a:pt x="49529" y="106314"/>
                  </a:lnTo>
                  <a:lnTo>
                    <a:pt x="49529" y="1363583"/>
                  </a:lnTo>
                  <a:lnTo>
                    <a:pt x="60756" y="1400651"/>
                  </a:lnTo>
                  <a:lnTo>
                    <a:pt x="90690" y="1425183"/>
                  </a:lnTo>
                  <a:lnTo>
                    <a:pt x="116204" y="1430273"/>
                  </a:lnTo>
                  <a:lnTo>
                    <a:pt x="4556759" y="1430273"/>
                  </a:lnTo>
                  <a:lnTo>
                    <a:pt x="4556759" y="1487423"/>
                  </a:lnTo>
                  <a:close/>
                </a:path>
                <a:path w="4556760" h="1487804">
                  <a:moveTo>
                    <a:pt x="4556759" y="1430273"/>
                  </a:moveTo>
                  <a:lnTo>
                    <a:pt x="4440539" y="1430273"/>
                  </a:lnTo>
                  <a:lnTo>
                    <a:pt x="4447123" y="1429954"/>
                  </a:lnTo>
                  <a:lnTo>
                    <a:pt x="4453573" y="1428997"/>
                  </a:lnTo>
                  <a:lnTo>
                    <a:pt x="4487692" y="1410736"/>
                  </a:lnTo>
                  <a:lnTo>
                    <a:pt x="4505953" y="1376617"/>
                  </a:lnTo>
                  <a:lnTo>
                    <a:pt x="4507229" y="1363583"/>
                  </a:lnTo>
                  <a:lnTo>
                    <a:pt x="4507229" y="106314"/>
                  </a:lnTo>
                  <a:lnTo>
                    <a:pt x="4495990" y="69246"/>
                  </a:lnTo>
                  <a:lnTo>
                    <a:pt x="4466081" y="44714"/>
                  </a:lnTo>
                  <a:lnTo>
                    <a:pt x="4440539" y="39623"/>
                  </a:lnTo>
                  <a:lnTo>
                    <a:pt x="4556759" y="39623"/>
                  </a:lnTo>
                  <a:lnTo>
                    <a:pt x="4556759" y="1430273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95287" y="3043237"/>
              <a:ext cx="4467225" cy="1400175"/>
            </a:xfrm>
            <a:custGeom>
              <a:avLst/>
              <a:gdLst/>
              <a:ahLst/>
              <a:cxnLst/>
              <a:rect l="l" t="t" r="r" b="b"/>
              <a:pathLst>
                <a:path w="4467225" h="1400175">
                  <a:moveTo>
                    <a:pt x="4400473" y="1400175"/>
                  </a:moveTo>
                  <a:lnTo>
                    <a:pt x="66746" y="1400175"/>
                  </a:lnTo>
                  <a:lnTo>
                    <a:pt x="62101" y="1399717"/>
                  </a:lnTo>
                  <a:lnTo>
                    <a:pt x="24240" y="1382563"/>
                  </a:lnTo>
                  <a:lnTo>
                    <a:pt x="2287" y="1347273"/>
                  </a:lnTo>
                  <a:lnTo>
                    <a:pt x="0" y="1333423"/>
                  </a:lnTo>
                  <a:lnTo>
                    <a:pt x="0" y="1328737"/>
                  </a:lnTo>
                  <a:lnTo>
                    <a:pt x="0" y="66751"/>
                  </a:lnTo>
                  <a:lnTo>
                    <a:pt x="14645" y="27851"/>
                  </a:lnTo>
                  <a:lnTo>
                    <a:pt x="48432" y="3638"/>
                  </a:lnTo>
                  <a:lnTo>
                    <a:pt x="66746" y="0"/>
                  </a:lnTo>
                  <a:lnTo>
                    <a:pt x="4400473" y="0"/>
                  </a:lnTo>
                  <a:lnTo>
                    <a:pt x="4439373" y="14649"/>
                  </a:lnTo>
                  <a:lnTo>
                    <a:pt x="4463576" y="48434"/>
                  </a:lnTo>
                  <a:lnTo>
                    <a:pt x="4467225" y="66751"/>
                  </a:lnTo>
                  <a:lnTo>
                    <a:pt x="4467225" y="1333423"/>
                  </a:lnTo>
                  <a:lnTo>
                    <a:pt x="4452575" y="1372323"/>
                  </a:lnTo>
                  <a:lnTo>
                    <a:pt x="4418790" y="1396526"/>
                  </a:lnTo>
                  <a:lnTo>
                    <a:pt x="4405122" y="1399717"/>
                  </a:lnTo>
                  <a:lnTo>
                    <a:pt x="4400473" y="14001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95287" y="3043237"/>
              <a:ext cx="4467225" cy="1400175"/>
            </a:xfrm>
            <a:custGeom>
              <a:avLst/>
              <a:gdLst/>
              <a:ahLst/>
              <a:cxnLst/>
              <a:rect l="l" t="t" r="r" b="b"/>
              <a:pathLst>
                <a:path w="4467225" h="1400175">
                  <a:moveTo>
                    <a:pt x="0" y="1328737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102"/>
                  </a:lnTo>
                  <a:lnTo>
                    <a:pt x="1372" y="57502"/>
                  </a:lnTo>
                  <a:lnTo>
                    <a:pt x="2287" y="52901"/>
                  </a:lnTo>
                  <a:lnTo>
                    <a:pt x="3642" y="48434"/>
                  </a:lnTo>
                  <a:lnTo>
                    <a:pt x="5437" y="44100"/>
                  </a:lnTo>
                  <a:lnTo>
                    <a:pt x="7233" y="39766"/>
                  </a:lnTo>
                  <a:lnTo>
                    <a:pt x="20923" y="20926"/>
                  </a:lnTo>
                  <a:lnTo>
                    <a:pt x="24240" y="17602"/>
                  </a:lnTo>
                  <a:lnTo>
                    <a:pt x="44099" y="5438"/>
                  </a:lnTo>
                  <a:lnTo>
                    <a:pt x="48432" y="3638"/>
                  </a:lnTo>
                  <a:lnTo>
                    <a:pt x="52899" y="2286"/>
                  </a:lnTo>
                  <a:lnTo>
                    <a:pt x="57500" y="1371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4395787" y="0"/>
                  </a:lnTo>
                  <a:lnTo>
                    <a:pt x="4400473" y="0"/>
                  </a:lnTo>
                  <a:lnTo>
                    <a:pt x="4405122" y="457"/>
                  </a:lnTo>
                  <a:lnTo>
                    <a:pt x="4409722" y="1371"/>
                  </a:lnTo>
                  <a:lnTo>
                    <a:pt x="4414323" y="2286"/>
                  </a:lnTo>
                  <a:lnTo>
                    <a:pt x="4418790" y="3638"/>
                  </a:lnTo>
                  <a:lnTo>
                    <a:pt x="4423124" y="5438"/>
                  </a:lnTo>
                  <a:lnTo>
                    <a:pt x="4427458" y="7229"/>
                  </a:lnTo>
                  <a:lnTo>
                    <a:pt x="4446298" y="20926"/>
                  </a:lnTo>
                  <a:lnTo>
                    <a:pt x="4449613" y="24241"/>
                  </a:lnTo>
                  <a:lnTo>
                    <a:pt x="4461786" y="44100"/>
                  </a:lnTo>
                  <a:lnTo>
                    <a:pt x="4463576" y="48434"/>
                  </a:lnTo>
                  <a:lnTo>
                    <a:pt x="4464939" y="52901"/>
                  </a:lnTo>
                  <a:lnTo>
                    <a:pt x="4465853" y="57502"/>
                  </a:lnTo>
                  <a:lnTo>
                    <a:pt x="4466767" y="62102"/>
                  </a:lnTo>
                  <a:lnTo>
                    <a:pt x="4467225" y="66751"/>
                  </a:lnTo>
                  <a:lnTo>
                    <a:pt x="4467225" y="71437"/>
                  </a:lnTo>
                  <a:lnTo>
                    <a:pt x="4467225" y="1328737"/>
                  </a:lnTo>
                  <a:lnTo>
                    <a:pt x="4467225" y="1333423"/>
                  </a:lnTo>
                  <a:lnTo>
                    <a:pt x="4466767" y="1338072"/>
                  </a:lnTo>
                  <a:lnTo>
                    <a:pt x="4465853" y="1342672"/>
                  </a:lnTo>
                  <a:lnTo>
                    <a:pt x="4464939" y="1347273"/>
                  </a:lnTo>
                  <a:lnTo>
                    <a:pt x="4463576" y="1351740"/>
                  </a:lnTo>
                  <a:lnTo>
                    <a:pt x="4461786" y="1356074"/>
                  </a:lnTo>
                  <a:lnTo>
                    <a:pt x="4459995" y="1360408"/>
                  </a:lnTo>
                  <a:lnTo>
                    <a:pt x="4431572" y="1390745"/>
                  </a:lnTo>
                  <a:lnTo>
                    <a:pt x="4423124" y="1394736"/>
                  </a:lnTo>
                  <a:lnTo>
                    <a:pt x="4418790" y="1396526"/>
                  </a:lnTo>
                  <a:lnTo>
                    <a:pt x="4414323" y="1397889"/>
                  </a:lnTo>
                  <a:lnTo>
                    <a:pt x="4409722" y="1398803"/>
                  </a:lnTo>
                  <a:lnTo>
                    <a:pt x="4405122" y="1399717"/>
                  </a:lnTo>
                  <a:lnTo>
                    <a:pt x="4400473" y="1400175"/>
                  </a:lnTo>
                  <a:lnTo>
                    <a:pt x="4395787" y="1400175"/>
                  </a:lnTo>
                  <a:lnTo>
                    <a:pt x="71437" y="1400175"/>
                  </a:lnTo>
                  <a:lnTo>
                    <a:pt x="66746" y="1400175"/>
                  </a:lnTo>
                  <a:lnTo>
                    <a:pt x="62101" y="1399717"/>
                  </a:lnTo>
                  <a:lnTo>
                    <a:pt x="57500" y="1398803"/>
                  </a:lnTo>
                  <a:lnTo>
                    <a:pt x="52899" y="1397889"/>
                  </a:lnTo>
                  <a:lnTo>
                    <a:pt x="48432" y="1396526"/>
                  </a:lnTo>
                  <a:lnTo>
                    <a:pt x="44099" y="1394736"/>
                  </a:lnTo>
                  <a:lnTo>
                    <a:pt x="39765" y="1392945"/>
                  </a:lnTo>
                  <a:lnTo>
                    <a:pt x="9433" y="1364522"/>
                  </a:lnTo>
                  <a:lnTo>
                    <a:pt x="0" y="1333423"/>
                  </a:lnTo>
                  <a:lnTo>
                    <a:pt x="0" y="1328737"/>
                  </a:lnTo>
                  <a:close/>
                </a:path>
              </a:pathLst>
            </a:custGeom>
            <a:ln w="9525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57212" y="3481387"/>
              <a:ext cx="4143375" cy="800100"/>
            </a:xfrm>
            <a:custGeom>
              <a:avLst/>
              <a:gdLst/>
              <a:ahLst/>
              <a:cxnLst/>
              <a:rect l="l" t="t" r="r" b="b"/>
              <a:pathLst>
                <a:path w="4143375" h="800100">
                  <a:moveTo>
                    <a:pt x="4094426" y="800100"/>
                  </a:moveTo>
                  <a:lnTo>
                    <a:pt x="48948" y="800100"/>
                  </a:lnTo>
                  <a:lnTo>
                    <a:pt x="45540" y="799766"/>
                  </a:lnTo>
                  <a:lnTo>
                    <a:pt x="10739" y="779678"/>
                  </a:lnTo>
                  <a:lnTo>
                    <a:pt x="0" y="751151"/>
                  </a:lnTo>
                  <a:lnTo>
                    <a:pt x="0" y="747712"/>
                  </a:lnTo>
                  <a:lnTo>
                    <a:pt x="0" y="48948"/>
                  </a:lnTo>
                  <a:lnTo>
                    <a:pt x="17776" y="12906"/>
                  </a:lnTo>
                  <a:lnTo>
                    <a:pt x="48948" y="0"/>
                  </a:lnTo>
                  <a:lnTo>
                    <a:pt x="4094426" y="0"/>
                  </a:lnTo>
                  <a:lnTo>
                    <a:pt x="4130459" y="17773"/>
                  </a:lnTo>
                  <a:lnTo>
                    <a:pt x="4143375" y="48948"/>
                  </a:lnTo>
                  <a:lnTo>
                    <a:pt x="4143375" y="751151"/>
                  </a:lnTo>
                  <a:lnTo>
                    <a:pt x="4125601" y="787184"/>
                  </a:lnTo>
                  <a:lnTo>
                    <a:pt x="4097835" y="799766"/>
                  </a:lnTo>
                  <a:lnTo>
                    <a:pt x="4094426" y="800100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57212" y="3481387"/>
              <a:ext cx="4143375" cy="800100"/>
            </a:xfrm>
            <a:custGeom>
              <a:avLst/>
              <a:gdLst/>
              <a:ahLst/>
              <a:cxnLst/>
              <a:rect l="l" t="t" r="r" b="b"/>
              <a:pathLst>
                <a:path w="4143375" h="800100">
                  <a:moveTo>
                    <a:pt x="0" y="747712"/>
                  </a:moveTo>
                  <a:lnTo>
                    <a:pt x="0" y="52387"/>
                  </a:lnTo>
                  <a:lnTo>
                    <a:pt x="0" y="48948"/>
                  </a:lnTo>
                  <a:lnTo>
                    <a:pt x="335" y="45539"/>
                  </a:lnTo>
                  <a:lnTo>
                    <a:pt x="1006" y="42167"/>
                  </a:lnTo>
                  <a:lnTo>
                    <a:pt x="1677" y="38795"/>
                  </a:lnTo>
                  <a:lnTo>
                    <a:pt x="2671" y="35518"/>
                  </a:lnTo>
                  <a:lnTo>
                    <a:pt x="15343" y="15344"/>
                  </a:lnTo>
                  <a:lnTo>
                    <a:pt x="17776" y="12906"/>
                  </a:lnTo>
                  <a:lnTo>
                    <a:pt x="20422" y="10734"/>
                  </a:lnTo>
                  <a:lnTo>
                    <a:pt x="23282" y="8829"/>
                  </a:lnTo>
                  <a:lnTo>
                    <a:pt x="26142" y="6915"/>
                  </a:lnTo>
                  <a:lnTo>
                    <a:pt x="29161" y="5305"/>
                  </a:lnTo>
                  <a:lnTo>
                    <a:pt x="32339" y="3990"/>
                  </a:lnTo>
                  <a:lnTo>
                    <a:pt x="35517" y="2666"/>
                  </a:lnTo>
                  <a:lnTo>
                    <a:pt x="38793" y="1676"/>
                  </a:lnTo>
                  <a:lnTo>
                    <a:pt x="42167" y="1009"/>
                  </a:lnTo>
                  <a:lnTo>
                    <a:pt x="45540" y="333"/>
                  </a:lnTo>
                  <a:lnTo>
                    <a:pt x="48948" y="0"/>
                  </a:lnTo>
                  <a:lnTo>
                    <a:pt x="52387" y="0"/>
                  </a:lnTo>
                  <a:lnTo>
                    <a:pt x="4090987" y="0"/>
                  </a:lnTo>
                  <a:lnTo>
                    <a:pt x="4094426" y="0"/>
                  </a:lnTo>
                  <a:lnTo>
                    <a:pt x="4097835" y="333"/>
                  </a:lnTo>
                  <a:lnTo>
                    <a:pt x="4101207" y="1009"/>
                  </a:lnTo>
                  <a:lnTo>
                    <a:pt x="4104579" y="1676"/>
                  </a:lnTo>
                  <a:lnTo>
                    <a:pt x="4107856" y="2666"/>
                  </a:lnTo>
                  <a:lnTo>
                    <a:pt x="4111037" y="3990"/>
                  </a:lnTo>
                  <a:lnTo>
                    <a:pt x="4114209" y="5305"/>
                  </a:lnTo>
                  <a:lnTo>
                    <a:pt x="4117228" y="6915"/>
                  </a:lnTo>
                  <a:lnTo>
                    <a:pt x="4120095" y="8829"/>
                  </a:lnTo>
                  <a:lnTo>
                    <a:pt x="4122953" y="10734"/>
                  </a:lnTo>
                  <a:lnTo>
                    <a:pt x="4125601" y="12906"/>
                  </a:lnTo>
                  <a:lnTo>
                    <a:pt x="4128030" y="15344"/>
                  </a:lnTo>
                  <a:lnTo>
                    <a:pt x="4130459" y="17773"/>
                  </a:lnTo>
                  <a:lnTo>
                    <a:pt x="4142365" y="42167"/>
                  </a:lnTo>
                  <a:lnTo>
                    <a:pt x="4143041" y="45539"/>
                  </a:lnTo>
                  <a:lnTo>
                    <a:pt x="4143375" y="48948"/>
                  </a:lnTo>
                  <a:lnTo>
                    <a:pt x="4143375" y="52387"/>
                  </a:lnTo>
                  <a:lnTo>
                    <a:pt x="4143375" y="747712"/>
                  </a:lnTo>
                  <a:lnTo>
                    <a:pt x="4143375" y="751151"/>
                  </a:lnTo>
                  <a:lnTo>
                    <a:pt x="4143041" y="754560"/>
                  </a:lnTo>
                  <a:lnTo>
                    <a:pt x="4142365" y="757932"/>
                  </a:lnTo>
                  <a:lnTo>
                    <a:pt x="4141698" y="761304"/>
                  </a:lnTo>
                  <a:lnTo>
                    <a:pt x="4128030" y="784755"/>
                  </a:lnTo>
                  <a:lnTo>
                    <a:pt x="4125601" y="787184"/>
                  </a:lnTo>
                  <a:lnTo>
                    <a:pt x="4101207" y="799090"/>
                  </a:lnTo>
                  <a:lnTo>
                    <a:pt x="4097835" y="799766"/>
                  </a:lnTo>
                  <a:lnTo>
                    <a:pt x="4094426" y="800100"/>
                  </a:lnTo>
                  <a:lnTo>
                    <a:pt x="4090987" y="800100"/>
                  </a:lnTo>
                  <a:lnTo>
                    <a:pt x="52387" y="800100"/>
                  </a:lnTo>
                  <a:lnTo>
                    <a:pt x="48948" y="800100"/>
                  </a:lnTo>
                  <a:lnTo>
                    <a:pt x="45540" y="799766"/>
                  </a:lnTo>
                  <a:lnTo>
                    <a:pt x="42167" y="799090"/>
                  </a:lnTo>
                  <a:lnTo>
                    <a:pt x="38793" y="798423"/>
                  </a:lnTo>
                  <a:lnTo>
                    <a:pt x="23282" y="791270"/>
                  </a:lnTo>
                  <a:lnTo>
                    <a:pt x="20422" y="789355"/>
                  </a:lnTo>
                  <a:lnTo>
                    <a:pt x="17776" y="787184"/>
                  </a:lnTo>
                  <a:lnTo>
                    <a:pt x="15343" y="784755"/>
                  </a:lnTo>
                  <a:lnTo>
                    <a:pt x="12911" y="782326"/>
                  </a:lnTo>
                  <a:lnTo>
                    <a:pt x="1006" y="757932"/>
                  </a:lnTo>
                  <a:lnTo>
                    <a:pt x="335" y="754560"/>
                  </a:lnTo>
                  <a:lnTo>
                    <a:pt x="0" y="751151"/>
                  </a:lnTo>
                  <a:lnTo>
                    <a:pt x="0" y="747712"/>
                  </a:lnTo>
                  <a:close/>
                </a:path>
              </a:pathLst>
            </a:custGeom>
            <a:ln w="9524">
              <a:solidFill>
                <a:srgbClr val="F5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1914" y="3238484"/>
              <a:ext cx="153471" cy="133350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663575" y="3197225"/>
            <a:ext cx="3002280" cy="955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D293B"/>
                </a:solidFill>
                <a:latin typeface="Segoe UI Semibold"/>
                <a:cs typeface="Segoe UI Semibold"/>
              </a:rPr>
              <a:t>Important</a:t>
            </a:r>
            <a:r>
              <a:rPr sz="1200" spc="-25" dirty="0">
                <a:solidFill>
                  <a:srgbClr val="1D293B"/>
                </a:solidFill>
                <a:latin typeface="Segoe UI Semibold"/>
                <a:cs typeface="Segoe UI Semibold"/>
              </a:rPr>
              <a:t> </a:t>
            </a:r>
            <a:r>
              <a:rPr sz="1200" spc="-10" dirty="0">
                <a:solidFill>
                  <a:srgbClr val="1D293B"/>
                </a:solidFill>
                <a:latin typeface="Segoe UI Semibold"/>
                <a:cs typeface="Segoe UI Semibold"/>
              </a:rPr>
              <a:t>Notes</a:t>
            </a:r>
            <a:endParaRPr sz="1200">
              <a:latin typeface="Segoe UI Semibold"/>
              <a:cs typeface="Segoe UI Semibold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200">
              <a:latin typeface="Segoe UI Semibold"/>
              <a:cs typeface="Segoe UI Semibold"/>
            </a:endParaRPr>
          </a:p>
          <a:p>
            <a:pPr marL="96520" indent="-83820">
              <a:lnSpc>
                <a:spcPct val="100000"/>
              </a:lnSpc>
              <a:buChar char="•"/>
              <a:tabLst>
                <a:tab pos="96520" algn="l"/>
              </a:tabLst>
            </a:pP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Use</a:t>
            </a:r>
            <a:r>
              <a:rPr sz="950" spc="5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full</a:t>
            </a:r>
            <a:r>
              <a:rPr sz="950" spc="5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path</a:t>
            </a:r>
            <a:r>
              <a:rPr sz="950" spc="5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with</a:t>
            </a:r>
            <a:r>
              <a:rPr sz="950" spc="4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quotes</a:t>
            </a:r>
            <a:r>
              <a:rPr sz="950" spc="5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for</a:t>
            </a:r>
            <a:r>
              <a:rPr sz="950" spc="5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paths</a:t>
            </a:r>
            <a:r>
              <a:rPr sz="950" spc="5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containing</a:t>
            </a:r>
            <a:r>
              <a:rPr sz="950" spc="5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91400D"/>
                </a:solidFill>
                <a:latin typeface="Segoe UI"/>
                <a:cs typeface="Segoe UI"/>
              </a:rPr>
              <a:t>spaces</a:t>
            </a:r>
            <a:endParaRPr sz="950">
              <a:latin typeface="Segoe UI"/>
              <a:cs typeface="Segoe UI"/>
            </a:endParaRPr>
          </a:p>
          <a:p>
            <a:pPr marL="96520" indent="-83820">
              <a:lnSpc>
                <a:spcPct val="100000"/>
              </a:lnSpc>
              <a:spcBef>
                <a:spcPts val="360"/>
              </a:spcBef>
              <a:buChar char="•"/>
              <a:tabLst>
                <a:tab pos="96520" algn="l"/>
              </a:tabLst>
            </a:pP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Verify</a:t>
            </a:r>
            <a:r>
              <a:rPr sz="950" spc="4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the</a:t>
            </a:r>
            <a:r>
              <a:rPr sz="950" spc="4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executable</a:t>
            </a:r>
            <a:r>
              <a:rPr sz="950" spc="4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exists</a:t>
            </a:r>
            <a:r>
              <a:rPr sz="950" spc="5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before</a:t>
            </a:r>
            <a:r>
              <a:rPr sz="950" spc="4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91400D"/>
                </a:solidFill>
                <a:latin typeface="Segoe UI"/>
                <a:cs typeface="Segoe UI"/>
              </a:rPr>
              <a:t>deployment</a:t>
            </a:r>
            <a:endParaRPr sz="950">
              <a:latin typeface="Segoe UI"/>
              <a:cs typeface="Segoe UI"/>
            </a:endParaRPr>
          </a:p>
          <a:p>
            <a:pPr marL="96520" indent="-83820">
              <a:lnSpc>
                <a:spcPct val="100000"/>
              </a:lnSpc>
              <a:spcBef>
                <a:spcPts val="285"/>
              </a:spcBef>
              <a:buChar char="•"/>
              <a:tabLst>
                <a:tab pos="96520" algn="l"/>
              </a:tabLst>
            </a:pP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Test</a:t>
            </a:r>
            <a:r>
              <a:rPr sz="950" spc="3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with</a:t>
            </a:r>
            <a:r>
              <a:rPr sz="950" spc="3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the</a:t>
            </a:r>
            <a:r>
              <a:rPr sz="950" spc="3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actual</a:t>
            </a:r>
            <a:r>
              <a:rPr sz="950" spc="3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application</a:t>
            </a:r>
            <a:r>
              <a:rPr sz="950" spc="3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on</a:t>
            </a:r>
            <a:r>
              <a:rPr sz="950" spc="3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the</a:t>
            </a:r>
            <a:r>
              <a:rPr sz="950" spc="3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PSM</a:t>
            </a:r>
            <a:r>
              <a:rPr sz="950" spc="3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91400D"/>
                </a:solidFill>
                <a:latin typeface="Segoe UI"/>
                <a:cs typeface="Segoe UI"/>
              </a:rPr>
              <a:t>server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056632" y="932687"/>
            <a:ext cx="6784975" cy="5584190"/>
            <a:chOff x="5056632" y="932687"/>
            <a:chExt cx="6784975" cy="5584190"/>
          </a:xfrm>
        </p:grpSpPr>
        <p:sp>
          <p:nvSpPr>
            <p:cNvPr id="31" name="object 31"/>
            <p:cNvSpPr/>
            <p:nvPr/>
          </p:nvSpPr>
          <p:spPr>
            <a:xfrm>
              <a:off x="5056632" y="932687"/>
              <a:ext cx="6784975" cy="5584190"/>
            </a:xfrm>
            <a:custGeom>
              <a:avLst/>
              <a:gdLst/>
              <a:ahLst/>
              <a:cxnLst/>
              <a:rect l="l" t="t" r="r" b="b"/>
              <a:pathLst>
                <a:path w="6784975" h="5584190">
                  <a:moveTo>
                    <a:pt x="6784847" y="5583935"/>
                  </a:moveTo>
                  <a:lnTo>
                    <a:pt x="0" y="5583935"/>
                  </a:lnTo>
                  <a:lnTo>
                    <a:pt x="0" y="0"/>
                  </a:lnTo>
                  <a:lnTo>
                    <a:pt x="6784847" y="0"/>
                  </a:lnTo>
                  <a:lnTo>
                    <a:pt x="6784847" y="38861"/>
                  </a:lnTo>
                  <a:lnTo>
                    <a:pt x="115427" y="38861"/>
                  </a:lnTo>
                  <a:lnTo>
                    <a:pt x="108861" y="39179"/>
                  </a:lnTo>
                  <a:lnTo>
                    <a:pt x="73169" y="53970"/>
                  </a:lnTo>
                  <a:lnTo>
                    <a:pt x="51609" y="86211"/>
                  </a:lnTo>
                  <a:lnTo>
                    <a:pt x="48767" y="105536"/>
                  </a:lnTo>
                  <a:lnTo>
                    <a:pt x="48767" y="5458602"/>
                  </a:lnTo>
                  <a:lnTo>
                    <a:pt x="59992" y="5495639"/>
                  </a:lnTo>
                  <a:lnTo>
                    <a:pt x="89915" y="5520171"/>
                  </a:lnTo>
                  <a:lnTo>
                    <a:pt x="115427" y="5525261"/>
                  </a:lnTo>
                  <a:lnTo>
                    <a:pt x="6784847" y="5525261"/>
                  </a:lnTo>
                  <a:lnTo>
                    <a:pt x="6784847" y="5583935"/>
                  </a:lnTo>
                  <a:close/>
                </a:path>
                <a:path w="6784975" h="5584190">
                  <a:moveTo>
                    <a:pt x="6784847" y="5525261"/>
                  </a:moveTo>
                  <a:lnTo>
                    <a:pt x="6668658" y="5525261"/>
                  </a:lnTo>
                  <a:lnTo>
                    <a:pt x="6675224" y="5524942"/>
                  </a:lnTo>
                  <a:lnTo>
                    <a:pt x="6681665" y="5523985"/>
                  </a:lnTo>
                  <a:lnTo>
                    <a:pt x="6715780" y="5505724"/>
                  </a:lnTo>
                  <a:lnTo>
                    <a:pt x="6734041" y="5471609"/>
                  </a:lnTo>
                  <a:lnTo>
                    <a:pt x="6735317" y="5458602"/>
                  </a:lnTo>
                  <a:lnTo>
                    <a:pt x="6735317" y="105536"/>
                  </a:lnTo>
                  <a:lnTo>
                    <a:pt x="6724078" y="68487"/>
                  </a:lnTo>
                  <a:lnTo>
                    <a:pt x="6694169" y="43936"/>
                  </a:lnTo>
                  <a:lnTo>
                    <a:pt x="6668658" y="38861"/>
                  </a:lnTo>
                  <a:lnTo>
                    <a:pt x="6784847" y="38861"/>
                  </a:lnTo>
                  <a:lnTo>
                    <a:pt x="6784847" y="552526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100637" y="966787"/>
              <a:ext cx="6696075" cy="5495925"/>
            </a:xfrm>
            <a:custGeom>
              <a:avLst/>
              <a:gdLst/>
              <a:ahLst/>
              <a:cxnLst/>
              <a:rect l="l" t="t" r="r" b="b"/>
              <a:pathLst>
                <a:path w="6696075" h="5495925">
                  <a:moveTo>
                    <a:pt x="6629304" y="5495925"/>
                  </a:moveTo>
                  <a:lnTo>
                    <a:pt x="66751" y="5495925"/>
                  </a:lnTo>
                  <a:lnTo>
                    <a:pt x="62102" y="5495467"/>
                  </a:lnTo>
                  <a:lnTo>
                    <a:pt x="24241" y="5478313"/>
                  </a:lnTo>
                  <a:lnTo>
                    <a:pt x="2286" y="5443023"/>
                  </a:lnTo>
                  <a:lnTo>
                    <a:pt x="0" y="5429173"/>
                  </a:lnTo>
                  <a:lnTo>
                    <a:pt x="0" y="5424487"/>
                  </a:lnTo>
                  <a:lnTo>
                    <a:pt x="0" y="66751"/>
                  </a:lnTo>
                  <a:lnTo>
                    <a:pt x="14649" y="27851"/>
                  </a:lnTo>
                  <a:lnTo>
                    <a:pt x="48434" y="3638"/>
                  </a:lnTo>
                  <a:lnTo>
                    <a:pt x="66751" y="0"/>
                  </a:lnTo>
                  <a:lnTo>
                    <a:pt x="6629304" y="0"/>
                  </a:lnTo>
                  <a:lnTo>
                    <a:pt x="6668261" y="14649"/>
                  </a:lnTo>
                  <a:lnTo>
                    <a:pt x="6692455" y="48434"/>
                  </a:lnTo>
                  <a:lnTo>
                    <a:pt x="6696075" y="66751"/>
                  </a:lnTo>
                  <a:lnTo>
                    <a:pt x="6696075" y="5429173"/>
                  </a:lnTo>
                  <a:lnTo>
                    <a:pt x="6681406" y="5468073"/>
                  </a:lnTo>
                  <a:lnTo>
                    <a:pt x="6647688" y="5492276"/>
                  </a:lnTo>
                  <a:lnTo>
                    <a:pt x="6633972" y="5495467"/>
                  </a:lnTo>
                  <a:lnTo>
                    <a:pt x="6629304" y="54959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100637" y="966787"/>
              <a:ext cx="6696075" cy="5495925"/>
            </a:xfrm>
            <a:custGeom>
              <a:avLst/>
              <a:gdLst/>
              <a:ahLst/>
              <a:cxnLst/>
              <a:rect l="l" t="t" r="r" b="b"/>
              <a:pathLst>
                <a:path w="6696075" h="5495925">
                  <a:moveTo>
                    <a:pt x="0" y="5424487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103"/>
                  </a:lnTo>
                  <a:lnTo>
                    <a:pt x="1371" y="57502"/>
                  </a:lnTo>
                  <a:lnTo>
                    <a:pt x="2286" y="52901"/>
                  </a:lnTo>
                  <a:lnTo>
                    <a:pt x="3638" y="48434"/>
                  </a:lnTo>
                  <a:lnTo>
                    <a:pt x="5438" y="44100"/>
                  </a:lnTo>
                  <a:lnTo>
                    <a:pt x="7229" y="39766"/>
                  </a:lnTo>
                  <a:lnTo>
                    <a:pt x="20926" y="20926"/>
                  </a:lnTo>
                  <a:lnTo>
                    <a:pt x="24241" y="17602"/>
                  </a:lnTo>
                  <a:lnTo>
                    <a:pt x="44100" y="5438"/>
                  </a:lnTo>
                  <a:lnTo>
                    <a:pt x="48434" y="3638"/>
                  </a:lnTo>
                  <a:lnTo>
                    <a:pt x="52901" y="2285"/>
                  </a:lnTo>
                  <a:lnTo>
                    <a:pt x="57502" y="1371"/>
                  </a:lnTo>
                  <a:lnTo>
                    <a:pt x="62102" y="457"/>
                  </a:lnTo>
                  <a:lnTo>
                    <a:pt x="66751" y="0"/>
                  </a:lnTo>
                  <a:lnTo>
                    <a:pt x="71437" y="0"/>
                  </a:lnTo>
                  <a:lnTo>
                    <a:pt x="6624637" y="0"/>
                  </a:lnTo>
                  <a:lnTo>
                    <a:pt x="6629304" y="0"/>
                  </a:lnTo>
                  <a:lnTo>
                    <a:pt x="6633972" y="457"/>
                  </a:lnTo>
                  <a:lnTo>
                    <a:pt x="6638544" y="1371"/>
                  </a:lnTo>
                  <a:lnTo>
                    <a:pt x="6643211" y="2285"/>
                  </a:lnTo>
                  <a:lnTo>
                    <a:pt x="6647688" y="3638"/>
                  </a:lnTo>
                  <a:lnTo>
                    <a:pt x="6651974" y="5438"/>
                  </a:lnTo>
                  <a:lnTo>
                    <a:pt x="6656260" y="7229"/>
                  </a:lnTo>
                  <a:lnTo>
                    <a:pt x="6675119" y="20926"/>
                  </a:lnTo>
                  <a:lnTo>
                    <a:pt x="6678453" y="24241"/>
                  </a:lnTo>
                  <a:lnTo>
                    <a:pt x="6690645" y="44100"/>
                  </a:lnTo>
                  <a:lnTo>
                    <a:pt x="6692455" y="48434"/>
                  </a:lnTo>
                  <a:lnTo>
                    <a:pt x="6693788" y="52901"/>
                  </a:lnTo>
                  <a:lnTo>
                    <a:pt x="6694741" y="57502"/>
                  </a:lnTo>
                  <a:lnTo>
                    <a:pt x="6695598" y="62103"/>
                  </a:lnTo>
                  <a:lnTo>
                    <a:pt x="6696075" y="66751"/>
                  </a:lnTo>
                  <a:lnTo>
                    <a:pt x="6696075" y="71437"/>
                  </a:lnTo>
                  <a:lnTo>
                    <a:pt x="6696075" y="5424487"/>
                  </a:lnTo>
                  <a:lnTo>
                    <a:pt x="6696075" y="5429173"/>
                  </a:lnTo>
                  <a:lnTo>
                    <a:pt x="6695598" y="5433822"/>
                  </a:lnTo>
                  <a:lnTo>
                    <a:pt x="6678453" y="5471683"/>
                  </a:lnTo>
                  <a:lnTo>
                    <a:pt x="6675119" y="5474998"/>
                  </a:lnTo>
                  <a:lnTo>
                    <a:pt x="6671786" y="5478313"/>
                  </a:lnTo>
                  <a:lnTo>
                    <a:pt x="6651974" y="5490486"/>
                  </a:lnTo>
                  <a:lnTo>
                    <a:pt x="6647688" y="5492276"/>
                  </a:lnTo>
                  <a:lnTo>
                    <a:pt x="6643211" y="5493639"/>
                  </a:lnTo>
                  <a:lnTo>
                    <a:pt x="6638544" y="5494553"/>
                  </a:lnTo>
                  <a:lnTo>
                    <a:pt x="6633972" y="5495467"/>
                  </a:lnTo>
                  <a:lnTo>
                    <a:pt x="6629304" y="5495925"/>
                  </a:lnTo>
                  <a:lnTo>
                    <a:pt x="6624637" y="5495925"/>
                  </a:lnTo>
                  <a:lnTo>
                    <a:pt x="71437" y="5495925"/>
                  </a:lnTo>
                  <a:lnTo>
                    <a:pt x="66751" y="5495925"/>
                  </a:lnTo>
                  <a:lnTo>
                    <a:pt x="62102" y="5495467"/>
                  </a:lnTo>
                  <a:lnTo>
                    <a:pt x="57502" y="5494553"/>
                  </a:lnTo>
                  <a:lnTo>
                    <a:pt x="52901" y="5493639"/>
                  </a:lnTo>
                  <a:lnTo>
                    <a:pt x="48434" y="5492276"/>
                  </a:lnTo>
                  <a:lnTo>
                    <a:pt x="44100" y="5490486"/>
                  </a:lnTo>
                  <a:lnTo>
                    <a:pt x="39766" y="5488695"/>
                  </a:lnTo>
                  <a:lnTo>
                    <a:pt x="20926" y="5474998"/>
                  </a:lnTo>
                  <a:lnTo>
                    <a:pt x="17602" y="5471683"/>
                  </a:lnTo>
                  <a:lnTo>
                    <a:pt x="5438" y="5451824"/>
                  </a:lnTo>
                  <a:lnTo>
                    <a:pt x="3638" y="5447490"/>
                  </a:lnTo>
                  <a:lnTo>
                    <a:pt x="2286" y="5443023"/>
                  </a:lnTo>
                  <a:lnTo>
                    <a:pt x="1371" y="5438422"/>
                  </a:lnTo>
                  <a:lnTo>
                    <a:pt x="457" y="5433822"/>
                  </a:lnTo>
                  <a:lnTo>
                    <a:pt x="0" y="5429173"/>
                  </a:lnTo>
                  <a:lnTo>
                    <a:pt x="0" y="5424487"/>
                  </a:lnTo>
                  <a:close/>
                </a:path>
              </a:pathLst>
            </a:custGeom>
            <a:ln w="9525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56877" y="1151423"/>
              <a:ext cx="192345" cy="154602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5507932" y="1120775"/>
            <a:ext cx="20104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D293B"/>
                </a:solidFill>
                <a:latin typeface="Segoe UI Semibold"/>
                <a:cs typeface="Segoe UI Semibold"/>
              </a:rPr>
              <a:t>AutoIt</a:t>
            </a:r>
            <a:r>
              <a:rPr sz="1200" spc="-20" dirty="0">
                <a:solidFill>
                  <a:srgbClr val="1D293B"/>
                </a:solidFill>
                <a:latin typeface="Segoe UI Semibold"/>
                <a:cs typeface="Segoe UI Semibold"/>
              </a:rPr>
              <a:t> </a:t>
            </a:r>
            <a:r>
              <a:rPr sz="1200" dirty="0">
                <a:solidFill>
                  <a:srgbClr val="1D293B"/>
                </a:solidFill>
                <a:latin typeface="Segoe UI Semibold"/>
                <a:cs typeface="Segoe UI Semibold"/>
              </a:rPr>
              <a:t>Code</a:t>
            </a:r>
            <a:r>
              <a:rPr sz="1200" spc="-20" dirty="0">
                <a:solidFill>
                  <a:srgbClr val="1D293B"/>
                </a:solidFill>
                <a:latin typeface="Segoe UI Semibold"/>
                <a:cs typeface="Segoe UI Semibold"/>
              </a:rPr>
              <a:t> </a:t>
            </a:r>
            <a:r>
              <a:rPr sz="1200" spc="-10" dirty="0">
                <a:solidFill>
                  <a:srgbClr val="1D293B"/>
                </a:solidFill>
                <a:latin typeface="Segoe UI Semibold"/>
                <a:cs typeface="Segoe UI Semibold"/>
              </a:rPr>
              <a:t>Implementation</a:t>
            </a:r>
            <a:endParaRPr sz="1200">
              <a:latin typeface="Segoe UI Semibold"/>
              <a:cs typeface="Segoe UI Semibold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257800" y="1476375"/>
            <a:ext cx="6381750" cy="4829175"/>
          </a:xfrm>
          <a:custGeom>
            <a:avLst/>
            <a:gdLst/>
            <a:ahLst/>
            <a:cxnLst/>
            <a:rect l="l" t="t" r="r" b="b"/>
            <a:pathLst>
              <a:path w="6381750" h="4829175">
                <a:moveTo>
                  <a:pt x="6310598" y="4829175"/>
                </a:moveTo>
                <a:lnTo>
                  <a:pt x="71199" y="4829175"/>
                </a:lnTo>
                <a:lnTo>
                  <a:pt x="66236" y="4828689"/>
                </a:lnTo>
                <a:lnTo>
                  <a:pt x="29708" y="4813554"/>
                </a:lnTo>
                <a:lnTo>
                  <a:pt x="3886" y="4777511"/>
                </a:lnTo>
                <a:lnTo>
                  <a:pt x="0" y="4757975"/>
                </a:lnTo>
                <a:lnTo>
                  <a:pt x="0" y="4752975"/>
                </a:lnTo>
                <a:lnTo>
                  <a:pt x="0" y="71199"/>
                </a:lnTo>
                <a:lnTo>
                  <a:pt x="15621" y="29708"/>
                </a:lnTo>
                <a:lnTo>
                  <a:pt x="51663" y="3886"/>
                </a:lnTo>
                <a:lnTo>
                  <a:pt x="71199" y="0"/>
                </a:lnTo>
                <a:lnTo>
                  <a:pt x="6310598" y="0"/>
                </a:lnTo>
                <a:lnTo>
                  <a:pt x="6352032" y="15620"/>
                </a:lnTo>
                <a:lnTo>
                  <a:pt x="6377844" y="51663"/>
                </a:lnTo>
                <a:lnTo>
                  <a:pt x="6381750" y="71199"/>
                </a:lnTo>
                <a:lnTo>
                  <a:pt x="6381750" y="4757975"/>
                </a:lnTo>
                <a:lnTo>
                  <a:pt x="6366129" y="4799466"/>
                </a:lnTo>
                <a:lnTo>
                  <a:pt x="6330124" y="4825288"/>
                </a:lnTo>
                <a:lnTo>
                  <a:pt x="6315551" y="4828689"/>
                </a:lnTo>
                <a:lnTo>
                  <a:pt x="6310598" y="4829175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393632" y="1574164"/>
            <a:ext cx="6021705" cy="2816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366895">
              <a:lnSpc>
                <a:spcPct val="125000"/>
              </a:lnSpc>
              <a:spcBef>
                <a:spcPts val="95"/>
              </a:spcBef>
            </a:pPr>
            <a:r>
              <a:rPr sz="950" dirty="0">
                <a:solidFill>
                  <a:srgbClr val="64738B"/>
                </a:solidFill>
                <a:latin typeface="Consolas"/>
                <a:cs typeface="Consolas"/>
              </a:rPr>
              <a:t>;</a:t>
            </a:r>
            <a:r>
              <a:rPr sz="950" spc="65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64738B"/>
                </a:solidFill>
                <a:latin typeface="Consolas"/>
                <a:cs typeface="Consolas"/>
              </a:rPr>
              <a:t>Include</a:t>
            </a:r>
            <a:r>
              <a:rPr sz="950" spc="65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64738B"/>
                </a:solidFill>
                <a:latin typeface="Consolas"/>
                <a:cs typeface="Consolas"/>
              </a:rPr>
              <a:t>required</a:t>
            </a:r>
            <a:r>
              <a:rPr sz="950" spc="65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64738B"/>
                </a:solidFill>
                <a:latin typeface="Consolas"/>
                <a:cs typeface="Consolas"/>
              </a:rPr>
              <a:t>files </a:t>
            </a:r>
            <a:r>
              <a:rPr sz="950" dirty="0">
                <a:solidFill>
                  <a:srgbClr val="60A5FA"/>
                </a:solidFill>
                <a:latin typeface="Consolas"/>
                <a:cs typeface="Consolas"/>
              </a:rPr>
              <a:t>#include</a:t>
            </a:r>
            <a:r>
              <a:rPr sz="950" spc="155" dirty="0">
                <a:solidFill>
                  <a:srgbClr val="60A5FA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A5F2FB"/>
                </a:solidFill>
                <a:latin typeface="Consolas"/>
                <a:cs typeface="Consolas"/>
              </a:rPr>
              <a:t>&lt;Array.au3&gt;</a:t>
            </a:r>
            <a:endParaRPr sz="9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950" dirty="0">
                <a:solidFill>
                  <a:srgbClr val="60A5FA"/>
                </a:solidFill>
                <a:latin typeface="Consolas"/>
                <a:cs typeface="Consolas"/>
              </a:rPr>
              <a:t>#include</a:t>
            </a:r>
            <a:r>
              <a:rPr sz="950" spc="160" dirty="0">
                <a:solidFill>
                  <a:srgbClr val="60A5FA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5F2FB"/>
                </a:solidFill>
                <a:latin typeface="Consolas"/>
                <a:cs typeface="Consolas"/>
              </a:rPr>
              <a:t>"PSMGenericClientWrapper.au3"</a:t>
            </a:r>
            <a:r>
              <a:rPr sz="950" spc="160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64738B"/>
                </a:solidFill>
                <a:latin typeface="Consolas"/>
                <a:cs typeface="Consolas"/>
              </a:rPr>
              <a:t>;</a:t>
            </a:r>
            <a:r>
              <a:rPr sz="950" spc="85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64738B"/>
                </a:solidFill>
                <a:latin typeface="Consolas"/>
                <a:cs typeface="Consolas"/>
              </a:rPr>
              <a:t>Do</a:t>
            </a:r>
            <a:r>
              <a:rPr sz="950" spc="90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64738B"/>
                </a:solidFill>
                <a:latin typeface="Consolas"/>
                <a:cs typeface="Consolas"/>
              </a:rPr>
              <a:t>not</a:t>
            </a:r>
            <a:r>
              <a:rPr sz="950" spc="85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64738B"/>
                </a:solidFill>
                <a:latin typeface="Consolas"/>
                <a:cs typeface="Consolas"/>
              </a:rPr>
              <a:t>modify</a:t>
            </a:r>
            <a:r>
              <a:rPr sz="950" spc="85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64738B"/>
                </a:solidFill>
                <a:latin typeface="Consolas"/>
                <a:cs typeface="Consolas"/>
              </a:rPr>
              <a:t>this</a:t>
            </a:r>
            <a:r>
              <a:rPr sz="950" spc="90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50" spc="-20" dirty="0">
                <a:solidFill>
                  <a:srgbClr val="64738B"/>
                </a:solidFill>
                <a:latin typeface="Consolas"/>
                <a:cs typeface="Consolas"/>
              </a:rPr>
              <a:t>file</a:t>
            </a:r>
            <a:endParaRPr sz="9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950" dirty="0">
                <a:solidFill>
                  <a:srgbClr val="64738B"/>
                </a:solidFill>
                <a:latin typeface="Consolas"/>
                <a:cs typeface="Consolas"/>
              </a:rPr>
              <a:t>;</a:t>
            </a:r>
            <a:r>
              <a:rPr sz="950" spc="45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64738B"/>
                </a:solidFill>
                <a:latin typeface="Consolas"/>
                <a:cs typeface="Consolas"/>
              </a:rPr>
              <a:t>Define</a:t>
            </a:r>
            <a:r>
              <a:rPr sz="950" spc="50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64738B"/>
                </a:solidFill>
                <a:latin typeface="Consolas"/>
                <a:cs typeface="Consolas"/>
              </a:rPr>
              <a:t>the</a:t>
            </a:r>
            <a:r>
              <a:rPr sz="950" spc="45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64738B"/>
                </a:solidFill>
                <a:latin typeface="Consolas"/>
                <a:cs typeface="Consolas"/>
              </a:rPr>
              <a:t>path</a:t>
            </a:r>
            <a:r>
              <a:rPr sz="950" spc="50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64738B"/>
                </a:solidFill>
                <a:latin typeface="Consolas"/>
                <a:cs typeface="Consolas"/>
              </a:rPr>
              <a:t>to</a:t>
            </a:r>
            <a:r>
              <a:rPr sz="950" spc="45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64738B"/>
                </a:solidFill>
                <a:latin typeface="Consolas"/>
                <a:cs typeface="Consolas"/>
              </a:rPr>
              <a:t>the</a:t>
            </a:r>
            <a:r>
              <a:rPr sz="950" spc="50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64738B"/>
                </a:solidFill>
                <a:latin typeface="Consolas"/>
                <a:cs typeface="Consolas"/>
              </a:rPr>
              <a:t>client</a:t>
            </a:r>
            <a:r>
              <a:rPr sz="950" spc="45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64738B"/>
                </a:solidFill>
                <a:latin typeface="Consolas"/>
                <a:cs typeface="Consolas"/>
              </a:rPr>
              <a:t>executable</a:t>
            </a:r>
            <a:endParaRPr sz="950">
              <a:latin typeface="Consolas"/>
              <a:cs typeface="Consolas"/>
            </a:endParaRPr>
          </a:p>
          <a:p>
            <a:pPr marL="12700" marR="181610">
              <a:lnSpc>
                <a:spcPct val="125000"/>
              </a:lnSpc>
            </a:pPr>
            <a:r>
              <a:rPr sz="950" dirty="0">
                <a:solidFill>
                  <a:srgbClr val="F472B5"/>
                </a:solidFill>
                <a:latin typeface="Consolas"/>
                <a:cs typeface="Consolas"/>
              </a:rPr>
              <a:t>Global</a:t>
            </a:r>
            <a:r>
              <a:rPr sz="950" spc="105" dirty="0">
                <a:solidFill>
                  <a:srgbClr val="F472B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472B5"/>
                </a:solidFill>
                <a:latin typeface="Consolas"/>
                <a:cs typeface="Consolas"/>
              </a:rPr>
              <a:t>Const</a:t>
            </a:r>
            <a:r>
              <a:rPr sz="950" spc="185" dirty="0">
                <a:solidFill>
                  <a:srgbClr val="F472B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472B5"/>
                </a:solidFill>
                <a:latin typeface="Consolas"/>
                <a:cs typeface="Consolas"/>
              </a:rPr>
              <a:t>$CLIENT_EXECUTABLE</a:t>
            </a:r>
            <a:r>
              <a:rPr sz="950" spc="180" dirty="0">
                <a:solidFill>
                  <a:srgbClr val="F472B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950" spc="185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5F2FB"/>
                </a:solidFill>
                <a:latin typeface="Consolas"/>
                <a:cs typeface="Consolas"/>
              </a:rPr>
              <a:t>"C:\Program</a:t>
            </a:r>
            <a:r>
              <a:rPr sz="950" spc="10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5F2FB"/>
                </a:solidFill>
                <a:latin typeface="Consolas"/>
                <a:cs typeface="Consolas"/>
              </a:rPr>
              <a:t>Files\Vendor\ClientApp.exe"</a:t>
            </a:r>
            <a:r>
              <a:rPr sz="950" spc="18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64738B"/>
                </a:solidFill>
                <a:latin typeface="Consolas"/>
                <a:cs typeface="Consolas"/>
              </a:rPr>
              <a:t>;</a:t>
            </a:r>
            <a:r>
              <a:rPr sz="950" spc="105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64738B"/>
                </a:solidFill>
                <a:latin typeface="Consolas"/>
                <a:cs typeface="Consolas"/>
              </a:rPr>
              <a:t>CHANGE_ME </a:t>
            </a:r>
            <a:r>
              <a:rPr sz="950" dirty="0">
                <a:solidFill>
                  <a:srgbClr val="F472B5"/>
                </a:solidFill>
                <a:latin typeface="Consolas"/>
                <a:cs typeface="Consolas"/>
              </a:rPr>
              <a:t>Global</a:t>
            </a:r>
            <a:r>
              <a:rPr sz="950" spc="55" dirty="0">
                <a:solidFill>
                  <a:srgbClr val="F472B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472B5"/>
                </a:solidFill>
                <a:latin typeface="Consolas"/>
                <a:cs typeface="Consolas"/>
              </a:rPr>
              <a:t>Const</a:t>
            </a:r>
            <a:r>
              <a:rPr sz="950" spc="130" dirty="0">
                <a:solidFill>
                  <a:srgbClr val="F472B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472B5"/>
                </a:solidFill>
                <a:latin typeface="Consolas"/>
                <a:cs typeface="Consolas"/>
              </a:rPr>
              <a:t>$CLIENT_ARGS</a:t>
            </a:r>
            <a:r>
              <a:rPr sz="950" spc="130" dirty="0">
                <a:solidFill>
                  <a:srgbClr val="F472B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950" spc="130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5F2FB"/>
                </a:solidFill>
                <a:latin typeface="Consolas"/>
                <a:cs typeface="Consolas"/>
              </a:rPr>
              <a:t>""</a:t>
            </a:r>
            <a:r>
              <a:rPr sz="950" spc="130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64738B"/>
                </a:solidFill>
                <a:latin typeface="Consolas"/>
                <a:cs typeface="Consolas"/>
              </a:rPr>
              <a:t>;</a:t>
            </a:r>
            <a:r>
              <a:rPr sz="950" spc="60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64738B"/>
                </a:solidFill>
                <a:latin typeface="Consolas"/>
                <a:cs typeface="Consolas"/>
              </a:rPr>
              <a:t>optional</a:t>
            </a:r>
            <a:r>
              <a:rPr sz="950" spc="60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50" spc="-20" dirty="0">
                <a:solidFill>
                  <a:srgbClr val="64738B"/>
                </a:solidFill>
                <a:latin typeface="Consolas"/>
                <a:cs typeface="Consolas"/>
              </a:rPr>
              <a:t>args</a:t>
            </a:r>
            <a:endParaRPr sz="950">
              <a:latin typeface="Consolas"/>
              <a:cs typeface="Consolas"/>
            </a:endParaRPr>
          </a:p>
          <a:p>
            <a:pPr marL="12700" marR="3073400">
              <a:lnSpc>
                <a:spcPct val="125000"/>
              </a:lnSpc>
              <a:spcBef>
                <a:spcPts val="300"/>
              </a:spcBef>
            </a:pPr>
            <a:r>
              <a:rPr sz="950" dirty="0">
                <a:solidFill>
                  <a:srgbClr val="64738B"/>
                </a:solidFill>
                <a:latin typeface="Consolas"/>
                <a:cs typeface="Consolas"/>
              </a:rPr>
              <a:t>;</a:t>
            </a:r>
            <a:r>
              <a:rPr sz="950" spc="55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64738B"/>
                </a:solidFill>
                <a:latin typeface="Consolas"/>
                <a:cs typeface="Consolas"/>
              </a:rPr>
              <a:t>Function</a:t>
            </a:r>
            <a:r>
              <a:rPr sz="950" spc="55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64738B"/>
                </a:solidFill>
                <a:latin typeface="Consolas"/>
                <a:cs typeface="Consolas"/>
              </a:rPr>
              <a:t>to</a:t>
            </a:r>
            <a:r>
              <a:rPr sz="950" spc="55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64738B"/>
                </a:solidFill>
                <a:latin typeface="Consolas"/>
                <a:cs typeface="Consolas"/>
              </a:rPr>
              <a:t>launch</a:t>
            </a:r>
            <a:r>
              <a:rPr sz="950" spc="55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64738B"/>
                </a:solidFill>
                <a:latin typeface="Consolas"/>
                <a:cs typeface="Consolas"/>
              </a:rPr>
              <a:t>the</a:t>
            </a:r>
            <a:r>
              <a:rPr sz="950" spc="55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64738B"/>
                </a:solidFill>
                <a:latin typeface="Consolas"/>
                <a:cs typeface="Consolas"/>
              </a:rPr>
              <a:t>client</a:t>
            </a:r>
            <a:r>
              <a:rPr sz="950" spc="55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64738B"/>
                </a:solidFill>
                <a:latin typeface="Consolas"/>
                <a:cs typeface="Consolas"/>
              </a:rPr>
              <a:t>application </a:t>
            </a:r>
            <a:r>
              <a:rPr sz="950" dirty="0">
                <a:solidFill>
                  <a:srgbClr val="FABE24"/>
                </a:solidFill>
                <a:latin typeface="Consolas"/>
                <a:cs typeface="Consolas"/>
              </a:rPr>
              <a:t>Func</a:t>
            </a:r>
            <a:r>
              <a:rPr sz="950" spc="155" dirty="0">
                <a:solidFill>
                  <a:srgbClr val="FABE24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472B5"/>
                </a:solidFill>
                <a:latin typeface="Consolas"/>
                <a:cs typeface="Consolas"/>
              </a:rPr>
              <a:t>LaunchClient</a:t>
            </a:r>
            <a:r>
              <a:rPr sz="950" spc="160" dirty="0">
                <a:solidFill>
                  <a:srgbClr val="F472B5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E2E7F0"/>
                </a:solidFill>
                <a:latin typeface="Consolas"/>
                <a:cs typeface="Consolas"/>
              </a:rPr>
              <a:t>()</a:t>
            </a:r>
            <a:endParaRPr sz="950">
              <a:latin typeface="Consolas"/>
              <a:cs typeface="Consolas"/>
            </a:endParaRPr>
          </a:p>
          <a:p>
            <a:pPr marL="165100">
              <a:lnSpc>
                <a:spcPct val="100000"/>
              </a:lnSpc>
              <a:spcBef>
                <a:spcPts val="285"/>
              </a:spcBef>
            </a:pPr>
            <a:r>
              <a:rPr sz="950" dirty="0">
                <a:solidFill>
                  <a:srgbClr val="F472B5"/>
                </a:solidFill>
                <a:latin typeface="Consolas"/>
                <a:cs typeface="Consolas"/>
              </a:rPr>
              <a:t>Local</a:t>
            </a:r>
            <a:r>
              <a:rPr sz="950" spc="114" dirty="0">
                <a:solidFill>
                  <a:srgbClr val="F472B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472B5"/>
                </a:solidFill>
                <a:latin typeface="Consolas"/>
                <a:cs typeface="Consolas"/>
              </a:rPr>
              <a:t>$pid</a:t>
            </a:r>
            <a:r>
              <a:rPr sz="950" spc="114" dirty="0">
                <a:solidFill>
                  <a:srgbClr val="F472B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950" spc="114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ABE24"/>
                </a:solidFill>
                <a:latin typeface="Consolas"/>
                <a:cs typeface="Consolas"/>
              </a:rPr>
              <a:t>Run</a:t>
            </a:r>
            <a:r>
              <a:rPr sz="950" spc="114" dirty="0">
                <a:solidFill>
                  <a:srgbClr val="FABE24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r>
              <a:rPr sz="950" spc="114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5F2FB"/>
                </a:solidFill>
                <a:latin typeface="Consolas"/>
                <a:cs typeface="Consolas"/>
              </a:rPr>
              <a:t>'"'</a:t>
            </a:r>
            <a:r>
              <a:rPr sz="950" spc="114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&amp;</a:t>
            </a:r>
            <a:r>
              <a:rPr sz="950" spc="114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472B5"/>
                </a:solidFill>
                <a:latin typeface="Consolas"/>
                <a:cs typeface="Consolas"/>
              </a:rPr>
              <a:t>$CLIENT_EXECUTABLE</a:t>
            </a:r>
            <a:r>
              <a:rPr sz="950" spc="114" dirty="0">
                <a:solidFill>
                  <a:srgbClr val="F472B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&amp;</a:t>
            </a:r>
            <a:r>
              <a:rPr sz="950" spc="114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5F2FB"/>
                </a:solidFill>
                <a:latin typeface="Consolas"/>
                <a:cs typeface="Consolas"/>
              </a:rPr>
              <a:t>'"</a:t>
            </a:r>
            <a:r>
              <a:rPr sz="950" spc="4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5F2FB"/>
                </a:solidFill>
                <a:latin typeface="Consolas"/>
                <a:cs typeface="Consolas"/>
              </a:rPr>
              <a:t>'</a:t>
            </a:r>
            <a:r>
              <a:rPr sz="950" spc="120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&amp;</a:t>
            </a:r>
            <a:r>
              <a:rPr sz="950" spc="114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472B5"/>
                </a:solidFill>
                <a:latin typeface="Consolas"/>
                <a:cs typeface="Consolas"/>
              </a:rPr>
              <a:t>$CLIENT_ARGS</a:t>
            </a:r>
            <a:r>
              <a:rPr sz="950" spc="114" dirty="0">
                <a:solidFill>
                  <a:srgbClr val="F472B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950" spc="114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5F2FB"/>
                </a:solidFill>
                <a:latin typeface="Consolas"/>
                <a:cs typeface="Consolas"/>
              </a:rPr>
              <a:t>""</a:t>
            </a:r>
            <a:r>
              <a:rPr sz="950" spc="114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950" spc="114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472B5"/>
                </a:solidFill>
                <a:latin typeface="Consolas"/>
                <a:cs typeface="Consolas"/>
              </a:rPr>
              <a:t>@SW_SHOW</a:t>
            </a:r>
            <a:r>
              <a:rPr sz="950" spc="114" dirty="0">
                <a:solidFill>
                  <a:srgbClr val="F472B5"/>
                </a:solidFill>
                <a:latin typeface="Consolas"/>
                <a:cs typeface="Consolas"/>
              </a:rPr>
              <a:t> </a:t>
            </a:r>
            <a:r>
              <a:rPr sz="950" spc="-50" dirty="0">
                <a:solidFill>
                  <a:srgbClr val="E2E7F0"/>
                </a:solidFill>
                <a:latin typeface="Consolas"/>
                <a:cs typeface="Consolas"/>
              </a:rPr>
              <a:t>)</a:t>
            </a:r>
            <a:endParaRPr sz="950">
              <a:latin typeface="Consolas"/>
              <a:cs typeface="Consolas"/>
            </a:endParaRPr>
          </a:p>
          <a:p>
            <a:pPr marL="165100">
              <a:lnSpc>
                <a:spcPct val="100000"/>
              </a:lnSpc>
              <a:spcBef>
                <a:spcPts val="285"/>
              </a:spcBef>
            </a:pPr>
            <a:r>
              <a:rPr sz="950" dirty="0">
                <a:solidFill>
                  <a:srgbClr val="60A5FA"/>
                </a:solidFill>
                <a:latin typeface="Consolas"/>
                <a:cs typeface="Consolas"/>
              </a:rPr>
              <a:t>If</a:t>
            </a:r>
            <a:r>
              <a:rPr sz="950" spc="95" dirty="0">
                <a:solidFill>
                  <a:srgbClr val="60A5FA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472B5"/>
                </a:solidFill>
                <a:latin typeface="Consolas"/>
                <a:cs typeface="Consolas"/>
              </a:rPr>
              <a:t>$pid</a:t>
            </a:r>
            <a:r>
              <a:rPr sz="950" spc="95" dirty="0">
                <a:solidFill>
                  <a:srgbClr val="F472B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950" spc="30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0</a:t>
            </a:r>
            <a:r>
              <a:rPr sz="950" spc="95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spc="-20" dirty="0">
                <a:solidFill>
                  <a:srgbClr val="60A5FA"/>
                </a:solidFill>
                <a:latin typeface="Consolas"/>
                <a:cs typeface="Consolas"/>
              </a:rPr>
              <a:t>Then</a:t>
            </a:r>
            <a:endParaRPr sz="950">
              <a:latin typeface="Consolas"/>
              <a:cs typeface="Consolas"/>
            </a:endParaRPr>
          </a:p>
          <a:p>
            <a:pPr marL="317500" marR="5080">
              <a:lnSpc>
                <a:spcPct val="125000"/>
              </a:lnSpc>
            </a:pPr>
            <a:r>
              <a:rPr sz="950" dirty="0">
                <a:solidFill>
                  <a:srgbClr val="FABE24"/>
                </a:solidFill>
                <a:latin typeface="Consolas"/>
                <a:cs typeface="Consolas"/>
              </a:rPr>
              <a:t>PSMDispatcherUtilsWrapper_LogWrite</a:t>
            </a:r>
            <a:r>
              <a:rPr sz="950" spc="175" dirty="0">
                <a:solidFill>
                  <a:srgbClr val="FABE24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r>
              <a:rPr sz="950" spc="175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5F2FB"/>
                </a:solidFill>
                <a:latin typeface="Consolas"/>
                <a:cs typeface="Consolas"/>
              </a:rPr>
              <a:t>"Failed</a:t>
            </a:r>
            <a:r>
              <a:rPr sz="950" spc="100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5F2FB"/>
                </a:solidFill>
                <a:latin typeface="Consolas"/>
                <a:cs typeface="Consolas"/>
              </a:rPr>
              <a:t>to</a:t>
            </a:r>
            <a:r>
              <a:rPr sz="950" spc="100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5F2FB"/>
                </a:solidFill>
                <a:latin typeface="Consolas"/>
                <a:cs typeface="Consolas"/>
              </a:rPr>
              <a:t>launch</a:t>
            </a:r>
            <a:r>
              <a:rPr sz="950" spc="100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5F2FB"/>
                </a:solidFill>
                <a:latin typeface="Consolas"/>
                <a:cs typeface="Consolas"/>
              </a:rPr>
              <a:t>client"</a:t>
            </a:r>
            <a:r>
              <a:rPr sz="950" spc="17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950" spc="180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472B5"/>
                </a:solidFill>
                <a:latin typeface="Consolas"/>
                <a:cs typeface="Consolas"/>
              </a:rPr>
              <a:t>$LOG_LEVEL_ERROR</a:t>
            </a:r>
            <a:r>
              <a:rPr sz="950" spc="175" dirty="0">
                <a:solidFill>
                  <a:srgbClr val="F472B5"/>
                </a:solidFill>
                <a:latin typeface="Consolas"/>
                <a:cs typeface="Consolas"/>
              </a:rPr>
              <a:t> </a:t>
            </a:r>
            <a:r>
              <a:rPr sz="950" spc="-50" dirty="0">
                <a:solidFill>
                  <a:srgbClr val="E2E7F0"/>
                </a:solidFill>
                <a:latin typeface="Consolas"/>
                <a:cs typeface="Consolas"/>
              </a:rPr>
              <a:t>) </a:t>
            </a:r>
            <a:r>
              <a:rPr sz="950" dirty="0">
                <a:solidFill>
                  <a:srgbClr val="FABE24"/>
                </a:solidFill>
                <a:latin typeface="Consolas"/>
                <a:cs typeface="Consolas"/>
              </a:rPr>
              <a:t>Exit</a:t>
            </a:r>
            <a:r>
              <a:rPr sz="950" spc="114" dirty="0">
                <a:solidFill>
                  <a:srgbClr val="FABE24"/>
                </a:solidFill>
                <a:latin typeface="Consolas"/>
                <a:cs typeface="Consolas"/>
              </a:rPr>
              <a:t> </a:t>
            </a:r>
            <a:r>
              <a:rPr sz="950" spc="-50" dirty="0">
                <a:solidFill>
                  <a:srgbClr val="E2E7F0"/>
                </a:solidFill>
                <a:latin typeface="Consolas"/>
                <a:cs typeface="Consolas"/>
              </a:rPr>
              <a:t>1</a:t>
            </a:r>
            <a:endParaRPr sz="950">
              <a:latin typeface="Consolas"/>
              <a:cs typeface="Consolas"/>
            </a:endParaRPr>
          </a:p>
          <a:p>
            <a:pPr marL="165100">
              <a:lnSpc>
                <a:spcPct val="100000"/>
              </a:lnSpc>
              <a:spcBef>
                <a:spcPts val="284"/>
              </a:spcBef>
            </a:pPr>
            <a:r>
              <a:rPr sz="950" spc="-10" dirty="0">
                <a:solidFill>
                  <a:srgbClr val="60A5FA"/>
                </a:solidFill>
                <a:latin typeface="Consolas"/>
                <a:cs typeface="Consolas"/>
              </a:rPr>
              <a:t>EndIf</a:t>
            </a:r>
            <a:endParaRPr sz="950">
              <a:latin typeface="Consolas"/>
              <a:cs typeface="Consolas"/>
            </a:endParaRPr>
          </a:p>
          <a:p>
            <a:pPr marL="12700" marR="5091430" indent="152400">
              <a:lnSpc>
                <a:spcPct val="125000"/>
              </a:lnSpc>
            </a:pPr>
            <a:r>
              <a:rPr sz="950" dirty="0">
                <a:solidFill>
                  <a:srgbClr val="FABE24"/>
                </a:solidFill>
                <a:latin typeface="Consolas"/>
                <a:cs typeface="Consolas"/>
              </a:rPr>
              <a:t>Return</a:t>
            </a:r>
            <a:r>
              <a:rPr sz="950" spc="135" dirty="0">
                <a:solidFill>
                  <a:srgbClr val="FABE24"/>
                </a:solidFill>
                <a:latin typeface="Consolas"/>
                <a:cs typeface="Consolas"/>
              </a:rPr>
              <a:t> </a:t>
            </a:r>
            <a:r>
              <a:rPr sz="950" spc="-20" dirty="0">
                <a:solidFill>
                  <a:srgbClr val="F472B5"/>
                </a:solidFill>
                <a:latin typeface="Consolas"/>
                <a:cs typeface="Consolas"/>
              </a:rPr>
              <a:t>$pid </a:t>
            </a:r>
            <a:r>
              <a:rPr sz="950" spc="-10" dirty="0">
                <a:solidFill>
                  <a:srgbClr val="FABE24"/>
                </a:solidFill>
                <a:latin typeface="Consolas"/>
                <a:cs typeface="Consolas"/>
              </a:rPr>
              <a:t>EndFunc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0" y="6793991"/>
            <a:ext cx="12192000" cy="64135"/>
          </a:xfrm>
          <a:custGeom>
            <a:avLst/>
            <a:gdLst/>
            <a:ahLst/>
            <a:cxnLst/>
            <a:rect l="l" t="t" r="r" b="b"/>
            <a:pathLst>
              <a:path w="12192000" h="64134">
                <a:moveTo>
                  <a:pt x="0" y="0"/>
                </a:moveTo>
                <a:lnTo>
                  <a:pt x="12191999" y="0"/>
                </a:lnTo>
                <a:lnTo>
                  <a:pt x="12191999" y="64008"/>
                </a:ln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215900"/>
            <a:ext cx="28625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Main()</a:t>
            </a:r>
            <a:r>
              <a:rPr spc="229" dirty="0"/>
              <a:t> </a:t>
            </a:r>
            <a:r>
              <a:rPr dirty="0"/>
              <a:t>Function</a:t>
            </a:r>
            <a:r>
              <a:rPr spc="229" dirty="0"/>
              <a:t> </a:t>
            </a:r>
            <a:r>
              <a:rPr spc="-20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00526" y="292100"/>
            <a:ext cx="174688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AutoIt Implementation 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Guide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7368" y="868679"/>
            <a:ext cx="11637645" cy="5994400"/>
            <a:chOff x="277368" y="868679"/>
            <a:chExt cx="11637645" cy="59944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368" y="868679"/>
              <a:ext cx="11637263" cy="599408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400" y="1130299"/>
              <a:ext cx="190500" cy="15875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87400" y="1101725"/>
            <a:ext cx="1604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Implementation </a:t>
            </a:r>
            <a:r>
              <a:rPr sz="1200" b="1" spc="-20" dirty="0">
                <a:solidFill>
                  <a:srgbClr val="1D3A5E"/>
                </a:solidFill>
                <a:latin typeface="Segoe UI"/>
                <a:cs typeface="Segoe UI"/>
              </a:rPr>
              <a:t>Steps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6706" y="1530350"/>
            <a:ext cx="717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1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9325" y="1457166"/>
            <a:ext cx="3118485" cy="3790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Initialize</a:t>
            </a:r>
            <a:r>
              <a:rPr sz="950" spc="7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PSM</a:t>
            </a:r>
            <a:r>
              <a:rPr sz="950" spc="7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25" dirty="0">
                <a:solidFill>
                  <a:srgbClr val="1D3A5E"/>
                </a:solidFill>
                <a:latin typeface="Segoe UI Semibold"/>
                <a:cs typeface="Segoe UI Semibold"/>
              </a:rPr>
              <a:t>API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Call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Init()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initialize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dispatcher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API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before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any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other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calls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7925" y="2111375"/>
            <a:ext cx="88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2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9325" y="2038191"/>
            <a:ext cx="3524885" cy="3790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Fetch</a:t>
            </a:r>
            <a:r>
              <a:rPr sz="950" spc="6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Session</a:t>
            </a:r>
            <a:r>
              <a:rPr sz="950" spc="6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Properties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Use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GetSessionProperty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retrieve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credentials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and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connection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details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7925" y="2692400"/>
            <a:ext cx="88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3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9325" y="2619216"/>
            <a:ext cx="2667000" cy="3790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Launch</a:t>
            </a:r>
            <a:r>
              <a:rPr sz="950" spc="7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Client</a:t>
            </a:r>
            <a:r>
              <a:rPr sz="950" spc="7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&amp;</a:t>
            </a:r>
            <a:r>
              <a:rPr sz="950" spc="7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Automate</a:t>
            </a:r>
            <a:r>
              <a:rPr sz="950" spc="7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Login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Start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application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and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handle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authentication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logic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6735" y="3273425"/>
            <a:ext cx="914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4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9325" y="3200241"/>
            <a:ext cx="2310765" cy="3790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SendPID</a:t>
            </a:r>
            <a:r>
              <a:rPr sz="950" spc="7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After</a:t>
            </a:r>
            <a:r>
              <a:rPr sz="950" spc="7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Login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Report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PID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PSM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only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after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login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completes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7925" y="3854450"/>
            <a:ext cx="88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5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49325" y="3781266"/>
            <a:ext cx="2272665" cy="3790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Cleanup</a:t>
            </a:r>
            <a:r>
              <a:rPr sz="950" spc="5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&amp;</a:t>
            </a:r>
            <a:r>
              <a:rPr sz="950" spc="5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Terminate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Call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Term()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free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resources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and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end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session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400" y="4800600"/>
            <a:ext cx="152400" cy="15240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54050" y="4768850"/>
            <a:ext cx="4796155" cy="73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Key</a:t>
            </a:r>
            <a:r>
              <a:rPr sz="1200" b="1" spc="-3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Points</a:t>
            </a:r>
            <a:endParaRPr sz="1200">
              <a:latin typeface="Segoe UI"/>
              <a:cs typeface="Segoe UI"/>
            </a:endParaRPr>
          </a:p>
          <a:p>
            <a:pPr marL="12700" marR="5080">
              <a:lnSpc>
                <a:spcPct val="118100"/>
              </a:lnSpc>
              <a:spcBef>
                <a:spcPts val="1590"/>
              </a:spcBef>
            </a:pPr>
            <a:r>
              <a:rPr sz="900" b="1" dirty="0">
                <a:solidFill>
                  <a:srgbClr val="1D3A5E"/>
                </a:solidFill>
                <a:latin typeface="Segoe UI"/>
                <a:cs typeface="Segoe UI"/>
              </a:rPr>
              <a:t>SendPID</a:t>
            </a:r>
            <a:r>
              <a:rPr sz="900" b="1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b="1" dirty="0">
                <a:solidFill>
                  <a:srgbClr val="1D3A5E"/>
                </a:solidFill>
                <a:latin typeface="Segoe UI"/>
                <a:cs typeface="Segoe UI"/>
              </a:rPr>
              <a:t>Timing:</a:t>
            </a:r>
            <a:r>
              <a:rPr sz="900" b="1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Must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only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be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called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after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login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procedure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is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complete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to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ensure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user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input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1D3A5E"/>
                </a:solidFill>
                <a:latin typeface="Segoe UI"/>
                <a:cs typeface="Segoe UI"/>
              </a:rPr>
              <a:t>is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blocked correctly during 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automation.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48400" y="1133475"/>
            <a:ext cx="114300" cy="152400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dirty="0"/>
              <a:t>Complete</a:t>
            </a:r>
            <a:r>
              <a:rPr spc="-40" dirty="0"/>
              <a:t> </a:t>
            </a:r>
            <a:r>
              <a:rPr dirty="0"/>
              <a:t>AutoIt</a:t>
            </a:r>
            <a:r>
              <a:rPr spc="-40" dirty="0"/>
              <a:t> </a:t>
            </a:r>
            <a:r>
              <a:rPr dirty="0"/>
              <a:t>Code</a:t>
            </a:r>
            <a:r>
              <a:rPr spc="-35" dirty="0"/>
              <a:t> </a:t>
            </a:r>
            <a:r>
              <a:rPr spc="-10" dirty="0"/>
              <a:t>Example</a:t>
            </a: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sz="900" b="0" spc="-10" dirty="0">
                <a:solidFill>
                  <a:srgbClr val="60A5FA"/>
                </a:solidFill>
                <a:latin typeface="Consolas"/>
                <a:cs typeface="Consolas"/>
              </a:rPr>
              <a:t>Func</a:t>
            </a:r>
            <a:r>
              <a:rPr sz="900" b="0" spc="-10" dirty="0">
                <a:solidFill>
                  <a:srgbClr val="F59D0A"/>
                </a:solidFill>
                <a:latin typeface="Consolas"/>
                <a:cs typeface="Consolas"/>
              </a:rPr>
              <a:t>Main</a:t>
            </a:r>
            <a:r>
              <a:rPr sz="900" b="0" spc="-10" dirty="0">
                <a:solidFill>
                  <a:srgbClr val="E2E7F0"/>
                </a:solidFill>
                <a:latin typeface="Consolas"/>
                <a:cs typeface="Consolas"/>
              </a:rPr>
              <a:t>()</a:t>
            </a:r>
            <a:endParaRPr sz="900">
              <a:latin typeface="Consolas"/>
              <a:cs typeface="Consolas"/>
            </a:endParaRPr>
          </a:p>
          <a:p>
            <a:pPr marL="263525">
              <a:lnSpc>
                <a:spcPct val="100000"/>
              </a:lnSpc>
              <a:spcBef>
                <a:spcPts val="270"/>
              </a:spcBef>
            </a:pP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900" b="0" spc="-5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Initialize</a:t>
            </a:r>
            <a:r>
              <a:rPr sz="900" b="0" spc="-4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PSM</a:t>
            </a:r>
            <a:r>
              <a:rPr sz="900" b="0" spc="-4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spc="-25" dirty="0">
                <a:solidFill>
                  <a:srgbClr val="94A2B8"/>
                </a:solidFill>
                <a:latin typeface="Consolas"/>
                <a:cs typeface="Consolas"/>
              </a:rPr>
              <a:t>API</a:t>
            </a:r>
            <a:endParaRPr sz="900">
              <a:latin typeface="Consolas"/>
              <a:cs typeface="Consolas"/>
            </a:endParaRPr>
          </a:p>
          <a:p>
            <a:pPr marL="263525">
              <a:lnSpc>
                <a:spcPct val="100000"/>
              </a:lnSpc>
              <a:spcBef>
                <a:spcPts val="270"/>
              </a:spcBef>
            </a:pPr>
            <a:r>
              <a:rPr sz="900" b="0" spc="-10" dirty="0">
                <a:solidFill>
                  <a:srgbClr val="60A5FA"/>
                </a:solidFill>
                <a:latin typeface="Consolas"/>
                <a:cs typeface="Consolas"/>
              </a:rPr>
              <a:t>If</a:t>
            </a:r>
            <a:r>
              <a:rPr sz="900" b="0" spc="-10" dirty="0">
                <a:solidFill>
                  <a:srgbClr val="F59D0A"/>
                </a:solidFill>
                <a:latin typeface="Consolas"/>
                <a:cs typeface="Consolas"/>
              </a:rPr>
              <a:t>PSMDispatcherUtilsWrapper_Init</a:t>
            </a:r>
            <a:r>
              <a:rPr sz="900" b="0" spc="-10" dirty="0">
                <a:solidFill>
                  <a:srgbClr val="E2E7F0"/>
                </a:solidFill>
                <a:latin typeface="Consolas"/>
                <a:cs typeface="Consolas"/>
              </a:rPr>
              <a:t>()</a:t>
            </a:r>
            <a:r>
              <a:rPr sz="900" b="0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00" b="0" spc="-10" dirty="0">
                <a:solidFill>
                  <a:srgbClr val="E2E7F0"/>
                </a:solidFill>
                <a:latin typeface="Consolas"/>
                <a:cs typeface="Consolas"/>
              </a:rPr>
              <a:t>&lt;&gt;</a:t>
            </a:r>
            <a:r>
              <a:rPr sz="900" b="0" spc="-10" dirty="0">
                <a:solidFill>
                  <a:srgbClr val="33D399"/>
                </a:solidFill>
                <a:latin typeface="Consolas"/>
                <a:cs typeface="Consolas"/>
              </a:rPr>
              <a:t>$PSM_ERROR_SUCCESS</a:t>
            </a:r>
            <a:r>
              <a:rPr sz="900" b="0" spc="-10" dirty="0">
                <a:solidFill>
                  <a:srgbClr val="60A5FA"/>
                </a:solidFill>
                <a:latin typeface="Consolas"/>
                <a:cs typeface="Consolas"/>
              </a:rPr>
              <a:t>Then</a:t>
            </a:r>
            <a:endParaRPr sz="900">
              <a:latin typeface="Consolas"/>
              <a:cs typeface="Consolas"/>
            </a:endParaRPr>
          </a:p>
          <a:p>
            <a:pPr marL="514984" marR="5080">
              <a:lnSpc>
                <a:spcPct val="125000"/>
              </a:lnSpc>
            </a:pPr>
            <a:r>
              <a:rPr sz="900" b="0" spc="-10" dirty="0">
                <a:solidFill>
                  <a:srgbClr val="F59D0A"/>
                </a:solidFill>
                <a:latin typeface="Consolas"/>
                <a:cs typeface="Consolas"/>
              </a:rPr>
              <a:t>MsgBox</a:t>
            </a:r>
            <a:r>
              <a:rPr sz="900" b="0" spc="-10" dirty="0">
                <a:solidFill>
                  <a:srgbClr val="E2E7F0"/>
                </a:solidFill>
                <a:latin typeface="Consolas"/>
                <a:cs typeface="Consolas"/>
              </a:rPr>
              <a:t>(16,</a:t>
            </a:r>
            <a:r>
              <a:rPr sz="900" b="0" spc="-10" dirty="0">
                <a:solidFill>
                  <a:srgbClr val="A5F2FB"/>
                </a:solidFill>
                <a:latin typeface="Consolas"/>
                <a:cs typeface="Consolas"/>
              </a:rPr>
              <a:t>"Error"</a:t>
            </a:r>
            <a:r>
              <a:rPr sz="900" b="0" spc="-1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900" b="0" spc="-10" dirty="0">
                <a:solidFill>
                  <a:srgbClr val="F59D0A"/>
                </a:solidFill>
                <a:latin typeface="Consolas"/>
                <a:cs typeface="Consolas"/>
              </a:rPr>
              <a:t>PSMDispatcherUtilsWrapper_PSMGetLastErrorString</a:t>
            </a:r>
            <a:r>
              <a:rPr sz="900" b="0" spc="-10" dirty="0">
                <a:solidFill>
                  <a:srgbClr val="E2E7F0"/>
                </a:solidFill>
                <a:latin typeface="Consolas"/>
                <a:cs typeface="Consolas"/>
              </a:rPr>
              <a:t>()) </a:t>
            </a:r>
            <a:r>
              <a:rPr sz="900" b="0" spc="-10" dirty="0">
                <a:solidFill>
                  <a:srgbClr val="60A5FA"/>
                </a:solidFill>
                <a:latin typeface="Consolas"/>
                <a:cs typeface="Consolas"/>
              </a:rPr>
              <a:t>Exit</a:t>
            </a:r>
            <a:r>
              <a:rPr sz="900" b="0" spc="-10" dirty="0">
                <a:solidFill>
                  <a:srgbClr val="E2E7F0"/>
                </a:solidFill>
                <a:latin typeface="Consolas"/>
                <a:cs typeface="Consolas"/>
              </a:rPr>
              <a:t>1</a:t>
            </a:r>
            <a:endParaRPr sz="900">
              <a:latin typeface="Consolas"/>
              <a:cs typeface="Consolas"/>
            </a:endParaRPr>
          </a:p>
          <a:p>
            <a:pPr marL="263525">
              <a:lnSpc>
                <a:spcPct val="100000"/>
              </a:lnSpc>
              <a:spcBef>
                <a:spcPts val="270"/>
              </a:spcBef>
            </a:pPr>
            <a:r>
              <a:rPr sz="900" b="0" spc="-10" dirty="0">
                <a:solidFill>
                  <a:srgbClr val="60A5FA"/>
                </a:solidFill>
                <a:latin typeface="Consolas"/>
                <a:cs typeface="Consolas"/>
              </a:rPr>
              <a:t>EndIf</a:t>
            </a:r>
            <a:endParaRPr sz="9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900">
              <a:latin typeface="Consolas"/>
              <a:cs typeface="Consolas"/>
            </a:endParaRPr>
          </a:p>
          <a:p>
            <a:pPr marL="263525" marR="2895600">
              <a:lnSpc>
                <a:spcPct val="125000"/>
              </a:lnSpc>
            </a:pP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900" b="0" spc="-4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Fetch</a:t>
            </a:r>
            <a:r>
              <a:rPr sz="900" b="0" spc="-4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session</a:t>
            </a:r>
            <a:r>
              <a:rPr sz="900" b="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spc="-10" dirty="0">
                <a:solidFill>
                  <a:srgbClr val="94A2B8"/>
                </a:solidFill>
                <a:latin typeface="Consolas"/>
                <a:cs typeface="Consolas"/>
              </a:rPr>
              <a:t>properties </a:t>
            </a:r>
            <a:r>
              <a:rPr sz="900" b="0" spc="-10" dirty="0">
                <a:solidFill>
                  <a:srgbClr val="60A5FA"/>
                </a:solidFill>
                <a:latin typeface="Consolas"/>
                <a:cs typeface="Consolas"/>
              </a:rPr>
              <a:t>Local</a:t>
            </a:r>
            <a:r>
              <a:rPr sz="900" b="0" spc="-10" dirty="0">
                <a:solidFill>
                  <a:srgbClr val="33D399"/>
                </a:solidFill>
                <a:latin typeface="Consolas"/>
                <a:cs typeface="Consolas"/>
              </a:rPr>
              <a:t>$addr</a:t>
            </a:r>
            <a:r>
              <a:rPr sz="900" b="0" spc="-1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900" b="0" spc="-10" dirty="0">
                <a:solidFill>
                  <a:srgbClr val="33D399"/>
                </a:solidFill>
                <a:latin typeface="Consolas"/>
                <a:cs typeface="Consolas"/>
              </a:rPr>
              <a:t>$user</a:t>
            </a:r>
            <a:r>
              <a:rPr sz="900" b="0" spc="-1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900" b="0" spc="-10" dirty="0">
                <a:solidFill>
                  <a:srgbClr val="33D399"/>
                </a:solidFill>
                <a:latin typeface="Consolas"/>
                <a:cs typeface="Consolas"/>
              </a:rPr>
              <a:t>$pass</a:t>
            </a:r>
            <a:endParaRPr sz="900">
              <a:latin typeface="Consolas"/>
              <a:cs typeface="Consolas"/>
            </a:endParaRPr>
          </a:p>
          <a:p>
            <a:pPr marL="263525" marR="633095">
              <a:lnSpc>
                <a:spcPct val="125000"/>
              </a:lnSpc>
            </a:pPr>
            <a:r>
              <a:rPr sz="900" b="0" spc="-10" dirty="0">
                <a:solidFill>
                  <a:srgbClr val="F59D0A"/>
                </a:solidFill>
                <a:latin typeface="Consolas"/>
                <a:cs typeface="Consolas"/>
              </a:rPr>
              <a:t>PSMDispatcherUtilsWrapper_GetSessionProperty</a:t>
            </a:r>
            <a:r>
              <a:rPr sz="900" b="0" spc="-1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r>
              <a:rPr sz="900" b="0" spc="-10" dirty="0">
                <a:solidFill>
                  <a:srgbClr val="A5F2FB"/>
                </a:solidFill>
                <a:latin typeface="Consolas"/>
                <a:cs typeface="Consolas"/>
              </a:rPr>
              <a:t>"Address"</a:t>
            </a:r>
            <a:r>
              <a:rPr sz="900" b="0" spc="-1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900" b="0" spc="-10" dirty="0">
                <a:solidFill>
                  <a:srgbClr val="33D399"/>
                </a:solidFill>
                <a:latin typeface="Consolas"/>
                <a:cs typeface="Consolas"/>
              </a:rPr>
              <a:t>$addr</a:t>
            </a:r>
            <a:r>
              <a:rPr sz="900" b="0" spc="-10" dirty="0">
                <a:solidFill>
                  <a:srgbClr val="E2E7F0"/>
                </a:solidFill>
                <a:latin typeface="Consolas"/>
                <a:cs typeface="Consolas"/>
              </a:rPr>
              <a:t>) </a:t>
            </a:r>
            <a:r>
              <a:rPr sz="900" b="0" spc="-10" dirty="0">
                <a:solidFill>
                  <a:srgbClr val="F59D0A"/>
                </a:solidFill>
                <a:latin typeface="Consolas"/>
                <a:cs typeface="Consolas"/>
              </a:rPr>
              <a:t>PSMDispatcherUtilsWrapper_GetSessionProperty</a:t>
            </a:r>
            <a:r>
              <a:rPr sz="900" b="0" spc="-1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r>
              <a:rPr sz="900" b="0" spc="-10" dirty="0">
                <a:solidFill>
                  <a:srgbClr val="A5F2FB"/>
                </a:solidFill>
                <a:latin typeface="Consolas"/>
                <a:cs typeface="Consolas"/>
              </a:rPr>
              <a:t>"Username"</a:t>
            </a:r>
            <a:r>
              <a:rPr sz="900" b="0" spc="-1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900" b="0" spc="-10" dirty="0">
                <a:solidFill>
                  <a:srgbClr val="33D399"/>
                </a:solidFill>
                <a:latin typeface="Consolas"/>
                <a:cs typeface="Consolas"/>
              </a:rPr>
              <a:t>$user</a:t>
            </a:r>
            <a:r>
              <a:rPr sz="900" b="0" spc="-10" dirty="0">
                <a:solidFill>
                  <a:srgbClr val="E2E7F0"/>
                </a:solidFill>
                <a:latin typeface="Consolas"/>
                <a:cs typeface="Consolas"/>
              </a:rPr>
              <a:t>) </a:t>
            </a:r>
            <a:r>
              <a:rPr sz="900" b="0" spc="-10" dirty="0">
                <a:solidFill>
                  <a:srgbClr val="F59D0A"/>
                </a:solidFill>
                <a:latin typeface="Consolas"/>
                <a:cs typeface="Consolas"/>
              </a:rPr>
              <a:t>PSMDispatcherUtilsWrapper_GetSessionProperty</a:t>
            </a:r>
            <a:r>
              <a:rPr sz="900" b="0" spc="-1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r>
              <a:rPr sz="900" b="0" spc="-10" dirty="0">
                <a:solidFill>
                  <a:srgbClr val="A5F2FB"/>
                </a:solidFill>
                <a:latin typeface="Consolas"/>
                <a:cs typeface="Consolas"/>
              </a:rPr>
              <a:t>"Password"</a:t>
            </a:r>
            <a:r>
              <a:rPr sz="900" b="0" spc="-1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900" b="0" spc="-10" dirty="0">
                <a:solidFill>
                  <a:srgbClr val="33D399"/>
                </a:solidFill>
                <a:latin typeface="Consolas"/>
                <a:cs typeface="Consolas"/>
              </a:rPr>
              <a:t>$pass</a:t>
            </a:r>
            <a:r>
              <a:rPr sz="900" b="0" spc="-10" dirty="0">
                <a:solidFill>
                  <a:srgbClr val="E2E7F0"/>
                </a:solidFill>
                <a:latin typeface="Consolas"/>
                <a:cs typeface="Consolas"/>
              </a:rPr>
              <a:t>)</a:t>
            </a:r>
            <a:endParaRPr sz="9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900">
              <a:latin typeface="Consolas"/>
              <a:cs typeface="Consolas"/>
            </a:endParaRPr>
          </a:p>
          <a:p>
            <a:pPr marL="263525" marR="2393315">
              <a:lnSpc>
                <a:spcPct val="125000"/>
              </a:lnSpc>
            </a:pP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900" b="0" spc="-6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Launch</a:t>
            </a:r>
            <a:r>
              <a:rPr sz="900" b="0" spc="-5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client</a:t>
            </a:r>
            <a:r>
              <a:rPr sz="900" b="0" spc="-4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and</a:t>
            </a:r>
            <a:r>
              <a:rPr sz="900" b="0" spc="-5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automate</a:t>
            </a:r>
            <a:r>
              <a:rPr sz="900" b="0" spc="-4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spc="-10" dirty="0">
                <a:solidFill>
                  <a:srgbClr val="94A2B8"/>
                </a:solidFill>
                <a:latin typeface="Consolas"/>
                <a:cs typeface="Consolas"/>
              </a:rPr>
              <a:t>login </a:t>
            </a:r>
            <a:r>
              <a:rPr sz="900" b="0" spc="-10" dirty="0">
                <a:solidFill>
                  <a:srgbClr val="60A5FA"/>
                </a:solidFill>
                <a:latin typeface="Consolas"/>
                <a:cs typeface="Consolas"/>
              </a:rPr>
              <a:t>Local</a:t>
            </a:r>
            <a:r>
              <a:rPr sz="900" b="0" spc="-10" dirty="0">
                <a:solidFill>
                  <a:srgbClr val="33D399"/>
                </a:solidFill>
                <a:latin typeface="Consolas"/>
                <a:cs typeface="Consolas"/>
              </a:rPr>
              <a:t>$pid</a:t>
            </a:r>
            <a:r>
              <a:rPr sz="900" b="0" spc="-1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900" b="0" spc="-10" dirty="0">
                <a:solidFill>
                  <a:srgbClr val="F59D0A"/>
                </a:solidFill>
                <a:latin typeface="Consolas"/>
                <a:cs typeface="Consolas"/>
              </a:rPr>
              <a:t>LaunchClient</a:t>
            </a:r>
            <a:r>
              <a:rPr sz="900" b="0" spc="-10" dirty="0">
                <a:solidFill>
                  <a:srgbClr val="E2E7F0"/>
                </a:solidFill>
                <a:latin typeface="Consolas"/>
                <a:cs typeface="Consolas"/>
              </a:rPr>
              <a:t>()</a:t>
            </a:r>
            <a:endParaRPr sz="9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900">
              <a:latin typeface="Consolas"/>
              <a:cs typeface="Consolas"/>
            </a:endParaRPr>
          </a:p>
          <a:p>
            <a:pPr marL="263525">
              <a:lnSpc>
                <a:spcPct val="100000"/>
              </a:lnSpc>
            </a:pP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900" b="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TODO:</a:t>
            </a:r>
            <a:r>
              <a:rPr sz="900" b="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Handle</a:t>
            </a:r>
            <a:r>
              <a:rPr sz="900" b="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login</a:t>
            </a:r>
            <a:r>
              <a:rPr sz="900" b="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here!</a:t>
            </a:r>
            <a:r>
              <a:rPr sz="900" b="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spc="-10" dirty="0">
                <a:solidFill>
                  <a:srgbClr val="94A2B8"/>
                </a:solidFill>
                <a:latin typeface="Consolas"/>
                <a:cs typeface="Consolas"/>
              </a:rPr>
              <a:t>(ControlSetText/Send</a:t>
            </a:r>
            <a:r>
              <a:rPr sz="900" b="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for</a:t>
            </a:r>
            <a:r>
              <a:rPr sz="900" b="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spc="-10" dirty="0">
                <a:solidFill>
                  <a:srgbClr val="94A2B8"/>
                </a:solidFill>
                <a:latin typeface="Consolas"/>
                <a:cs typeface="Consolas"/>
              </a:rPr>
              <a:t>$user/$pass/$addr)</a:t>
            </a:r>
            <a:endParaRPr sz="900">
              <a:latin typeface="Consolas"/>
              <a:cs typeface="Consolas"/>
            </a:endParaRPr>
          </a:p>
          <a:p>
            <a:pPr marL="263525">
              <a:lnSpc>
                <a:spcPct val="100000"/>
              </a:lnSpc>
              <a:spcBef>
                <a:spcPts val="270"/>
              </a:spcBef>
            </a:pP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900" b="0" spc="-2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Wait</a:t>
            </a:r>
            <a:r>
              <a:rPr sz="900" b="0" spc="-2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until</a:t>
            </a:r>
            <a:r>
              <a:rPr sz="900" b="0" spc="-2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spc="-10" dirty="0">
                <a:solidFill>
                  <a:srgbClr val="94A2B8"/>
                </a:solidFill>
                <a:latin typeface="Consolas"/>
                <a:cs typeface="Consolas"/>
              </a:rPr>
              <a:t>authentication</a:t>
            </a:r>
            <a:r>
              <a:rPr sz="900" b="0" spc="-2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spc="-10" dirty="0">
                <a:solidFill>
                  <a:srgbClr val="94A2B8"/>
                </a:solidFill>
                <a:latin typeface="Consolas"/>
                <a:cs typeface="Consolas"/>
              </a:rPr>
              <a:t>completes</a:t>
            </a:r>
            <a:endParaRPr sz="9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900">
              <a:latin typeface="Consolas"/>
              <a:cs typeface="Consolas"/>
            </a:endParaRPr>
          </a:p>
          <a:p>
            <a:pPr marL="263525" marR="2016125">
              <a:lnSpc>
                <a:spcPct val="125000"/>
              </a:lnSpc>
            </a:pP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900" b="0" spc="-5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Only</a:t>
            </a:r>
            <a:r>
              <a:rPr sz="900" b="0" spc="-5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AFTER</a:t>
            </a:r>
            <a:r>
              <a:rPr sz="900" b="0" spc="-5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login</a:t>
            </a:r>
            <a:r>
              <a:rPr sz="900" b="0" spc="-5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completes,</a:t>
            </a:r>
            <a:r>
              <a:rPr sz="900" b="0" spc="-5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report</a:t>
            </a:r>
            <a:r>
              <a:rPr sz="900" b="0" spc="-5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spc="-25" dirty="0">
                <a:solidFill>
                  <a:srgbClr val="94A2B8"/>
                </a:solidFill>
                <a:latin typeface="Consolas"/>
                <a:cs typeface="Consolas"/>
              </a:rPr>
              <a:t>PID </a:t>
            </a:r>
            <a:r>
              <a:rPr sz="900" b="0" spc="-10" dirty="0">
                <a:solidFill>
                  <a:srgbClr val="F59D0A"/>
                </a:solidFill>
                <a:latin typeface="Consolas"/>
                <a:cs typeface="Consolas"/>
              </a:rPr>
              <a:t>PSMDispatcherUtilsWrapper_SendPID</a:t>
            </a:r>
            <a:r>
              <a:rPr sz="900" b="0" spc="-1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r>
              <a:rPr sz="900" b="0" spc="-10" dirty="0">
                <a:solidFill>
                  <a:srgbClr val="33D399"/>
                </a:solidFill>
                <a:latin typeface="Consolas"/>
                <a:cs typeface="Consolas"/>
              </a:rPr>
              <a:t>$pid</a:t>
            </a:r>
            <a:r>
              <a:rPr sz="900" b="0" spc="-10" dirty="0">
                <a:solidFill>
                  <a:srgbClr val="E2E7F0"/>
                </a:solidFill>
                <a:latin typeface="Consolas"/>
                <a:cs typeface="Consolas"/>
              </a:rPr>
              <a:t>)</a:t>
            </a:r>
            <a:endParaRPr sz="9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900">
              <a:latin typeface="Consolas"/>
              <a:cs typeface="Consolas"/>
            </a:endParaRPr>
          </a:p>
          <a:p>
            <a:pPr marL="263525">
              <a:lnSpc>
                <a:spcPct val="100000"/>
              </a:lnSpc>
              <a:spcBef>
                <a:spcPts val="5"/>
              </a:spcBef>
            </a:pP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900" b="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Cleanup</a:t>
            </a:r>
            <a:r>
              <a:rPr sz="900" b="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dirty="0">
                <a:solidFill>
                  <a:srgbClr val="94A2B8"/>
                </a:solidFill>
                <a:latin typeface="Consolas"/>
                <a:cs typeface="Consolas"/>
              </a:rPr>
              <a:t>and</a:t>
            </a:r>
            <a:r>
              <a:rPr sz="900" b="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b="0" spc="-10" dirty="0">
                <a:solidFill>
                  <a:srgbClr val="94A2B8"/>
                </a:solidFill>
                <a:latin typeface="Consolas"/>
                <a:cs typeface="Consolas"/>
              </a:rPr>
              <a:t>terminate</a:t>
            </a:r>
            <a:endParaRPr sz="900">
              <a:latin typeface="Consolas"/>
              <a:cs typeface="Consolas"/>
            </a:endParaRPr>
          </a:p>
          <a:p>
            <a:pPr marL="12700" marR="2518410" indent="250825">
              <a:lnSpc>
                <a:spcPct val="125000"/>
              </a:lnSpc>
            </a:pPr>
            <a:r>
              <a:rPr sz="900" b="0" spc="-10" dirty="0">
                <a:solidFill>
                  <a:srgbClr val="F59D0A"/>
                </a:solidFill>
                <a:latin typeface="Consolas"/>
                <a:cs typeface="Consolas"/>
              </a:rPr>
              <a:t>PSMDispatcherUtilsWrapper_Term</a:t>
            </a:r>
            <a:r>
              <a:rPr sz="900" b="0" spc="-10" dirty="0">
                <a:solidFill>
                  <a:srgbClr val="E2E7F0"/>
                </a:solidFill>
                <a:latin typeface="Consolas"/>
                <a:cs typeface="Consolas"/>
              </a:rPr>
              <a:t>() </a:t>
            </a:r>
            <a:r>
              <a:rPr sz="900" b="0" spc="-10" dirty="0">
                <a:solidFill>
                  <a:srgbClr val="60A5FA"/>
                </a:solidFill>
                <a:latin typeface="Consolas"/>
                <a:cs typeface="Consolas"/>
              </a:rPr>
              <a:t>EndFunc</a:t>
            </a:r>
            <a:endParaRPr sz="900">
              <a:latin typeface="Consolas"/>
              <a:cs typeface="Consola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6410325"/>
            <a:ext cx="12192000" cy="447675"/>
            <a:chOff x="0" y="6410325"/>
            <a:chExt cx="12192000" cy="447675"/>
          </a:xfrm>
        </p:grpSpPr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51575" y="6410325"/>
              <a:ext cx="107950" cy="1524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0" y="6793991"/>
              <a:ext cx="12192000" cy="64135"/>
            </a:xfrm>
            <a:custGeom>
              <a:avLst/>
              <a:gdLst/>
              <a:ahLst/>
              <a:cxnLst/>
              <a:rect l="l" t="t" r="r" b="b"/>
              <a:pathLst>
                <a:path w="12192000" h="64134">
                  <a:moveTo>
                    <a:pt x="0" y="0"/>
                  </a:moveTo>
                  <a:lnTo>
                    <a:pt x="12191999" y="0"/>
                  </a:lnTo>
                  <a:lnTo>
                    <a:pt x="12191999" y="64008"/>
                  </a:lnTo>
                  <a:lnTo>
                    <a:pt x="0" y="64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426200" y="6378575"/>
            <a:ext cx="10090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Best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Practices</a:t>
            </a:r>
            <a:endParaRPr sz="1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215900"/>
            <a:ext cx="38233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Code</a:t>
            </a:r>
            <a:r>
              <a:rPr spc="170" dirty="0"/>
              <a:t> </a:t>
            </a:r>
            <a:r>
              <a:rPr dirty="0"/>
              <a:t>Structure</a:t>
            </a:r>
            <a:r>
              <a:rPr spc="175" dirty="0"/>
              <a:t> </a:t>
            </a:r>
            <a:r>
              <a:rPr dirty="0"/>
              <a:t>Best</a:t>
            </a:r>
            <a:r>
              <a:rPr spc="175" dirty="0"/>
              <a:t> </a:t>
            </a:r>
            <a:r>
              <a:rPr spc="-10" dirty="0"/>
              <a:t>Practices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1056" y="292100"/>
            <a:ext cx="23342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Error</a:t>
            </a:r>
            <a:r>
              <a:rPr sz="1050" spc="-15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Handling,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Security,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and</a:t>
            </a:r>
            <a:r>
              <a:rPr sz="1050" spc="-15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API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 Usage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69878" y="292100"/>
            <a:ext cx="35433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4738B"/>
                </a:solidFill>
                <a:latin typeface="Segoe UI Semibold"/>
                <a:cs typeface="Segoe UI Semibold"/>
              </a:rPr>
              <a:t>17/30</a:t>
            </a:r>
            <a:endParaRPr sz="1050">
              <a:latin typeface="Segoe UI Semibold"/>
              <a:cs typeface="Segoe UI Semibold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7368" y="868679"/>
            <a:ext cx="6590030" cy="4910455"/>
            <a:chOff x="277368" y="868679"/>
            <a:chExt cx="6590030" cy="49104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368" y="868679"/>
              <a:ext cx="6589775" cy="49103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200" y="1181099"/>
              <a:ext cx="146050" cy="1555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800" y="1622424"/>
              <a:ext cx="123825" cy="127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800" y="2289175"/>
              <a:ext cx="123825" cy="1270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800" y="2955924"/>
              <a:ext cx="123825" cy="12700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73100" y="1149350"/>
            <a:ext cx="5163185" cy="2153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Security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&amp;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Error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 Handling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200">
              <a:latin typeface="Segoe UI"/>
              <a:cs typeface="Segoe UI"/>
            </a:endParaRPr>
          </a:p>
          <a:p>
            <a:pPr marL="170180">
              <a:lnSpc>
                <a:spcPct val="100000"/>
              </a:lnSpc>
            </a:pPr>
            <a:r>
              <a:rPr sz="950" dirty="0">
                <a:solidFill>
                  <a:srgbClr val="166533"/>
                </a:solidFill>
                <a:latin typeface="Segoe UI Semibold"/>
                <a:cs typeface="Segoe UI Semibold"/>
              </a:rPr>
              <a:t>Centralize</a:t>
            </a:r>
            <a:r>
              <a:rPr sz="950" spc="95" dirty="0">
                <a:solidFill>
                  <a:srgbClr val="166533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66533"/>
                </a:solidFill>
                <a:latin typeface="Segoe UI Semibold"/>
                <a:cs typeface="Segoe UI Semibold"/>
              </a:rPr>
              <a:t>Error</a:t>
            </a:r>
            <a:r>
              <a:rPr sz="950" spc="95" dirty="0">
                <a:solidFill>
                  <a:srgbClr val="166533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66533"/>
                </a:solidFill>
                <a:latin typeface="Segoe UI Semibold"/>
                <a:cs typeface="Segoe UI Semibold"/>
              </a:rPr>
              <a:t>Handling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Use</a:t>
            </a:r>
            <a:r>
              <a:rPr sz="90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robust</a:t>
            </a:r>
            <a:r>
              <a:rPr sz="90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error</a:t>
            </a:r>
            <a:r>
              <a:rPr sz="90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handling</a:t>
            </a:r>
            <a:r>
              <a:rPr sz="90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with</a:t>
            </a:r>
            <a:r>
              <a:rPr sz="90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try-catch</a:t>
            </a:r>
            <a:r>
              <a:rPr sz="90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blocks</a:t>
            </a:r>
            <a:r>
              <a:rPr sz="90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and</a:t>
            </a:r>
            <a:r>
              <a:rPr sz="90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log</a:t>
            </a:r>
            <a:r>
              <a:rPr sz="90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all</a:t>
            </a:r>
            <a:r>
              <a:rPr sz="90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errors</a:t>
            </a:r>
            <a:r>
              <a:rPr sz="90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using</a:t>
            </a:r>
            <a:r>
              <a:rPr sz="90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LogWrite</a:t>
            </a:r>
            <a:r>
              <a:rPr sz="90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with</a:t>
            </a:r>
            <a:r>
              <a:rPr sz="90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334054"/>
                </a:solidFill>
                <a:latin typeface="Segoe UI"/>
                <a:cs typeface="Segoe UI"/>
              </a:rPr>
              <a:t>context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900">
              <a:latin typeface="Segoe UI"/>
              <a:cs typeface="Segoe UI"/>
            </a:endParaRPr>
          </a:p>
          <a:p>
            <a:pPr marL="170180">
              <a:lnSpc>
                <a:spcPct val="100000"/>
              </a:lnSpc>
              <a:spcBef>
                <a:spcPts val="5"/>
              </a:spcBef>
            </a:pPr>
            <a:r>
              <a:rPr sz="950" dirty="0">
                <a:solidFill>
                  <a:srgbClr val="166533"/>
                </a:solidFill>
                <a:latin typeface="Segoe UI Semibold"/>
                <a:cs typeface="Segoe UI Semibold"/>
              </a:rPr>
              <a:t>Window</a:t>
            </a:r>
            <a:r>
              <a:rPr sz="950" spc="110" dirty="0">
                <a:solidFill>
                  <a:srgbClr val="166533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66533"/>
                </a:solidFill>
                <a:latin typeface="Segoe UI Semibold"/>
                <a:cs typeface="Segoe UI Semibold"/>
              </a:rPr>
              <a:t>Synchronization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Use</a:t>
            </a:r>
            <a:r>
              <a:rPr sz="90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MainWindowTitle/MainWindowClass</a:t>
            </a:r>
            <a:r>
              <a:rPr sz="90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for reliable</a:t>
            </a:r>
            <a:r>
              <a:rPr sz="90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window</a:t>
            </a:r>
            <a:r>
              <a:rPr sz="90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identification with</a:t>
            </a:r>
            <a:r>
              <a:rPr sz="90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configurable</a:t>
            </a:r>
            <a:r>
              <a:rPr sz="90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334054"/>
                </a:solidFill>
                <a:latin typeface="Segoe UI"/>
                <a:cs typeface="Segoe UI"/>
              </a:rPr>
              <a:t>timeouts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900">
              <a:latin typeface="Segoe UI"/>
              <a:cs typeface="Segoe UI"/>
            </a:endParaRPr>
          </a:p>
          <a:p>
            <a:pPr marL="170180">
              <a:lnSpc>
                <a:spcPct val="100000"/>
              </a:lnSpc>
            </a:pPr>
            <a:r>
              <a:rPr sz="950" dirty="0">
                <a:solidFill>
                  <a:srgbClr val="166533"/>
                </a:solidFill>
                <a:latin typeface="Segoe UI Semibold"/>
                <a:cs typeface="Segoe UI Semibold"/>
              </a:rPr>
              <a:t>Prevent</a:t>
            </a:r>
            <a:r>
              <a:rPr sz="950" spc="60" dirty="0">
                <a:solidFill>
                  <a:srgbClr val="166533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66533"/>
                </a:solidFill>
                <a:latin typeface="Segoe UI Semibold"/>
                <a:cs typeface="Segoe UI Semibold"/>
              </a:rPr>
              <a:t>Password</a:t>
            </a:r>
            <a:r>
              <a:rPr sz="950" spc="65" dirty="0">
                <a:solidFill>
                  <a:srgbClr val="166533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66533"/>
                </a:solidFill>
                <a:latin typeface="Segoe UI Semibold"/>
                <a:cs typeface="Segoe UI Semibold"/>
              </a:rPr>
              <a:t>Exposure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Never</a:t>
            </a:r>
            <a:r>
              <a:rPr sz="900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echo</a:t>
            </a:r>
            <a:r>
              <a:rPr sz="90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secrets</a:t>
            </a:r>
            <a:r>
              <a:rPr sz="90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to</a:t>
            </a:r>
            <a:r>
              <a:rPr sz="90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logs/UI;</a:t>
            </a:r>
            <a:r>
              <a:rPr sz="90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sanitize</a:t>
            </a:r>
            <a:r>
              <a:rPr sz="90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strings</a:t>
            </a:r>
            <a:r>
              <a:rPr sz="900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334054"/>
                </a:solidFill>
                <a:latin typeface="Segoe UI"/>
                <a:cs typeface="Segoe UI"/>
              </a:rPr>
              <a:t>before</a:t>
            </a:r>
            <a:r>
              <a:rPr sz="90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334054"/>
                </a:solidFill>
                <a:latin typeface="Segoe UI"/>
                <a:cs typeface="Segoe UI"/>
              </a:rPr>
              <a:t>logging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81025" y="4111625"/>
            <a:ext cx="190500" cy="1184275"/>
            <a:chOff x="581025" y="4111625"/>
            <a:chExt cx="190500" cy="118427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1025" y="4111625"/>
              <a:ext cx="190500" cy="1587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1025" y="4508500"/>
              <a:ext cx="117475" cy="1016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1025" y="4851400"/>
              <a:ext cx="117475" cy="1016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1025" y="5194300"/>
              <a:ext cx="117475" cy="1016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80256" y="4083050"/>
            <a:ext cx="3535045" cy="1223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API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Best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 Practices</a:t>
            </a:r>
            <a:endParaRPr sz="1200">
              <a:latin typeface="Segoe UI"/>
              <a:cs typeface="Segoe UI"/>
            </a:endParaRPr>
          </a:p>
          <a:p>
            <a:pPr marL="12700" marR="5080">
              <a:lnSpc>
                <a:spcPts val="2700"/>
              </a:lnSpc>
              <a:spcBef>
                <a:spcPts val="25"/>
              </a:spcBef>
            </a:pP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Control</a:t>
            </a:r>
            <a:r>
              <a:rPr sz="1050" b="1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APIs:</a:t>
            </a:r>
            <a:r>
              <a:rPr sz="1050" b="1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Prefer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Control* APIs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over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Send()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for 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reliability </a:t>
            </a: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Timeouts:</a:t>
            </a:r>
            <a:r>
              <a:rPr sz="1050" b="1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Use configurable timeouts;</a:t>
            </a:r>
            <a:r>
              <a:rPr sz="1050" spc="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avoid 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busy-waits </a:t>
            </a: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Cleanup:</a:t>
            </a:r>
            <a:r>
              <a:rPr sz="1050" b="1" spc="-2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Clean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up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resources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and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call</a:t>
            </a:r>
            <a:r>
              <a:rPr sz="1050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Term()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in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all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exit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paths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946391" y="868679"/>
            <a:ext cx="4968240" cy="3493135"/>
            <a:chOff x="6946391" y="868679"/>
            <a:chExt cx="4968240" cy="3493135"/>
          </a:xfrm>
        </p:grpSpPr>
        <p:sp>
          <p:nvSpPr>
            <p:cNvPr id="19" name="object 19"/>
            <p:cNvSpPr/>
            <p:nvPr/>
          </p:nvSpPr>
          <p:spPr>
            <a:xfrm>
              <a:off x="6946391" y="868679"/>
              <a:ext cx="4968240" cy="3493135"/>
            </a:xfrm>
            <a:custGeom>
              <a:avLst/>
              <a:gdLst/>
              <a:ahLst/>
              <a:cxnLst/>
              <a:rect l="l" t="t" r="r" b="b"/>
              <a:pathLst>
                <a:path w="4968240" h="3493135">
                  <a:moveTo>
                    <a:pt x="4968239" y="3493007"/>
                  </a:moveTo>
                  <a:lnTo>
                    <a:pt x="0" y="3493007"/>
                  </a:lnTo>
                  <a:lnTo>
                    <a:pt x="0" y="0"/>
                  </a:lnTo>
                  <a:lnTo>
                    <a:pt x="4968239" y="0"/>
                  </a:lnTo>
                  <a:lnTo>
                    <a:pt x="4968239" y="93344"/>
                  </a:lnTo>
                  <a:lnTo>
                    <a:pt x="178307" y="93344"/>
                  </a:lnTo>
                  <a:lnTo>
                    <a:pt x="171741" y="93662"/>
                  </a:lnTo>
                  <a:lnTo>
                    <a:pt x="136024" y="108453"/>
                  </a:lnTo>
                  <a:lnTo>
                    <a:pt x="114485" y="140694"/>
                  </a:lnTo>
                  <a:lnTo>
                    <a:pt x="111617" y="160019"/>
                  </a:lnTo>
                  <a:lnTo>
                    <a:pt x="111617" y="3293760"/>
                  </a:lnTo>
                  <a:lnTo>
                    <a:pt x="122857" y="3330797"/>
                  </a:lnTo>
                  <a:lnTo>
                    <a:pt x="152796" y="3355329"/>
                  </a:lnTo>
                  <a:lnTo>
                    <a:pt x="178307" y="3360419"/>
                  </a:lnTo>
                  <a:lnTo>
                    <a:pt x="4968239" y="3360419"/>
                  </a:lnTo>
                  <a:lnTo>
                    <a:pt x="4968239" y="3493007"/>
                  </a:lnTo>
                  <a:close/>
                </a:path>
                <a:path w="4968240" h="3493135">
                  <a:moveTo>
                    <a:pt x="4968239" y="3360419"/>
                  </a:moveTo>
                  <a:lnTo>
                    <a:pt x="4788407" y="3360419"/>
                  </a:lnTo>
                  <a:lnTo>
                    <a:pt x="4794974" y="3360100"/>
                  </a:lnTo>
                  <a:lnTo>
                    <a:pt x="4801415" y="3359143"/>
                  </a:lnTo>
                  <a:lnTo>
                    <a:pt x="4835560" y="3340882"/>
                  </a:lnTo>
                  <a:lnTo>
                    <a:pt x="4853810" y="3306767"/>
                  </a:lnTo>
                  <a:lnTo>
                    <a:pt x="4855098" y="3293760"/>
                  </a:lnTo>
                  <a:lnTo>
                    <a:pt x="4855098" y="160019"/>
                  </a:lnTo>
                  <a:lnTo>
                    <a:pt x="4843858" y="122970"/>
                  </a:lnTo>
                  <a:lnTo>
                    <a:pt x="4813919" y="98419"/>
                  </a:lnTo>
                  <a:lnTo>
                    <a:pt x="4788407" y="93344"/>
                  </a:lnTo>
                  <a:lnTo>
                    <a:pt x="4968239" y="93344"/>
                  </a:lnTo>
                  <a:lnTo>
                    <a:pt x="4968239" y="3360419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53262" y="957262"/>
              <a:ext cx="4752975" cy="3276600"/>
            </a:xfrm>
            <a:custGeom>
              <a:avLst/>
              <a:gdLst/>
              <a:ahLst/>
              <a:cxnLst/>
              <a:rect l="l" t="t" r="r" b="b"/>
              <a:pathLst>
                <a:path w="4752975" h="3276600">
                  <a:moveTo>
                    <a:pt x="4686204" y="3276600"/>
                  </a:moveTo>
                  <a:lnTo>
                    <a:pt x="66751" y="3276600"/>
                  </a:lnTo>
                  <a:lnTo>
                    <a:pt x="62102" y="3276142"/>
                  </a:lnTo>
                  <a:lnTo>
                    <a:pt x="24241" y="3258988"/>
                  </a:lnTo>
                  <a:lnTo>
                    <a:pt x="2286" y="3223698"/>
                  </a:lnTo>
                  <a:lnTo>
                    <a:pt x="0" y="3209848"/>
                  </a:lnTo>
                  <a:lnTo>
                    <a:pt x="0" y="3205162"/>
                  </a:lnTo>
                  <a:lnTo>
                    <a:pt x="0" y="66751"/>
                  </a:lnTo>
                  <a:lnTo>
                    <a:pt x="14639" y="27851"/>
                  </a:lnTo>
                  <a:lnTo>
                    <a:pt x="48434" y="3638"/>
                  </a:lnTo>
                  <a:lnTo>
                    <a:pt x="66751" y="0"/>
                  </a:lnTo>
                  <a:lnTo>
                    <a:pt x="4686204" y="0"/>
                  </a:lnTo>
                  <a:lnTo>
                    <a:pt x="4725161" y="14649"/>
                  </a:lnTo>
                  <a:lnTo>
                    <a:pt x="4749355" y="48434"/>
                  </a:lnTo>
                  <a:lnTo>
                    <a:pt x="4752975" y="66751"/>
                  </a:lnTo>
                  <a:lnTo>
                    <a:pt x="4752975" y="3209848"/>
                  </a:lnTo>
                  <a:lnTo>
                    <a:pt x="4738306" y="3248748"/>
                  </a:lnTo>
                  <a:lnTo>
                    <a:pt x="4704588" y="3272951"/>
                  </a:lnTo>
                  <a:lnTo>
                    <a:pt x="4690872" y="3276142"/>
                  </a:lnTo>
                  <a:lnTo>
                    <a:pt x="4686204" y="32766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53262" y="957262"/>
              <a:ext cx="4752975" cy="3276600"/>
            </a:xfrm>
            <a:custGeom>
              <a:avLst/>
              <a:gdLst/>
              <a:ahLst/>
              <a:cxnLst/>
              <a:rect l="l" t="t" r="r" b="b"/>
              <a:pathLst>
                <a:path w="4752975" h="3276600">
                  <a:moveTo>
                    <a:pt x="0" y="3205162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103"/>
                  </a:lnTo>
                  <a:lnTo>
                    <a:pt x="1371" y="57502"/>
                  </a:lnTo>
                  <a:lnTo>
                    <a:pt x="2286" y="52901"/>
                  </a:lnTo>
                  <a:lnTo>
                    <a:pt x="3638" y="48434"/>
                  </a:lnTo>
                  <a:lnTo>
                    <a:pt x="5438" y="44100"/>
                  </a:lnTo>
                  <a:lnTo>
                    <a:pt x="7229" y="39766"/>
                  </a:lnTo>
                  <a:lnTo>
                    <a:pt x="9429" y="35652"/>
                  </a:lnTo>
                  <a:lnTo>
                    <a:pt x="12039" y="31746"/>
                  </a:lnTo>
                  <a:lnTo>
                    <a:pt x="14639" y="27851"/>
                  </a:lnTo>
                  <a:lnTo>
                    <a:pt x="17602" y="24241"/>
                  </a:lnTo>
                  <a:lnTo>
                    <a:pt x="20926" y="20926"/>
                  </a:lnTo>
                  <a:lnTo>
                    <a:pt x="24241" y="17602"/>
                  </a:lnTo>
                  <a:lnTo>
                    <a:pt x="44100" y="5438"/>
                  </a:lnTo>
                  <a:lnTo>
                    <a:pt x="48434" y="3638"/>
                  </a:lnTo>
                  <a:lnTo>
                    <a:pt x="52901" y="2285"/>
                  </a:lnTo>
                  <a:lnTo>
                    <a:pt x="57502" y="1371"/>
                  </a:lnTo>
                  <a:lnTo>
                    <a:pt x="62102" y="457"/>
                  </a:lnTo>
                  <a:lnTo>
                    <a:pt x="66751" y="0"/>
                  </a:lnTo>
                  <a:lnTo>
                    <a:pt x="71437" y="0"/>
                  </a:lnTo>
                  <a:lnTo>
                    <a:pt x="4681537" y="0"/>
                  </a:lnTo>
                  <a:lnTo>
                    <a:pt x="4686204" y="0"/>
                  </a:lnTo>
                  <a:lnTo>
                    <a:pt x="4690872" y="457"/>
                  </a:lnTo>
                  <a:lnTo>
                    <a:pt x="4695444" y="1371"/>
                  </a:lnTo>
                  <a:lnTo>
                    <a:pt x="4700111" y="2285"/>
                  </a:lnTo>
                  <a:lnTo>
                    <a:pt x="4704588" y="3638"/>
                  </a:lnTo>
                  <a:lnTo>
                    <a:pt x="4708874" y="5438"/>
                  </a:lnTo>
                  <a:lnTo>
                    <a:pt x="4713255" y="7229"/>
                  </a:lnTo>
                  <a:lnTo>
                    <a:pt x="4732019" y="20926"/>
                  </a:lnTo>
                  <a:lnTo>
                    <a:pt x="4735353" y="24241"/>
                  </a:lnTo>
                  <a:lnTo>
                    <a:pt x="4747545" y="44100"/>
                  </a:lnTo>
                  <a:lnTo>
                    <a:pt x="4749355" y="48434"/>
                  </a:lnTo>
                  <a:lnTo>
                    <a:pt x="4750688" y="52901"/>
                  </a:lnTo>
                  <a:lnTo>
                    <a:pt x="4751641" y="57502"/>
                  </a:lnTo>
                  <a:lnTo>
                    <a:pt x="4752498" y="62103"/>
                  </a:lnTo>
                  <a:lnTo>
                    <a:pt x="4752975" y="66751"/>
                  </a:lnTo>
                  <a:lnTo>
                    <a:pt x="4752975" y="71437"/>
                  </a:lnTo>
                  <a:lnTo>
                    <a:pt x="4752975" y="3205162"/>
                  </a:lnTo>
                  <a:lnTo>
                    <a:pt x="4752975" y="3209848"/>
                  </a:lnTo>
                  <a:lnTo>
                    <a:pt x="4752498" y="3214497"/>
                  </a:lnTo>
                  <a:lnTo>
                    <a:pt x="4735353" y="3252358"/>
                  </a:lnTo>
                  <a:lnTo>
                    <a:pt x="4732019" y="3255673"/>
                  </a:lnTo>
                  <a:lnTo>
                    <a:pt x="4728781" y="3258988"/>
                  </a:lnTo>
                  <a:lnTo>
                    <a:pt x="4708874" y="3271161"/>
                  </a:lnTo>
                  <a:lnTo>
                    <a:pt x="4704588" y="3272951"/>
                  </a:lnTo>
                  <a:lnTo>
                    <a:pt x="4700111" y="3274314"/>
                  </a:lnTo>
                  <a:lnTo>
                    <a:pt x="4695444" y="3275228"/>
                  </a:lnTo>
                  <a:lnTo>
                    <a:pt x="4690872" y="3276142"/>
                  </a:lnTo>
                  <a:lnTo>
                    <a:pt x="4686204" y="3276600"/>
                  </a:lnTo>
                  <a:lnTo>
                    <a:pt x="4681537" y="3276600"/>
                  </a:lnTo>
                  <a:lnTo>
                    <a:pt x="71437" y="3276600"/>
                  </a:lnTo>
                  <a:lnTo>
                    <a:pt x="66751" y="3276600"/>
                  </a:lnTo>
                  <a:lnTo>
                    <a:pt x="62102" y="3276142"/>
                  </a:lnTo>
                  <a:lnTo>
                    <a:pt x="57502" y="3275228"/>
                  </a:lnTo>
                  <a:lnTo>
                    <a:pt x="52901" y="3274314"/>
                  </a:lnTo>
                  <a:lnTo>
                    <a:pt x="48434" y="3272951"/>
                  </a:lnTo>
                  <a:lnTo>
                    <a:pt x="44100" y="3271161"/>
                  </a:lnTo>
                  <a:lnTo>
                    <a:pt x="39766" y="3269370"/>
                  </a:lnTo>
                  <a:lnTo>
                    <a:pt x="20926" y="3255673"/>
                  </a:lnTo>
                  <a:lnTo>
                    <a:pt x="17602" y="3252358"/>
                  </a:lnTo>
                  <a:lnTo>
                    <a:pt x="14639" y="3248748"/>
                  </a:lnTo>
                  <a:lnTo>
                    <a:pt x="12039" y="3244853"/>
                  </a:lnTo>
                  <a:lnTo>
                    <a:pt x="9429" y="3240947"/>
                  </a:lnTo>
                  <a:lnTo>
                    <a:pt x="7229" y="3236833"/>
                  </a:lnTo>
                  <a:lnTo>
                    <a:pt x="5438" y="3232499"/>
                  </a:lnTo>
                  <a:lnTo>
                    <a:pt x="3638" y="3228165"/>
                  </a:lnTo>
                  <a:lnTo>
                    <a:pt x="2286" y="3223698"/>
                  </a:lnTo>
                  <a:lnTo>
                    <a:pt x="1371" y="3219097"/>
                  </a:lnTo>
                  <a:lnTo>
                    <a:pt x="457" y="3214497"/>
                  </a:lnTo>
                  <a:lnTo>
                    <a:pt x="0" y="3209848"/>
                  </a:lnTo>
                  <a:lnTo>
                    <a:pt x="0" y="3205162"/>
                  </a:lnTo>
                  <a:close/>
                </a:path>
              </a:pathLst>
            </a:custGeom>
            <a:ln w="9525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48524" y="1495424"/>
              <a:ext cx="4362450" cy="2543175"/>
            </a:xfrm>
            <a:custGeom>
              <a:avLst/>
              <a:gdLst/>
              <a:ahLst/>
              <a:cxnLst/>
              <a:rect l="l" t="t" r="r" b="b"/>
              <a:pathLst>
                <a:path w="4362450" h="2543175">
                  <a:moveTo>
                    <a:pt x="4309014" y="2543175"/>
                  </a:moveTo>
                  <a:lnTo>
                    <a:pt x="53397" y="2543175"/>
                  </a:lnTo>
                  <a:lnTo>
                    <a:pt x="49682" y="2542813"/>
                  </a:lnTo>
                  <a:lnTo>
                    <a:pt x="14087" y="2523782"/>
                  </a:lnTo>
                  <a:lnTo>
                    <a:pt x="0" y="2489777"/>
                  </a:lnTo>
                  <a:lnTo>
                    <a:pt x="0" y="2486025"/>
                  </a:lnTo>
                  <a:lnTo>
                    <a:pt x="0" y="53397"/>
                  </a:lnTo>
                  <a:lnTo>
                    <a:pt x="19392" y="14087"/>
                  </a:lnTo>
                  <a:lnTo>
                    <a:pt x="53397" y="0"/>
                  </a:lnTo>
                  <a:lnTo>
                    <a:pt x="4309014" y="0"/>
                  </a:lnTo>
                  <a:lnTo>
                    <a:pt x="4348353" y="19392"/>
                  </a:lnTo>
                  <a:lnTo>
                    <a:pt x="4362450" y="53397"/>
                  </a:lnTo>
                  <a:lnTo>
                    <a:pt x="4362450" y="2489777"/>
                  </a:lnTo>
                  <a:lnTo>
                    <a:pt x="4343019" y="2529087"/>
                  </a:lnTo>
                  <a:lnTo>
                    <a:pt x="4312729" y="2542813"/>
                  </a:lnTo>
                  <a:lnTo>
                    <a:pt x="4309014" y="2543175"/>
                  </a:lnTo>
                  <a:close/>
                </a:path>
              </a:pathLst>
            </a:custGeom>
            <a:solidFill>
              <a:srgbClr val="1D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8524" y="1181099"/>
              <a:ext cx="114300" cy="15240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378700" y="1149350"/>
            <a:ext cx="3839210" cy="267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Code</a:t>
            </a:r>
            <a:r>
              <a:rPr sz="1200" b="1" spc="-3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Example:</a:t>
            </a:r>
            <a:r>
              <a:rPr sz="1200" b="1" spc="-3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Error</a:t>
            </a:r>
            <a:r>
              <a:rPr sz="1200" b="1" spc="-3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Handling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200">
              <a:latin typeface="Segoe UI"/>
              <a:cs typeface="Segoe UI"/>
            </a:endParaRPr>
          </a:p>
          <a:p>
            <a:pPr marL="12700" marR="1503680">
              <a:lnSpc>
                <a:spcPct val="151300"/>
              </a:lnSpc>
              <a:spcBef>
                <a:spcPts val="5"/>
              </a:spcBef>
            </a:pP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950" spc="5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Example</a:t>
            </a:r>
            <a:r>
              <a:rPr sz="950" spc="5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of</a:t>
            </a:r>
            <a:r>
              <a:rPr sz="950" spc="5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proper</a:t>
            </a:r>
            <a:r>
              <a:rPr sz="950" spc="5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error</a:t>
            </a:r>
            <a:r>
              <a:rPr sz="950" spc="5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94A2B8"/>
                </a:solidFill>
                <a:latin typeface="Consolas"/>
                <a:cs typeface="Consolas"/>
              </a:rPr>
              <a:t>handling </a:t>
            </a:r>
            <a:r>
              <a:rPr sz="950" dirty="0">
                <a:solidFill>
                  <a:srgbClr val="60A5FA"/>
                </a:solidFill>
                <a:latin typeface="Consolas"/>
                <a:cs typeface="Consolas"/>
              </a:rPr>
              <a:t>Func</a:t>
            </a:r>
            <a:r>
              <a:rPr sz="950" spc="50" dirty="0">
                <a:solidFill>
                  <a:srgbClr val="60A5FA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BF83FB"/>
                </a:solidFill>
                <a:latin typeface="Consolas"/>
                <a:cs typeface="Consolas"/>
              </a:rPr>
              <a:t>LaunchClient</a:t>
            </a:r>
            <a:r>
              <a:rPr sz="950" spc="-10" dirty="0">
                <a:solidFill>
                  <a:srgbClr val="E2E7F0"/>
                </a:solidFill>
                <a:latin typeface="Consolas"/>
                <a:cs typeface="Consolas"/>
              </a:rPr>
              <a:t>()</a:t>
            </a:r>
            <a:endParaRPr sz="950">
              <a:latin typeface="Consolas"/>
              <a:cs typeface="Consolas"/>
            </a:endParaRPr>
          </a:p>
          <a:p>
            <a:pPr marL="12700" marR="5080" indent="271780">
              <a:lnSpc>
                <a:spcPts val="1130"/>
              </a:lnSpc>
              <a:spcBef>
                <a:spcPts val="630"/>
              </a:spcBef>
            </a:pPr>
            <a:r>
              <a:rPr sz="950" dirty="0">
                <a:solidFill>
                  <a:srgbClr val="60A5FA"/>
                </a:solidFill>
                <a:latin typeface="Consolas"/>
                <a:cs typeface="Consolas"/>
              </a:rPr>
              <a:t>Local</a:t>
            </a:r>
            <a:r>
              <a:rPr sz="950" spc="65" dirty="0">
                <a:solidFill>
                  <a:srgbClr val="60A5FA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BA5A5"/>
                </a:solidFill>
                <a:latin typeface="Consolas"/>
                <a:cs typeface="Consolas"/>
              </a:rPr>
              <a:t>$pid</a:t>
            </a:r>
            <a:r>
              <a:rPr sz="950" spc="65" dirty="0">
                <a:solidFill>
                  <a:srgbClr val="FBA5A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950" spc="65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BF83FB"/>
                </a:solidFill>
                <a:latin typeface="Consolas"/>
                <a:cs typeface="Consolas"/>
              </a:rPr>
              <a:t>Run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A5F2FB"/>
                </a:solidFill>
                <a:latin typeface="Consolas"/>
                <a:cs typeface="Consolas"/>
              </a:rPr>
              <a:t>'"'</a:t>
            </a:r>
            <a:r>
              <a:rPr sz="950" spc="6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&amp;</a:t>
            </a:r>
            <a:r>
              <a:rPr sz="950" spc="60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BA5A5"/>
                </a:solidFill>
                <a:latin typeface="Consolas"/>
                <a:cs typeface="Consolas"/>
              </a:rPr>
              <a:t>$CLIENT_EXECUTABLE</a:t>
            </a:r>
            <a:r>
              <a:rPr sz="950" spc="65" dirty="0">
                <a:solidFill>
                  <a:srgbClr val="FBA5A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&amp;</a:t>
            </a:r>
            <a:r>
              <a:rPr sz="950" spc="65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5F2FB"/>
                </a:solidFill>
                <a:latin typeface="Consolas"/>
                <a:cs typeface="Consolas"/>
              </a:rPr>
              <a:t>'"'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950" spc="65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A5F2FB"/>
                </a:solidFill>
                <a:latin typeface="Consolas"/>
                <a:cs typeface="Consolas"/>
              </a:rPr>
              <a:t>""</a:t>
            </a:r>
            <a:r>
              <a:rPr sz="950" spc="-25" dirty="0">
                <a:solidFill>
                  <a:srgbClr val="E2E7F0"/>
                </a:solidFill>
                <a:latin typeface="Consolas"/>
                <a:cs typeface="Consolas"/>
              </a:rPr>
              <a:t>, </a:t>
            </a:r>
            <a:r>
              <a:rPr sz="950" spc="-10" dirty="0">
                <a:solidFill>
                  <a:srgbClr val="FBA5A5"/>
                </a:solidFill>
                <a:latin typeface="Consolas"/>
                <a:cs typeface="Consolas"/>
              </a:rPr>
              <a:t>@SW_SHOW</a:t>
            </a:r>
            <a:r>
              <a:rPr sz="950" spc="-10" dirty="0">
                <a:solidFill>
                  <a:srgbClr val="E2E7F0"/>
                </a:solidFill>
                <a:latin typeface="Consolas"/>
                <a:cs typeface="Consolas"/>
              </a:rPr>
              <a:t>)</a:t>
            </a:r>
            <a:endParaRPr sz="950">
              <a:latin typeface="Consolas"/>
              <a:cs typeface="Consolas"/>
            </a:endParaRPr>
          </a:p>
          <a:p>
            <a:pPr marL="284480">
              <a:lnSpc>
                <a:spcPct val="100000"/>
              </a:lnSpc>
              <a:spcBef>
                <a:spcPts val="545"/>
              </a:spcBef>
            </a:pPr>
            <a:r>
              <a:rPr sz="950" dirty="0">
                <a:solidFill>
                  <a:srgbClr val="60A5FA"/>
                </a:solidFill>
                <a:latin typeface="Consolas"/>
                <a:cs typeface="Consolas"/>
              </a:rPr>
              <a:t>If</a:t>
            </a:r>
            <a:r>
              <a:rPr sz="950" spc="30" dirty="0">
                <a:solidFill>
                  <a:srgbClr val="60A5FA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BA5A5"/>
                </a:solidFill>
                <a:latin typeface="Consolas"/>
                <a:cs typeface="Consolas"/>
              </a:rPr>
              <a:t>$pid</a:t>
            </a:r>
            <a:r>
              <a:rPr sz="950" spc="30" dirty="0">
                <a:solidFill>
                  <a:srgbClr val="FBA5A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950" spc="30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BA5A5"/>
                </a:solidFill>
                <a:latin typeface="Consolas"/>
                <a:cs typeface="Consolas"/>
              </a:rPr>
              <a:t>0</a:t>
            </a:r>
            <a:r>
              <a:rPr sz="950" spc="35" dirty="0">
                <a:solidFill>
                  <a:srgbClr val="FBA5A5"/>
                </a:solidFill>
                <a:latin typeface="Consolas"/>
                <a:cs typeface="Consolas"/>
              </a:rPr>
              <a:t> </a:t>
            </a:r>
            <a:r>
              <a:rPr sz="950" spc="-20" dirty="0">
                <a:solidFill>
                  <a:srgbClr val="60A5FA"/>
                </a:solidFill>
                <a:latin typeface="Consolas"/>
                <a:cs typeface="Consolas"/>
              </a:rPr>
              <a:t>Then</a:t>
            </a:r>
            <a:endParaRPr sz="950">
              <a:latin typeface="Consolas"/>
              <a:cs typeface="Consolas"/>
            </a:endParaRPr>
          </a:p>
          <a:p>
            <a:pPr marL="12700" marR="210820" indent="544195">
              <a:lnSpc>
                <a:spcPts val="1130"/>
              </a:lnSpc>
              <a:spcBef>
                <a:spcPts val="630"/>
              </a:spcBef>
            </a:pPr>
            <a:r>
              <a:rPr sz="950" dirty="0">
                <a:solidFill>
                  <a:srgbClr val="BF83FB"/>
                </a:solidFill>
                <a:latin typeface="Consolas"/>
                <a:cs typeface="Consolas"/>
              </a:rPr>
              <a:t>PSMDispatcherUtilsWrapper_LogWrite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A5F2FB"/>
                </a:solidFill>
                <a:latin typeface="Consolas"/>
                <a:cs typeface="Consolas"/>
              </a:rPr>
              <a:t>"Failed</a:t>
            </a:r>
            <a:r>
              <a:rPr sz="950" spc="44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A5F2FB"/>
                </a:solidFill>
                <a:latin typeface="Consolas"/>
                <a:cs typeface="Consolas"/>
              </a:rPr>
              <a:t>to </a:t>
            </a:r>
            <a:r>
              <a:rPr sz="950" dirty="0">
                <a:solidFill>
                  <a:srgbClr val="A5F2FB"/>
                </a:solidFill>
                <a:latin typeface="Consolas"/>
                <a:cs typeface="Consolas"/>
              </a:rPr>
              <a:t>launch</a:t>
            </a:r>
            <a:r>
              <a:rPr sz="950" spc="80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5F2FB"/>
                </a:solidFill>
                <a:latin typeface="Consolas"/>
                <a:cs typeface="Consolas"/>
              </a:rPr>
              <a:t>client"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950" spc="85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FBA5A5"/>
                </a:solidFill>
                <a:latin typeface="Consolas"/>
                <a:cs typeface="Consolas"/>
              </a:rPr>
              <a:t>$LOG_LEVEL_ERROR</a:t>
            </a:r>
            <a:r>
              <a:rPr sz="950" spc="-10" dirty="0">
                <a:solidFill>
                  <a:srgbClr val="E2E7F0"/>
                </a:solidFill>
                <a:latin typeface="Consolas"/>
                <a:cs typeface="Consolas"/>
              </a:rPr>
              <a:t>)</a:t>
            </a:r>
            <a:endParaRPr sz="950">
              <a:latin typeface="Consolas"/>
              <a:cs typeface="Consolas"/>
            </a:endParaRPr>
          </a:p>
          <a:p>
            <a:pPr marL="284480" marR="1571625" indent="271780">
              <a:lnSpc>
                <a:spcPts val="1730"/>
              </a:lnSpc>
              <a:spcBef>
                <a:spcPts val="110"/>
              </a:spcBef>
            </a:pPr>
            <a:r>
              <a:rPr sz="950" dirty="0">
                <a:solidFill>
                  <a:srgbClr val="60A5FA"/>
                </a:solidFill>
                <a:latin typeface="Consolas"/>
                <a:cs typeface="Consolas"/>
              </a:rPr>
              <a:t>Return</a:t>
            </a:r>
            <a:r>
              <a:rPr sz="950" spc="70" dirty="0">
                <a:solidFill>
                  <a:srgbClr val="60A5FA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FBA5A5"/>
                </a:solidFill>
                <a:latin typeface="Consolas"/>
                <a:cs typeface="Consolas"/>
              </a:rPr>
              <a:t>$PSM_ERROR_FAILURE </a:t>
            </a:r>
            <a:r>
              <a:rPr sz="950" spc="-10" dirty="0">
                <a:solidFill>
                  <a:srgbClr val="60A5FA"/>
                </a:solidFill>
                <a:latin typeface="Consolas"/>
                <a:cs typeface="Consolas"/>
              </a:rPr>
              <a:t>EndIf</a:t>
            </a:r>
            <a:endParaRPr sz="950">
              <a:latin typeface="Consolas"/>
              <a:cs typeface="Consolas"/>
            </a:endParaRPr>
          </a:p>
          <a:p>
            <a:pPr marL="28448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solidFill>
                  <a:srgbClr val="60A5FA"/>
                </a:solidFill>
                <a:latin typeface="Consolas"/>
                <a:cs typeface="Consolas"/>
              </a:rPr>
              <a:t>Return</a:t>
            </a:r>
            <a:r>
              <a:rPr sz="950" spc="70" dirty="0">
                <a:solidFill>
                  <a:srgbClr val="60A5FA"/>
                </a:solidFill>
                <a:latin typeface="Consolas"/>
                <a:cs typeface="Consolas"/>
              </a:rPr>
              <a:t> </a:t>
            </a:r>
            <a:r>
              <a:rPr sz="950" spc="-20" dirty="0">
                <a:solidFill>
                  <a:srgbClr val="FBA5A5"/>
                </a:solidFill>
                <a:latin typeface="Consolas"/>
                <a:cs typeface="Consolas"/>
              </a:rPr>
              <a:t>$pid</a:t>
            </a:r>
            <a:endParaRPr sz="9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950" spc="-10" dirty="0">
                <a:solidFill>
                  <a:srgbClr val="60A5FA"/>
                </a:solidFill>
                <a:latin typeface="Consolas"/>
                <a:cs typeface="Consolas"/>
              </a:rPr>
              <a:t>EndFunc</a:t>
            </a:r>
            <a:endParaRPr sz="950">
              <a:latin typeface="Consolas"/>
              <a:cs typeface="Consola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946391" y="4343399"/>
            <a:ext cx="4968240" cy="1981200"/>
            <a:chOff x="6946391" y="4343399"/>
            <a:chExt cx="4968240" cy="1981200"/>
          </a:xfrm>
        </p:grpSpPr>
        <p:sp>
          <p:nvSpPr>
            <p:cNvPr id="26" name="object 26"/>
            <p:cNvSpPr/>
            <p:nvPr/>
          </p:nvSpPr>
          <p:spPr>
            <a:xfrm>
              <a:off x="6946391" y="4343399"/>
              <a:ext cx="4968240" cy="1981200"/>
            </a:xfrm>
            <a:custGeom>
              <a:avLst/>
              <a:gdLst/>
              <a:ahLst/>
              <a:cxnLst/>
              <a:rect l="l" t="t" r="r" b="b"/>
              <a:pathLst>
                <a:path w="4968240" h="1981200">
                  <a:moveTo>
                    <a:pt x="4968239" y="1981199"/>
                  </a:moveTo>
                  <a:lnTo>
                    <a:pt x="0" y="1981199"/>
                  </a:lnTo>
                  <a:lnTo>
                    <a:pt x="0" y="0"/>
                  </a:lnTo>
                  <a:lnTo>
                    <a:pt x="4968239" y="0"/>
                  </a:lnTo>
                  <a:lnTo>
                    <a:pt x="4968239" y="95249"/>
                  </a:lnTo>
                  <a:lnTo>
                    <a:pt x="178307" y="95249"/>
                  </a:lnTo>
                  <a:lnTo>
                    <a:pt x="171741" y="95564"/>
                  </a:lnTo>
                  <a:lnTo>
                    <a:pt x="136024" y="110369"/>
                  </a:lnTo>
                  <a:lnTo>
                    <a:pt x="114485" y="142587"/>
                  </a:lnTo>
                  <a:lnTo>
                    <a:pt x="111617" y="161909"/>
                  </a:lnTo>
                  <a:lnTo>
                    <a:pt x="111617" y="1781159"/>
                  </a:lnTo>
                  <a:lnTo>
                    <a:pt x="122857" y="1818227"/>
                  </a:lnTo>
                  <a:lnTo>
                    <a:pt x="152796" y="1842759"/>
                  </a:lnTo>
                  <a:lnTo>
                    <a:pt x="178307" y="1847849"/>
                  </a:lnTo>
                  <a:lnTo>
                    <a:pt x="4968239" y="1847849"/>
                  </a:lnTo>
                  <a:lnTo>
                    <a:pt x="4968239" y="1981199"/>
                  </a:lnTo>
                  <a:close/>
                </a:path>
                <a:path w="4968240" h="1981200">
                  <a:moveTo>
                    <a:pt x="4968239" y="1847849"/>
                  </a:moveTo>
                  <a:lnTo>
                    <a:pt x="4788407" y="1847849"/>
                  </a:lnTo>
                  <a:lnTo>
                    <a:pt x="4794974" y="1847530"/>
                  </a:lnTo>
                  <a:lnTo>
                    <a:pt x="4801415" y="1846573"/>
                  </a:lnTo>
                  <a:lnTo>
                    <a:pt x="4835560" y="1828312"/>
                  </a:lnTo>
                  <a:lnTo>
                    <a:pt x="4853810" y="1794193"/>
                  </a:lnTo>
                  <a:lnTo>
                    <a:pt x="4855098" y="1781159"/>
                  </a:lnTo>
                  <a:lnTo>
                    <a:pt x="4855098" y="161909"/>
                  </a:lnTo>
                  <a:lnTo>
                    <a:pt x="4843858" y="124872"/>
                  </a:lnTo>
                  <a:lnTo>
                    <a:pt x="4813919" y="100309"/>
                  </a:lnTo>
                  <a:lnTo>
                    <a:pt x="4788407" y="95249"/>
                  </a:lnTo>
                  <a:lnTo>
                    <a:pt x="4968239" y="95249"/>
                  </a:lnTo>
                  <a:lnTo>
                    <a:pt x="4968239" y="1847849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053262" y="4433887"/>
              <a:ext cx="4752975" cy="1762125"/>
            </a:xfrm>
            <a:custGeom>
              <a:avLst/>
              <a:gdLst/>
              <a:ahLst/>
              <a:cxnLst/>
              <a:rect l="l" t="t" r="r" b="b"/>
              <a:pathLst>
                <a:path w="4752975" h="1762125">
                  <a:moveTo>
                    <a:pt x="4686204" y="1762125"/>
                  </a:moveTo>
                  <a:lnTo>
                    <a:pt x="66751" y="1762125"/>
                  </a:lnTo>
                  <a:lnTo>
                    <a:pt x="62102" y="1761667"/>
                  </a:lnTo>
                  <a:lnTo>
                    <a:pt x="24241" y="1744513"/>
                  </a:lnTo>
                  <a:lnTo>
                    <a:pt x="2286" y="1709223"/>
                  </a:lnTo>
                  <a:lnTo>
                    <a:pt x="0" y="1695373"/>
                  </a:lnTo>
                  <a:lnTo>
                    <a:pt x="0" y="1690687"/>
                  </a:lnTo>
                  <a:lnTo>
                    <a:pt x="0" y="66751"/>
                  </a:lnTo>
                  <a:lnTo>
                    <a:pt x="14639" y="27851"/>
                  </a:lnTo>
                  <a:lnTo>
                    <a:pt x="48434" y="3638"/>
                  </a:lnTo>
                  <a:lnTo>
                    <a:pt x="66751" y="0"/>
                  </a:lnTo>
                  <a:lnTo>
                    <a:pt x="4686204" y="0"/>
                  </a:lnTo>
                  <a:lnTo>
                    <a:pt x="4725161" y="14649"/>
                  </a:lnTo>
                  <a:lnTo>
                    <a:pt x="4749355" y="48434"/>
                  </a:lnTo>
                  <a:lnTo>
                    <a:pt x="4752975" y="66751"/>
                  </a:lnTo>
                  <a:lnTo>
                    <a:pt x="4752975" y="1695373"/>
                  </a:lnTo>
                  <a:lnTo>
                    <a:pt x="4738306" y="1734273"/>
                  </a:lnTo>
                  <a:lnTo>
                    <a:pt x="4704588" y="1758476"/>
                  </a:lnTo>
                  <a:lnTo>
                    <a:pt x="4690872" y="1761667"/>
                  </a:lnTo>
                  <a:lnTo>
                    <a:pt x="4686204" y="17621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053262" y="4433887"/>
              <a:ext cx="4752975" cy="1762125"/>
            </a:xfrm>
            <a:custGeom>
              <a:avLst/>
              <a:gdLst/>
              <a:ahLst/>
              <a:cxnLst/>
              <a:rect l="l" t="t" r="r" b="b"/>
              <a:pathLst>
                <a:path w="4752975" h="1762125">
                  <a:moveTo>
                    <a:pt x="0" y="1690687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102"/>
                  </a:lnTo>
                  <a:lnTo>
                    <a:pt x="1371" y="57502"/>
                  </a:lnTo>
                  <a:lnTo>
                    <a:pt x="2286" y="52901"/>
                  </a:lnTo>
                  <a:lnTo>
                    <a:pt x="3638" y="48434"/>
                  </a:lnTo>
                  <a:lnTo>
                    <a:pt x="5438" y="44100"/>
                  </a:lnTo>
                  <a:lnTo>
                    <a:pt x="7229" y="39766"/>
                  </a:lnTo>
                  <a:lnTo>
                    <a:pt x="9429" y="35652"/>
                  </a:lnTo>
                  <a:lnTo>
                    <a:pt x="12039" y="31746"/>
                  </a:lnTo>
                  <a:lnTo>
                    <a:pt x="14639" y="27851"/>
                  </a:lnTo>
                  <a:lnTo>
                    <a:pt x="17602" y="24241"/>
                  </a:lnTo>
                  <a:lnTo>
                    <a:pt x="20926" y="20926"/>
                  </a:lnTo>
                  <a:lnTo>
                    <a:pt x="24241" y="17602"/>
                  </a:lnTo>
                  <a:lnTo>
                    <a:pt x="44100" y="5438"/>
                  </a:lnTo>
                  <a:lnTo>
                    <a:pt x="48434" y="3638"/>
                  </a:lnTo>
                  <a:lnTo>
                    <a:pt x="52901" y="2286"/>
                  </a:lnTo>
                  <a:lnTo>
                    <a:pt x="57502" y="1371"/>
                  </a:lnTo>
                  <a:lnTo>
                    <a:pt x="62102" y="457"/>
                  </a:lnTo>
                  <a:lnTo>
                    <a:pt x="66751" y="0"/>
                  </a:lnTo>
                  <a:lnTo>
                    <a:pt x="71437" y="0"/>
                  </a:lnTo>
                  <a:lnTo>
                    <a:pt x="4681537" y="0"/>
                  </a:lnTo>
                  <a:lnTo>
                    <a:pt x="4686204" y="0"/>
                  </a:lnTo>
                  <a:lnTo>
                    <a:pt x="4690872" y="457"/>
                  </a:lnTo>
                  <a:lnTo>
                    <a:pt x="4695444" y="1371"/>
                  </a:lnTo>
                  <a:lnTo>
                    <a:pt x="4700111" y="2286"/>
                  </a:lnTo>
                  <a:lnTo>
                    <a:pt x="4704588" y="3638"/>
                  </a:lnTo>
                  <a:lnTo>
                    <a:pt x="4708874" y="5438"/>
                  </a:lnTo>
                  <a:lnTo>
                    <a:pt x="4713255" y="7229"/>
                  </a:lnTo>
                  <a:lnTo>
                    <a:pt x="4732019" y="20926"/>
                  </a:lnTo>
                  <a:lnTo>
                    <a:pt x="4735353" y="24241"/>
                  </a:lnTo>
                  <a:lnTo>
                    <a:pt x="4752498" y="62102"/>
                  </a:lnTo>
                  <a:lnTo>
                    <a:pt x="4752975" y="66751"/>
                  </a:lnTo>
                  <a:lnTo>
                    <a:pt x="4752975" y="71437"/>
                  </a:lnTo>
                  <a:lnTo>
                    <a:pt x="4752975" y="1690687"/>
                  </a:lnTo>
                  <a:lnTo>
                    <a:pt x="4752975" y="1695373"/>
                  </a:lnTo>
                  <a:lnTo>
                    <a:pt x="4752498" y="1700022"/>
                  </a:lnTo>
                  <a:lnTo>
                    <a:pt x="4735353" y="1737883"/>
                  </a:lnTo>
                  <a:lnTo>
                    <a:pt x="4732019" y="1741198"/>
                  </a:lnTo>
                  <a:lnTo>
                    <a:pt x="4728781" y="1744513"/>
                  </a:lnTo>
                  <a:lnTo>
                    <a:pt x="4708874" y="1756686"/>
                  </a:lnTo>
                  <a:lnTo>
                    <a:pt x="4704588" y="1758476"/>
                  </a:lnTo>
                  <a:lnTo>
                    <a:pt x="4700111" y="1759839"/>
                  </a:lnTo>
                  <a:lnTo>
                    <a:pt x="4695444" y="1760753"/>
                  </a:lnTo>
                  <a:lnTo>
                    <a:pt x="4690872" y="1761667"/>
                  </a:lnTo>
                  <a:lnTo>
                    <a:pt x="4686204" y="1762125"/>
                  </a:lnTo>
                  <a:lnTo>
                    <a:pt x="4681537" y="1762125"/>
                  </a:lnTo>
                  <a:lnTo>
                    <a:pt x="71437" y="1762125"/>
                  </a:lnTo>
                  <a:lnTo>
                    <a:pt x="66751" y="1762125"/>
                  </a:lnTo>
                  <a:lnTo>
                    <a:pt x="62102" y="1761667"/>
                  </a:lnTo>
                  <a:lnTo>
                    <a:pt x="57502" y="1760753"/>
                  </a:lnTo>
                  <a:lnTo>
                    <a:pt x="52901" y="1759839"/>
                  </a:lnTo>
                  <a:lnTo>
                    <a:pt x="48434" y="1758476"/>
                  </a:lnTo>
                  <a:lnTo>
                    <a:pt x="44100" y="1756686"/>
                  </a:lnTo>
                  <a:lnTo>
                    <a:pt x="39766" y="1754895"/>
                  </a:lnTo>
                  <a:lnTo>
                    <a:pt x="20926" y="1741198"/>
                  </a:lnTo>
                  <a:lnTo>
                    <a:pt x="17602" y="1737883"/>
                  </a:lnTo>
                  <a:lnTo>
                    <a:pt x="14639" y="1734273"/>
                  </a:lnTo>
                  <a:lnTo>
                    <a:pt x="12039" y="1730378"/>
                  </a:lnTo>
                  <a:lnTo>
                    <a:pt x="9429" y="1726472"/>
                  </a:lnTo>
                  <a:lnTo>
                    <a:pt x="7229" y="1722358"/>
                  </a:lnTo>
                  <a:lnTo>
                    <a:pt x="5438" y="1718024"/>
                  </a:lnTo>
                  <a:lnTo>
                    <a:pt x="3638" y="1713690"/>
                  </a:lnTo>
                  <a:lnTo>
                    <a:pt x="2286" y="1709223"/>
                  </a:lnTo>
                  <a:lnTo>
                    <a:pt x="1371" y="1704622"/>
                  </a:lnTo>
                  <a:lnTo>
                    <a:pt x="457" y="1700022"/>
                  </a:lnTo>
                  <a:lnTo>
                    <a:pt x="0" y="1695373"/>
                  </a:lnTo>
                  <a:lnTo>
                    <a:pt x="0" y="1690687"/>
                  </a:lnTo>
                  <a:close/>
                </a:path>
              </a:pathLst>
            </a:custGeom>
            <a:ln w="9525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51699" y="4657724"/>
              <a:ext cx="107950" cy="1524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48524" y="5060949"/>
              <a:ext cx="117475" cy="8572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48524" y="5403849"/>
              <a:ext cx="117475" cy="857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48524" y="5746749"/>
              <a:ext cx="117475" cy="85725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7426325" y="4625975"/>
            <a:ext cx="4082415" cy="1223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Key</a:t>
            </a:r>
            <a:r>
              <a:rPr sz="1200" b="1" spc="-3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Recommendations</a:t>
            </a:r>
            <a:endParaRPr sz="1200">
              <a:latin typeface="Segoe UI"/>
              <a:cs typeface="Segoe UI"/>
            </a:endParaRPr>
          </a:p>
          <a:p>
            <a:pPr marL="33655">
              <a:lnSpc>
                <a:spcPct val="100000"/>
              </a:lnSpc>
              <a:spcBef>
                <a:spcPts val="1335"/>
              </a:spcBef>
            </a:pP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Robust</a:t>
            </a:r>
            <a:r>
              <a:rPr sz="1050" b="1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Window</a:t>
            </a:r>
            <a:r>
              <a:rPr sz="1050" b="1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Sync:</a:t>
            </a:r>
            <a:r>
              <a:rPr sz="1050" b="1" spc="-2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Use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specific</a:t>
            </a:r>
            <a:r>
              <a:rPr sz="1050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window</a:t>
            </a:r>
            <a:r>
              <a:rPr sz="1050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identifiers</a:t>
            </a:r>
            <a:r>
              <a:rPr sz="1050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with</a:t>
            </a:r>
            <a:r>
              <a:rPr sz="1050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timeouts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Segoe UI"/>
              <a:cs typeface="Segoe UI"/>
            </a:endParaRPr>
          </a:p>
          <a:p>
            <a:pPr marL="33655">
              <a:lnSpc>
                <a:spcPct val="100000"/>
              </a:lnSpc>
            </a:pP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Secure</a:t>
            </a:r>
            <a:r>
              <a:rPr sz="1050" b="1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Credentials:</a:t>
            </a:r>
            <a:r>
              <a:rPr sz="1050" b="1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Never log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sensitive data to 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files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Segoe UI"/>
              <a:cs typeface="Segoe UI"/>
            </a:endParaRPr>
          </a:p>
          <a:p>
            <a:pPr marL="33655">
              <a:lnSpc>
                <a:spcPct val="100000"/>
              </a:lnSpc>
            </a:pP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Resource</a:t>
            </a:r>
            <a:r>
              <a:rPr sz="1050" b="1" spc="-2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Cleanup:</a:t>
            </a:r>
            <a:r>
              <a:rPr sz="1050" b="1" spc="-2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Always</a:t>
            </a:r>
            <a:r>
              <a:rPr sz="1050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call</a:t>
            </a:r>
            <a:r>
              <a:rPr sz="1050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Term()</a:t>
            </a:r>
            <a:r>
              <a:rPr sz="1050" spc="-2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before</a:t>
            </a:r>
            <a:r>
              <a:rPr sz="1050" spc="-20" dirty="0">
                <a:solidFill>
                  <a:srgbClr val="334054"/>
                </a:solidFill>
                <a:latin typeface="Segoe UI"/>
                <a:cs typeface="Segoe UI"/>
              </a:rPr>
              <a:t> exit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0" y="6793991"/>
            <a:ext cx="12192000" cy="64135"/>
          </a:xfrm>
          <a:custGeom>
            <a:avLst/>
            <a:gdLst/>
            <a:ahLst/>
            <a:cxnLst/>
            <a:rect l="l" t="t" r="r" b="b"/>
            <a:pathLst>
              <a:path w="12192000" h="64134">
                <a:moveTo>
                  <a:pt x="0" y="0"/>
                </a:moveTo>
                <a:lnTo>
                  <a:pt x="12191999" y="0"/>
                </a:lnTo>
                <a:lnTo>
                  <a:pt x="12191999" y="64008"/>
                </a:ln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API:</a:t>
            </a:r>
            <a:r>
              <a:rPr spc="100" dirty="0"/>
              <a:t> </a:t>
            </a:r>
            <a:r>
              <a:rPr dirty="0"/>
              <a:t>Init</a:t>
            </a:r>
            <a:r>
              <a:rPr spc="105" dirty="0"/>
              <a:t> </a:t>
            </a:r>
            <a:r>
              <a:rPr dirty="0"/>
              <a:t>and</a:t>
            </a:r>
            <a:r>
              <a:rPr spc="105" dirty="0"/>
              <a:t> </a:t>
            </a:r>
            <a:r>
              <a:rPr dirty="0"/>
              <a:t>Term</a:t>
            </a:r>
            <a:r>
              <a:rPr spc="105" dirty="0"/>
              <a:t> </a:t>
            </a:r>
            <a:r>
              <a:rPr spc="-10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28601" y="292100"/>
            <a:ext cx="23622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PSM</a:t>
            </a:r>
            <a:r>
              <a:rPr sz="1050" spc="-25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Universal</a:t>
            </a:r>
            <a:r>
              <a:rPr sz="1050" spc="-25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Connector</a:t>
            </a:r>
            <a:r>
              <a:rPr sz="1050" spc="-20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API</a:t>
            </a:r>
            <a:r>
              <a:rPr sz="1050" spc="-25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Reference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67306" y="292100"/>
            <a:ext cx="3568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4738B"/>
                </a:solidFill>
                <a:latin typeface="Segoe UI Semibold"/>
                <a:cs typeface="Segoe UI Semibold"/>
              </a:rPr>
              <a:t>18/30</a:t>
            </a:r>
            <a:endParaRPr sz="1050">
              <a:latin typeface="Segoe UI Semibold"/>
              <a:cs typeface="Segoe UI Semibold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7368" y="868679"/>
            <a:ext cx="11637645" cy="5236845"/>
            <a:chOff x="277368" y="868679"/>
            <a:chExt cx="11637645" cy="523684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368" y="868679"/>
              <a:ext cx="11637263" cy="523646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0225" y="1130299"/>
              <a:ext cx="158750" cy="15875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25475" y="1101725"/>
            <a:ext cx="5407025" cy="205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Init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Function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PSMDispatcherUtilsWrapper_Init()</a:t>
            </a:r>
            <a:endParaRPr sz="950">
              <a:latin typeface="Segoe UI Semibold"/>
              <a:cs typeface="Segoe UI Semibold"/>
            </a:endParaRPr>
          </a:p>
          <a:p>
            <a:pPr marL="12700" marR="5080">
              <a:lnSpc>
                <a:spcPct val="111100"/>
              </a:lnSpc>
              <a:spcBef>
                <a:spcPts val="145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Initializes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PSM's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dispatcher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API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library.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Must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be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called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once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at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beginning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of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AutoIt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script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before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Segoe UI"/>
                <a:cs typeface="Segoe UI"/>
              </a:rPr>
              <a:t>any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other API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calls.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Parameters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No</a:t>
            </a:r>
            <a:r>
              <a:rPr sz="900" spc="-2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parameters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required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Return</a:t>
            </a:r>
            <a:r>
              <a:rPr sz="950" spc="6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Values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$PSM_ERROR_SUCCESS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-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API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library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initialized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successfully.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Any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other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value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indicates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error.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400" y="3790950"/>
            <a:ext cx="152400" cy="1524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25475" y="3768725"/>
            <a:ext cx="5466715" cy="1896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1D3A5E"/>
                </a:solidFill>
                <a:latin typeface="Segoe UI"/>
                <a:cs typeface="Segoe UI"/>
              </a:rPr>
              <a:t>Term</a:t>
            </a:r>
            <a:r>
              <a:rPr sz="1200" b="1" spc="-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Function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PSMDispatcherUtilsWrapper_Term()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Terminates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PSM's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dispatcher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API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library.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Must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be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called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once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after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all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API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usage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free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consumed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resources.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Parameters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No</a:t>
            </a:r>
            <a:r>
              <a:rPr sz="900" spc="-2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parameters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required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Return</a:t>
            </a:r>
            <a:r>
              <a:rPr sz="950" spc="6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Values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No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return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value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24650" y="1133475"/>
            <a:ext cx="114300" cy="1524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826250" y="1101725"/>
            <a:ext cx="4859655" cy="2107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Implementation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Example</a:t>
            </a:r>
            <a:endParaRPr sz="1200">
              <a:latin typeface="Segoe UI"/>
              <a:cs typeface="Segoe UI"/>
            </a:endParaRPr>
          </a:p>
          <a:p>
            <a:pPr marL="12700" marR="1911350">
              <a:lnSpc>
                <a:spcPct val="125000"/>
              </a:lnSpc>
              <a:spcBef>
                <a:spcPts val="1525"/>
              </a:spcBef>
            </a:pP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950" spc="5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Initialize</a:t>
            </a:r>
            <a:r>
              <a:rPr sz="950" spc="5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PSM</a:t>
            </a:r>
            <a:r>
              <a:rPr sz="950" spc="5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API</a:t>
            </a:r>
            <a:r>
              <a:rPr sz="950" spc="6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before</a:t>
            </a:r>
            <a:r>
              <a:rPr sz="950" spc="5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any</a:t>
            </a:r>
            <a:r>
              <a:rPr sz="950" spc="5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other</a:t>
            </a:r>
            <a:r>
              <a:rPr sz="950" spc="6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94A2B8"/>
                </a:solidFill>
                <a:latin typeface="Consolas"/>
                <a:cs typeface="Consolas"/>
              </a:rPr>
              <a:t>calls </a:t>
            </a:r>
            <a:r>
              <a:rPr sz="950" spc="-10" dirty="0">
                <a:solidFill>
                  <a:srgbClr val="60A5FA"/>
                </a:solidFill>
                <a:latin typeface="Consolas"/>
                <a:cs typeface="Consolas"/>
              </a:rPr>
              <a:t>Local</a:t>
            </a:r>
            <a:r>
              <a:rPr sz="950" spc="-10" dirty="0">
                <a:solidFill>
                  <a:srgbClr val="33D399"/>
                </a:solidFill>
                <a:latin typeface="Consolas"/>
                <a:cs typeface="Consolas"/>
              </a:rPr>
              <a:t>$rc</a:t>
            </a:r>
            <a:r>
              <a:rPr sz="950" spc="-1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F59D0A"/>
                </a:solidFill>
                <a:latin typeface="Consolas"/>
                <a:cs typeface="Consolas"/>
              </a:rPr>
              <a:t>PSMDispatcherUtilsWrapper_Init</a:t>
            </a:r>
            <a:r>
              <a:rPr sz="950" spc="-10" dirty="0">
                <a:solidFill>
                  <a:srgbClr val="E2E7F0"/>
                </a:solidFill>
                <a:latin typeface="Consolas"/>
                <a:cs typeface="Consolas"/>
              </a:rPr>
              <a:t>() </a:t>
            </a:r>
            <a:r>
              <a:rPr sz="950" spc="-10" dirty="0">
                <a:solidFill>
                  <a:srgbClr val="60A5FA"/>
                </a:solidFill>
                <a:latin typeface="Consolas"/>
                <a:cs typeface="Consolas"/>
              </a:rPr>
              <a:t>If</a:t>
            </a:r>
            <a:r>
              <a:rPr sz="950" spc="-10" dirty="0">
                <a:solidFill>
                  <a:srgbClr val="33D399"/>
                </a:solidFill>
                <a:latin typeface="Consolas"/>
                <a:cs typeface="Consolas"/>
              </a:rPr>
              <a:t>$rc</a:t>
            </a:r>
            <a:r>
              <a:rPr sz="950" spc="-10" dirty="0">
                <a:solidFill>
                  <a:srgbClr val="E2E7F0"/>
                </a:solidFill>
                <a:latin typeface="Consolas"/>
                <a:cs typeface="Consolas"/>
              </a:rPr>
              <a:t>&lt;&gt;</a:t>
            </a:r>
            <a:r>
              <a:rPr sz="950" spc="-10" dirty="0">
                <a:solidFill>
                  <a:srgbClr val="33D399"/>
                </a:solidFill>
                <a:latin typeface="Consolas"/>
                <a:cs typeface="Consolas"/>
              </a:rPr>
              <a:t>$PSM_ERROR_SUCCESS</a:t>
            </a:r>
            <a:r>
              <a:rPr sz="950" spc="-10" dirty="0">
                <a:solidFill>
                  <a:srgbClr val="60A5FA"/>
                </a:solidFill>
                <a:latin typeface="Consolas"/>
                <a:cs typeface="Consolas"/>
              </a:rPr>
              <a:t>Then</a:t>
            </a:r>
            <a:endParaRPr sz="950">
              <a:latin typeface="Consolas"/>
              <a:cs typeface="Consolas"/>
            </a:endParaRPr>
          </a:p>
          <a:p>
            <a:pPr marL="284480" marR="5080">
              <a:lnSpc>
                <a:spcPct val="125000"/>
              </a:lnSpc>
            </a:pPr>
            <a:r>
              <a:rPr sz="950" spc="-10" dirty="0">
                <a:solidFill>
                  <a:srgbClr val="F59D0A"/>
                </a:solidFill>
                <a:latin typeface="Consolas"/>
                <a:cs typeface="Consolas"/>
              </a:rPr>
              <a:t>PSMDispatcherUtilsWrapper_LogWrite</a:t>
            </a:r>
            <a:r>
              <a:rPr sz="950" spc="-1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F59D0A"/>
                </a:solidFill>
                <a:latin typeface="Consolas"/>
                <a:cs typeface="Consolas"/>
              </a:rPr>
              <a:t>PSMDispatcherUtilsWrapper_PSMGet</a:t>
            </a:r>
            <a:r>
              <a:rPr sz="950" spc="500" dirty="0">
                <a:solidFill>
                  <a:srgbClr val="F59D0A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Exit</a:t>
            </a:r>
            <a:r>
              <a:rPr sz="950" spc="50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spc="-50" dirty="0">
                <a:solidFill>
                  <a:srgbClr val="E2E7F0"/>
                </a:solidFill>
                <a:latin typeface="Consolas"/>
                <a:cs typeface="Consolas"/>
              </a:rPr>
              <a:t>1</a:t>
            </a:r>
            <a:endParaRPr sz="9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950" spc="-10" dirty="0">
                <a:solidFill>
                  <a:srgbClr val="60A5FA"/>
                </a:solidFill>
                <a:latin typeface="Consolas"/>
                <a:cs typeface="Consolas"/>
              </a:rPr>
              <a:t>EndIf</a:t>
            </a:r>
            <a:endParaRPr sz="9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950" spc="5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...</a:t>
            </a:r>
            <a:r>
              <a:rPr sz="950" spc="5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your</a:t>
            </a:r>
            <a:r>
              <a:rPr sz="950" spc="5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automation</a:t>
            </a:r>
            <a:r>
              <a:rPr sz="950" spc="5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code</a:t>
            </a:r>
            <a:r>
              <a:rPr sz="950" spc="5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here</a:t>
            </a:r>
            <a:r>
              <a:rPr sz="950" spc="5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94A2B8"/>
                </a:solidFill>
                <a:latin typeface="Consolas"/>
                <a:cs typeface="Consolas"/>
              </a:rPr>
              <a:t>...</a:t>
            </a:r>
            <a:endParaRPr sz="950">
              <a:latin typeface="Consolas"/>
              <a:cs typeface="Consolas"/>
            </a:endParaRPr>
          </a:p>
          <a:p>
            <a:pPr marL="12700" marR="1842770">
              <a:lnSpc>
                <a:spcPct val="125000"/>
              </a:lnSpc>
              <a:spcBef>
                <a:spcPts val="300"/>
              </a:spcBef>
            </a:pP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950" spc="5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Terminate</a:t>
            </a:r>
            <a:r>
              <a:rPr sz="950" spc="5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API</a:t>
            </a:r>
            <a:r>
              <a:rPr sz="950" spc="5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after</a:t>
            </a:r>
            <a:r>
              <a:rPr sz="950" spc="5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done</a:t>
            </a:r>
            <a:r>
              <a:rPr sz="950" spc="5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to</a:t>
            </a:r>
            <a:r>
              <a:rPr sz="950" spc="5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free</a:t>
            </a:r>
            <a:r>
              <a:rPr sz="950" spc="5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94A2B8"/>
                </a:solidFill>
                <a:latin typeface="Consolas"/>
                <a:cs typeface="Consolas"/>
              </a:rPr>
              <a:t>resources </a:t>
            </a:r>
            <a:r>
              <a:rPr sz="950" spc="-10" dirty="0">
                <a:solidFill>
                  <a:srgbClr val="F59D0A"/>
                </a:solidFill>
                <a:latin typeface="Consolas"/>
                <a:cs typeface="Consolas"/>
              </a:rPr>
              <a:t>PSMDispatcherUtilsWrapper_Term</a:t>
            </a:r>
            <a:r>
              <a:rPr sz="950" spc="-10" dirty="0">
                <a:solidFill>
                  <a:srgbClr val="E2E7F0"/>
                </a:solidFill>
                <a:latin typeface="Consolas"/>
                <a:cs typeface="Consolas"/>
              </a:rPr>
              <a:t>()</a:t>
            </a:r>
            <a:endParaRPr sz="950">
              <a:latin typeface="Consolas"/>
              <a:cs typeface="Consola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829050"/>
            <a:ext cx="12192000" cy="3028950"/>
            <a:chOff x="0" y="3829050"/>
            <a:chExt cx="12192000" cy="302895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24650" y="3829050"/>
              <a:ext cx="152400" cy="1524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0" y="6793991"/>
              <a:ext cx="12192000" cy="64135"/>
            </a:xfrm>
            <a:custGeom>
              <a:avLst/>
              <a:gdLst/>
              <a:ahLst/>
              <a:cxnLst/>
              <a:rect l="l" t="t" r="r" b="b"/>
              <a:pathLst>
                <a:path w="12192000" h="64134">
                  <a:moveTo>
                    <a:pt x="0" y="0"/>
                  </a:moveTo>
                  <a:lnTo>
                    <a:pt x="12191999" y="0"/>
                  </a:lnTo>
                  <a:lnTo>
                    <a:pt x="12191999" y="64008"/>
                  </a:lnTo>
                  <a:lnTo>
                    <a:pt x="0" y="64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940550" y="3797300"/>
            <a:ext cx="10090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Best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Practices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45300" y="4182109"/>
            <a:ext cx="4648200" cy="949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sz="900" b="1" dirty="0">
                <a:solidFill>
                  <a:srgbClr val="1D3A5E"/>
                </a:solidFill>
                <a:latin typeface="Segoe UI"/>
                <a:cs typeface="Segoe UI"/>
              </a:rPr>
              <a:t>Initialization</a:t>
            </a:r>
            <a:r>
              <a:rPr sz="900" b="1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b="1" dirty="0">
                <a:solidFill>
                  <a:srgbClr val="1D3A5E"/>
                </a:solidFill>
                <a:latin typeface="Segoe UI"/>
                <a:cs typeface="Segoe UI"/>
              </a:rPr>
              <a:t>Order:</a:t>
            </a:r>
            <a:r>
              <a:rPr sz="900" b="1" spc="-2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Always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call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Init()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first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before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any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other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API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function.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Check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return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value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for</a:t>
            </a:r>
            <a:r>
              <a:rPr sz="900" spc="-2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success</a:t>
            </a:r>
            <a:r>
              <a:rPr sz="900" spc="-2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before</a:t>
            </a:r>
            <a:r>
              <a:rPr sz="900" spc="-2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proceeding.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125"/>
              </a:spcBef>
            </a:pPr>
            <a:endParaRPr sz="900">
              <a:latin typeface="Segoe UI"/>
              <a:cs typeface="Segoe UI"/>
            </a:endParaRPr>
          </a:p>
          <a:p>
            <a:pPr marL="12700" marR="213360">
              <a:lnSpc>
                <a:spcPct val="111100"/>
              </a:lnSpc>
            </a:pPr>
            <a:r>
              <a:rPr sz="900" b="1" spc="-10" dirty="0">
                <a:solidFill>
                  <a:srgbClr val="91400D"/>
                </a:solidFill>
                <a:latin typeface="Segoe UI"/>
                <a:cs typeface="Segoe UI"/>
              </a:rPr>
              <a:t>Resource</a:t>
            </a:r>
            <a:r>
              <a:rPr sz="900" b="1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b="1" dirty="0">
                <a:solidFill>
                  <a:srgbClr val="91400D"/>
                </a:solidFill>
                <a:latin typeface="Segoe UI"/>
                <a:cs typeface="Segoe UI"/>
              </a:rPr>
              <a:t>Cleanup:</a:t>
            </a:r>
            <a:r>
              <a:rPr sz="900" b="1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Always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call</a:t>
            </a:r>
            <a:r>
              <a:rPr sz="900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spc="-20" dirty="0">
                <a:solidFill>
                  <a:srgbClr val="91400D"/>
                </a:solidFill>
                <a:latin typeface="Segoe UI"/>
                <a:cs typeface="Segoe UI"/>
              </a:rPr>
              <a:t>Term()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at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the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end</a:t>
            </a:r>
            <a:r>
              <a:rPr sz="900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of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your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script</a:t>
            </a:r>
            <a:r>
              <a:rPr sz="900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to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free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resources,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even</a:t>
            </a:r>
            <a:r>
              <a:rPr sz="900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91400D"/>
                </a:solidFill>
                <a:latin typeface="Segoe UI"/>
                <a:cs typeface="Segoe UI"/>
              </a:rPr>
              <a:t>if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errors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occur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during</a:t>
            </a:r>
            <a:r>
              <a:rPr sz="900" spc="-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execution.</a:t>
            </a:r>
            <a:endParaRPr sz="9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215900"/>
            <a:ext cx="489521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LogWrite</a:t>
            </a:r>
            <a:r>
              <a:rPr spc="190" dirty="0"/>
              <a:t> </a:t>
            </a:r>
            <a:r>
              <a:rPr dirty="0"/>
              <a:t>API</a:t>
            </a:r>
            <a:r>
              <a:rPr spc="190" dirty="0"/>
              <a:t> </a:t>
            </a:r>
            <a:r>
              <a:rPr dirty="0"/>
              <a:t>and</a:t>
            </a:r>
            <a:r>
              <a:rPr spc="190" dirty="0"/>
              <a:t> </a:t>
            </a:r>
            <a:r>
              <a:rPr dirty="0"/>
              <a:t>LogLevel</a:t>
            </a:r>
            <a:r>
              <a:rPr spc="190" dirty="0"/>
              <a:t> </a:t>
            </a:r>
            <a:r>
              <a:rPr spc="-10" dirty="0"/>
              <a:t>Constants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3371" y="292100"/>
            <a:ext cx="23622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PSM</a:t>
            </a:r>
            <a:r>
              <a:rPr sz="1050" spc="-25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Universal</a:t>
            </a:r>
            <a:r>
              <a:rPr sz="1050" spc="-25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Connector</a:t>
            </a:r>
            <a:r>
              <a:rPr sz="1050" spc="-20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API</a:t>
            </a:r>
            <a:r>
              <a:rPr sz="1050" spc="-25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Reference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67020" y="292100"/>
            <a:ext cx="3568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4738B"/>
                </a:solidFill>
                <a:latin typeface="Segoe UI Semibold"/>
                <a:cs typeface="Segoe UI Semibold"/>
              </a:rPr>
              <a:t>19/30</a:t>
            </a:r>
            <a:endParaRPr sz="1050">
              <a:latin typeface="Segoe UI Semibold"/>
              <a:cs typeface="Segoe UI Semibold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7368" y="868679"/>
            <a:ext cx="11637645" cy="4806950"/>
            <a:chOff x="277368" y="868679"/>
            <a:chExt cx="11637645" cy="48069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368" y="868679"/>
              <a:ext cx="11637263" cy="480669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400" y="1133474"/>
              <a:ext cx="114300" cy="1524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20700" y="1101725"/>
            <a:ext cx="4123054" cy="1657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LogWrite</a:t>
            </a:r>
            <a:r>
              <a:rPr sz="1200" b="1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Function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Overview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950" b="1" dirty="0">
                <a:solidFill>
                  <a:srgbClr val="1D3A5E"/>
                </a:solidFill>
                <a:latin typeface="Segoe UI"/>
                <a:cs typeface="Segoe UI"/>
              </a:rPr>
              <a:t>Purpose:</a:t>
            </a:r>
            <a:r>
              <a:rPr sz="950" b="1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Write</a:t>
            </a:r>
            <a:r>
              <a:rPr sz="950" spc="5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operational</a:t>
            </a:r>
            <a:r>
              <a:rPr sz="950" spc="5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and</a:t>
            </a:r>
            <a:r>
              <a:rPr sz="950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error</a:t>
            </a:r>
            <a:r>
              <a:rPr sz="950" spc="5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events</a:t>
            </a:r>
            <a:r>
              <a:rPr sz="950" spc="5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to</a:t>
            </a:r>
            <a:r>
              <a:rPr sz="950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the</a:t>
            </a:r>
            <a:r>
              <a:rPr sz="950" spc="5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PSM</a:t>
            </a:r>
            <a:r>
              <a:rPr sz="950" spc="5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dispatcher</a:t>
            </a:r>
            <a:r>
              <a:rPr sz="950" spc="5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log</a:t>
            </a:r>
            <a:r>
              <a:rPr sz="950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"/>
                <a:cs typeface="Segoe UI"/>
              </a:rPr>
              <a:t>file.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Used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for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debugging and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monitoring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connector behavior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during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execution.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900">
              <a:latin typeface="Segoe UI"/>
              <a:cs typeface="Segoe UI"/>
            </a:endParaRPr>
          </a:p>
          <a:p>
            <a:pPr marL="127000">
              <a:lnSpc>
                <a:spcPct val="100000"/>
              </a:lnSpc>
            </a:pPr>
            <a:r>
              <a:rPr sz="900" spc="-10" dirty="0">
                <a:solidFill>
                  <a:srgbClr val="F59D0A"/>
                </a:solidFill>
                <a:latin typeface="Consolas"/>
                <a:cs typeface="Consolas"/>
              </a:rPr>
              <a:t>PSMDispatcherUtilsWrapper_LogWrite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r>
              <a:rPr sz="900" spc="-10" dirty="0">
                <a:solidFill>
                  <a:srgbClr val="33D399"/>
                </a:solidFill>
                <a:latin typeface="Consolas"/>
                <a:cs typeface="Consolas"/>
              </a:rPr>
              <a:t>$Message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900" spc="-10" dirty="0">
                <a:solidFill>
                  <a:srgbClr val="33D399"/>
                </a:solidFill>
                <a:latin typeface="Consolas"/>
                <a:cs typeface="Consolas"/>
              </a:rPr>
              <a:t>$LogLevel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)</a:t>
            </a:r>
            <a:endParaRPr sz="900">
              <a:latin typeface="Consolas"/>
              <a:cs typeface="Consolas"/>
            </a:endParaRPr>
          </a:p>
          <a:p>
            <a:pPr marL="127000">
              <a:lnSpc>
                <a:spcPct val="100000"/>
              </a:lnSpc>
              <a:spcBef>
                <a:spcPts val="570"/>
              </a:spcBef>
            </a:pP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900" spc="-10" dirty="0">
                <a:solidFill>
                  <a:srgbClr val="94A2B8"/>
                </a:solidFill>
                <a:latin typeface="Consolas"/>
                <a:cs typeface="Consolas"/>
              </a:rPr>
              <a:t> Parameters:</a:t>
            </a:r>
            <a:endParaRPr sz="900">
              <a:latin typeface="Consolas"/>
              <a:cs typeface="Consolas"/>
            </a:endParaRPr>
          </a:p>
          <a:p>
            <a:pPr marL="127000">
              <a:lnSpc>
                <a:spcPct val="100000"/>
              </a:lnSpc>
              <a:spcBef>
                <a:spcPts val="270"/>
              </a:spcBef>
            </a:pP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900" spc="-4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$Message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-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The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message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to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write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in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the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log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spc="-20" dirty="0">
                <a:solidFill>
                  <a:srgbClr val="94A2B8"/>
                </a:solidFill>
                <a:latin typeface="Consolas"/>
                <a:cs typeface="Consolas"/>
              </a:rPr>
              <a:t>file</a:t>
            </a:r>
            <a:endParaRPr sz="900">
              <a:latin typeface="Consolas"/>
              <a:cs typeface="Consolas"/>
            </a:endParaRPr>
          </a:p>
          <a:p>
            <a:pPr marL="127000">
              <a:lnSpc>
                <a:spcPct val="100000"/>
              </a:lnSpc>
              <a:spcBef>
                <a:spcPts val="270"/>
              </a:spcBef>
            </a:pP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900" spc="-4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$LogLevel</a:t>
            </a:r>
            <a:r>
              <a:rPr sz="900" spc="-4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-</a:t>
            </a:r>
            <a:r>
              <a:rPr sz="900" spc="-4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The</a:t>
            </a:r>
            <a:r>
              <a:rPr sz="90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log</a:t>
            </a:r>
            <a:r>
              <a:rPr sz="900" spc="-4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level</a:t>
            </a:r>
            <a:r>
              <a:rPr sz="900" spc="-4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(use</a:t>
            </a:r>
            <a:r>
              <a:rPr sz="900" spc="-4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constants</a:t>
            </a:r>
            <a:r>
              <a:rPr sz="90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94A2B8"/>
                </a:solidFill>
                <a:latin typeface="Consolas"/>
                <a:cs typeface="Consolas"/>
              </a:rPr>
              <a:t>below)</a:t>
            </a:r>
            <a:endParaRPr sz="900">
              <a:latin typeface="Consolas"/>
              <a:cs typeface="Consola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42925" y="3378200"/>
            <a:ext cx="266700" cy="1123950"/>
            <a:chOff x="542925" y="3378200"/>
            <a:chExt cx="266700" cy="112395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2925" y="3378200"/>
              <a:ext cx="152400" cy="1587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5325" y="3841750"/>
              <a:ext cx="114300" cy="1174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5325" y="4384675"/>
              <a:ext cx="114300" cy="11747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68350" y="3349625"/>
            <a:ext cx="2329815" cy="1257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LogLevel</a:t>
            </a:r>
            <a:r>
              <a:rPr sz="1200" b="1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Constants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Segoe UI"/>
              <a:cs typeface="Segoe UI"/>
            </a:endParaRPr>
          </a:p>
          <a:p>
            <a:pPr marL="193675">
              <a:lnSpc>
                <a:spcPct val="100000"/>
              </a:lnSpc>
            </a:pP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$LOG_LEVEL_ERROR</a:t>
            </a:r>
            <a:endParaRPr sz="950">
              <a:latin typeface="Segoe UI Semibold"/>
              <a:cs typeface="Segoe UI Semibold"/>
            </a:endParaRPr>
          </a:p>
          <a:p>
            <a:pPr marL="269875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Error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messages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-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use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for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critical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failures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900">
              <a:latin typeface="Segoe UI"/>
              <a:cs typeface="Segoe UI"/>
            </a:endParaRPr>
          </a:p>
          <a:p>
            <a:pPr marL="193675">
              <a:lnSpc>
                <a:spcPct val="100000"/>
              </a:lnSpc>
            </a:pP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$LOG_LEVEL_TRACE</a:t>
            </a:r>
            <a:endParaRPr sz="950">
              <a:latin typeface="Segoe UI Semibold"/>
              <a:cs typeface="Segoe UI Semibold"/>
            </a:endParaRPr>
          </a:p>
          <a:p>
            <a:pPr marL="269875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Trace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messages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-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use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for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debugging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info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48400" y="1130300"/>
            <a:ext cx="190500" cy="15875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362700" y="2197100"/>
            <a:ext cx="62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55" dirty="0">
                <a:solidFill>
                  <a:srgbClr val="E2E7F0"/>
                </a:solidFill>
                <a:latin typeface="Consolas"/>
                <a:cs typeface="Consolas"/>
              </a:rPr>
              <a:t>)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62700" y="3092450"/>
            <a:ext cx="62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55" dirty="0">
                <a:solidFill>
                  <a:srgbClr val="E2E7F0"/>
                </a:solidFill>
                <a:latin typeface="Consolas"/>
                <a:cs typeface="Consolas"/>
              </a:rPr>
              <a:t>)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62700" y="1101725"/>
            <a:ext cx="4714240" cy="2877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Implementation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Example</a:t>
            </a:r>
            <a:endParaRPr sz="1200">
              <a:latin typeface="Segoe UI"/>
              <a:cs typeface="Segoe UI"/>
            </a:endParaRPr>
          </a:p>
          <a:p>
            <a:pPr marR="2506345">
              <a:lnSpc>
                <a:spcPct val="125000"/>
              </a:lnSpc>
              <a:spcBef>
                <a:spcPts val="1515"/>
              </a:spcBef>
            </a:pP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900" spc="-5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Write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an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error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message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to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the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spc="-25" dirty="0">
                <a:solidFill>
                  <a:srgbClr val="94A2B8"/>
                </a:solidFill>
                <a:latin typeface="Consolas"/>
                <a:cs typeface="Consolas"/>
              </a:rPr>
              <a:t>log </a:t>
            </a:r>
            <a:r>
              <a:rPr sz="900" spc="-10" dirty="0">
                <a:solidFill>
                  <a:srgbClr val="F59D0A"/>
                </a:solidFill>
                <a:latin typeface="Consolas"/>
                <a:cs typeface="Consolas"/>
              </a:rPr>
              <a:t>PSMDispatcherUtilsWrapper_LogWrite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endParaRPr sz="900">
              <a:latin typeface="Consolas"/>
              <a:cs typeface="Consolas"/>
            </a:endParaRPr>
          </a:p>
          <a:p>
            <a:pPr marL="250825">
              <a:lnSpc>
                <a:spcPct val="100000"/>
              </a:lnSpc>
              <a:spcBef>
                <a:spcPts val="270"/>
              </a:spcBef>
            </a:pP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"Failed</a:t>
            </a:r>
            <a:r>
              <a:rPr sz="900" spc="-50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to</a:t>
            </a:r>
            <a:r>
              <a:rPr sz="900" spc="-50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connect</a:t>
            </a:r>
            <a:r>
              <a:rPr sz="900" spc="-4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to</a:t>
            </a:r>
            <a:r>
              <a:rPr sz="900" spc="-50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target</a:t>
            </a:r>
            <a:r>
              <a:rPr sz="900" spc="-4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5F2FB"/>
                </a:solidFill>
                <a:latin typeface="Consolas"/>
                <a:cs typeface="Consolas"/>
              </a:rPr>
              <a:t>server"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endParaRPr sz="900">
              <a:latin typeface="Consolas"/>
              <a:cs typeface="Consolas"/>
            </a:endParaRPr>
          </a:p>
          <a:p>
            <a:pPr marL="250825">
              <a:lnSpc>
                <a:spcPct val="100000"/>
              </a:lnSpc>
              <a:spcBef>
                <a:spcPts val="270"/>
              </a:spcBef>
            </a:pPr>
            <a:r>
              <a:rPr sz="900" spc="-10" dirty="0">
                <a:solidFill>
                  <a:srgbClr val="33D399"/>
                </a:solidFill>
                <a:latin typeface="Consolas"/>
                <a:cs typeface="Consolas"/>
              </a:rPr>
              <a:t>$LOG_LEVEL_ERROR</a:t>
            </a:r>
            <a:endParaRPr sz="9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900">
              <a:latin typeface="Consolas"/>
              <a:cs typeface="Consolas"/>
            </a:endParaRPr>
          </a:p>
          <a:p>
            <a:pPr marR="2506345">
              <a:lnSpc>
                <a:spcPct val="125000"/>
              </a:lnSpc>
            </a:pP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900" spc="-4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Write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a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trace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message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to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the</a:t>
            </a:r>
            <a:r>
              <a:rPr sz="900" spc="-3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spc="-25" dirty="0">
                <a:solidFill>
                  <a:srgbClr val="94A2B8"/>
                </a:solidFill>
                <a:latin typeface="Consolas"/>
                <a:cs typeface="Consolas"/>
              </a:rPr>
              <a:t>log </a:t>
            </a:r>
            <a:r>
              <a:rPr sz="900" spc="-10" dirty="0">
                <a:solidFill>
                  <a:srgbClr val="F59D0A"/>
                </a:solidFill>
                <a:latin typeface="Consolas"/>
                <a:cs typeface="Consolas"/>
              </a:rPr>
              <a:t>PSMDispatcherUtilsWrapper_LogWrite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endParaRPr sz="900">
              <a:latin typeface="Consolas"/>
              <a:cs typeface="Consolas"/>
            </a:endParaRPr>
          </a:p>
          <a:p>
            <a:pPr marL="250825">
              <a:lnSpc>
                <a:spcPct val="100000"/>
              </a:lnSpc>
              <a:spcBef>
                <a:spcPts val="270"/>
              </a:spcBef>
            </a:pP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"Login</a:t>
            </a:r>
            <a:r>
              <a:rPr sz="900" spc="-6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automation</a:t>
            </a:r>
            <a:r>
              <a:rPr sz="900" spc="-60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started</a:t>
            </a:r>
            <a:r>
              <a:rPr sz="900" spc="-6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for</a:t>
            </a:r>
            <a:r>
              <a:rPr sz="900" spc="-60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user:</a:t>
            </a:r>
            <a:r>
              <a:rPr sz="900" spc="-60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5F2FB"/>
                </a:solidFill>
                <a:latin typeface="Consolas"/>
                <a:cs typeface="Consolas"/>
              </a:rPr>
              <a:t>"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&amp;</a:t>
            </a:r>
            <a:r>
              <a:rPr sz="900" spc="-10" dirty="0">
                <a:solidFill>
                  <a:srgbClr val="33D399"/>
                </a:solidFill>
                <a:latin typeface="Consolas"/>
                <a:cs typeface="Consolas"/>
              </a:rPr>
              <a:t>$user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endParaRPr sz="900">
              <a:latin typeface="Consolas"/>
              <a:cs typeface="Consolas"/>
            </a:endParaRPr>
          </a:p>
          <a:p>
            <a:pPr marL="250825">
              <a:lnSpc>
                <a:spcPct val="100000"/>
              </a:lnSpc>
              <a:spcBef>
                <a:spcPts val="270"/>
              </a:spcBef>
            </a:pPr>
            <a:r>
              <a:rPr sz="900" spc="-10" dirty="0">
                <a:solidFill>
                  <a:srgbClr val="33D399"/>
                </a:solidFill>
                <a:latin typeface="Consolas"/>
                <a:cs typeface="Consolas"/>
              </a:rPr>
              <a:t>$LOG_LEVEL_TRACE</a:t>
            </a:r>
            <a:endParaRPr sz="9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900">
              <a:latin typeface="Consolas"/>
              <a:cs typeface="Consolas"/>
            </a:endParaRPr>
          </a:p>
          <a:p>
            <a:pPr marR="2506345">
              <a:lnSpc>
                <a:spcPct val="125000"/>
              </a:lnSpc>
            </a:pP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Check</a:t>
            </a:r>
            <a:r>
              <a:rPr sz="900" spc="-3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if</a:t>
            </a:r>
            <a:r>
              <a:rPr sz="900" spc="-3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log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write</a:t>
            </a:r>
            <a:r>
              <a:rPr sz="900" spc="-3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was</a:t>
            </a:r>
            <a:r>
              <a:rPr sz="900" spc="-3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94A2B8"/>
                </a:solidFill>
                <a:latin typeface="Consolas"/>
                <a:cs typeface="Consolas"/>
              </a:rPr>
              <a:t>successful </a:t>
            </a:r>
            <a:r>
              <a:rPr sz="900" spc="-10" dirty="0">
                <a:solidFill>
                  <a:srgbClr val="60A5FA"/>
                </a:solidFill>
                <a:latin typeface="Consolas"/>
                <a:cs typeface="Consolas"/>
              </a:rPr>
              <a:t>If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@error</a:t>
            </a:r>
            <a:r>
              <a:rPr sz="900" spc="-10" dirty="0">
                <a:solidFill>
                  <a:srgbClr val="60A5FA"/>
                </a:solidFill>
                <a:latin typeface="Consolas"/>
                <a:cs typeface="Consolas"/>
              </a:rPr>
              <a:t>Then</a:t>
            </a:r>
            <a:endParaRPr sz="900">
              <a:latin typeface="Consolas"/>
              <a:cs typeface="Consolas"/>
            </a:endParaRPr>
          </a:p>
          <a:p>
            <a:pPr indent="250825">
              <a:lnSpc>
                <a:spcPct val="125000"/>
              </a:lnSpc>
            </a:pPr>
            <a:r>
              <a:rPr sz="900" spc="-10" dirty="0">
                <a:solidFill>
                  <a:srgbClr val="F59D0A"/>
                </a:solidFill>
                <a:latin typeface="Consolas"/>
                <a:cs typeface="Consolas"/>
              </a:rPr>
              <a:t>PSMDispatcherUtilsWrapper_LogWrite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r>
              <a:rPr sz="900" spc="-10" dirty="0">
                <a:solidFill>
                  <a:srgbClr val="A5F2FB"/>
                </a:solidFill>
                <a:latin typeface="Consolas"/>
                <a:cs typeface="Consolas"/>
              </a:rPr>
              <a:t>"Log</a:t>
            </a:r>
            <a:r>
              <a:rPr sz="900" spc="-3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write</a:t>
            </a:r>
            <a:r>
              <a:rPr sz="900" spc="-2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5F2FB"/>
                </a:solidFill>
                <a:latin typeface="Consolas"/>
                <a:cs typeface="Consolas"/>
              </a:rPr>
              <a:t>failed"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900" spc="-10" dirty="0">
                <a:solidFill>
                  <a:srgbClr val="33D399"/>
                </a:solidFill>
                <a:latin typeface="Consolas"/>
                <a:cs typeface="Consolas"/>
              </a:rPr>
              <a:t>$LOG_LEVEL_ERROR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) </a:t>
            </a:r>
            <a:r>
              <a:rPr sz="900" spc="-10" dirty="0">
                <a:solidFill>
                  <a:srgbClr val="60A5FA"/>
                </a:solidFill>
                <a:latin typeface="Consolas"/>
                <a:cs typeface="Consolas"/>
              </a:rPr>
              <a:t>EndIf</a:t>
            </a:r>
            <a:endParaRPr sz="900">
              <a:latin typeface="Consolas"/>
              <a:cs typeface="Consola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4600575"/>
            <a:ext cx="12192000" cy="2257425"/>
            <a:chOff x="0" y="4600575"/>
            <a:chExt cx="12192000" cy="2257425"/>
          </a:xfrm>
        </p:grpSpPr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51575" y="4600575"/>
              <a:ext cx="107950" cy="1524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0" y="6793991"/>
              <a:ext cx="12192000" cy="64135"/>
            </a:xfrm>
            <a:custGeom>
              <a:avLst/>
              <a:gdLst/>
              <a:ahLst/>
              <a:cxnLst/>
              <a:rect l="l" t="t" r="r" b="b"/>
              <a:pathLst>
                <a:path w="12192000" h="64134">
                  <a:moveTo>
                    <a:pt x="0" y="0"/>
                  </a:moveTo>
                  <a:lnTo>
                    <a:pt x="12191999" y="0"/>
                  </a:lnTo>
                  <a:lnTo>
                    <a:pt x="12191999" y="64008"/>
                  </a:lnTo>
                  <a:lnTo>
                    <a:pt x="0" y="64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426200" y="4568825"/>
            <a:ext cx="10090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Best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Practices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69050" y="4953634"/>
            <a:ext cx="5194300" cy="34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sz="900" b="1" dirty="0">
                <a:solidFill>
                  <a:srgbClr val="1D3A5E"/>
                </a:solidFill>
                <a:latin typeface="Segoe UI"/>
                <a:cs typeface="Segoe UI"/>
              </a:rPr>
              <a:t>Logging</a:t>
            </a:r>
            <a:r>
              <a:rPr sz="900" b="1" spc="-10" dirty="0">
                <a:solidFill>
                  <a:srgbClr val="1D3A5E"/>
                </a:solidFill>
                <a:latin typeface="Segoe UI"/>
                <a:cs typeface="Segoe UI"/>
              </a:rPr>
              <a:t> Strategy:</a:t>
            </a:r>
            <a:r>
              <a:rPr sz="900" b="1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Use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ERROR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level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for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failures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that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impact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functionality,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TRACE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for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debugging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details.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Avoid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logging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sensitive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data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like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passwords.</a:t>
            </a:r>
            <a:endParaRPr sz="9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215900"/>
            <a:ext cx="310451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GetSessionProperty</a:t>
            </a:r>
            <a:r>
              <a:rPr spc="15" dirty="0"/>
              <a:t>  </a:t>
            </a:r>
            <a:r>
              <a:rPr spc="-25" dirty="0"/>
              <a:t>API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42071" y="292100"/>
            <a:ext cx="26765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Retrieving</a:t>
            </a:r>
            <a:r>
              <a:rPr sz="1050" spc="-25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Credentials</a:t>
            </a:r>
            <a:r>
              <a:rPr sz="1050" spc="-20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and</a:t>
            </a:r>
            <a:r>
              <a:rPr sz="1050" spc="-25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Session</a:t>
            </a:r>
            <a:r>
              <a:rPr sz="1050" spc="-20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Properties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6922" y="292100"/>
            <a:ext cx="3771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4738B"/>
                </a:solidFill>
                <a:latin typeface="Segoe UI Semibold"/>
                <a:cs typeface="Segoe UI Semibold"/>
              </a:rPr>
              <a:t>20/30</a:t>
            </a:r>
            <a:endParaRPr sz="1050">
              <a:latin typeface="Segoe UI Semibold"/>
              <a:cs typeface="Segoe UI Semibold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7368" y="868679"/>
            <a:ext cx="11637645" cy="4986655"/>
            <a:chOff x="277368" y="868679"/>
            <a:chExt cx="11637645" cy="49866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368" y="868679"/>
              <a:ext cx="11637263" cy="49865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400" y="1133474"/>
              <a:ext cx="152400" cy="1524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49300" y="1101725"/>
            <a:ext cx="9925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API</a:t>
            </a:r>
            <a:r>
              <a:rPr sz="1200" b="1" spc="-2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Overview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4050" y="1486535"/>
            <a:ext cx="4877435" cy="34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1D3A5E"/>
                </a:solidFill>
                <a:latin typeface="Segoe UI"/>
                <a:cs typeface="Segoe UI"/>
              </a:rPr>
              <a:t>GetSessionProperty</a:t>
            </a:r>
            <a:r>
              <a:rPr sz="900" b="1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retrieves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session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properties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(address,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user,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password)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from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PSM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by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passing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the</a:t>
            </a:r>
            <a:r>
              <a:rPr sz="900" spc="-4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property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name</a:t>
            </a:r>
            <a:r>
              <a:rPr sz="900" spc="-2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as</a:t>
            </a:r>
            <a:r>
              <a:rPr sz="900" spc="-2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a</a:t>
            </a:r>
            <a:r>
              <a:rPr sz="900" spc="-2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parameter.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Returns</a:t>
            </a:r>
            <a:r>
              <a:rPr sz="900" spc="-2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1D3A5E"/>
                </a:solidFill>
                <a:latin typeface="Consolas"/>
                <a:cs typeface="Consolas"/>
              </a:rPr>
              <a:t>$PSM_ERROR_SUCCESS</a:t>
            </a:r>
            <a:r>
              <a:rPr sz="900" spc="-250" dirty="0">
                <a:solidFill>
                  <a:srgbClr val="1D3A5E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on</a:t>
            </a:r>
            <a:r>
              <a:rPr sz="900" spc="-2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success.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6425" y="2093883"/>
            <a:ext cx="1913255" cy="34036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90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SessionPropertyName</a:t>
            </a:r>
            <a:endParaRPr sz="9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Property</a:t>
            </a:r>
            <a:r>
              <a:rPr sz="800" spc="5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name</a:t>
            </a:r>
            <a:r>
              <a:rPr sz="800" spc="5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800" spc="5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retrieve</a:t>
            </a:r>
            <a:r>
              <a:rPr sz="800" spc="5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(IN</a:t>
            </a:r>
            <a:r>
              <a:rPr sz="800" spc="5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64738B"/>
                </a:solidFill>
                <a:latin typeface="Segoe UI"/>
                <a:cs typeface="Segoe UI"/>
              </a:rPr>
              <a:t>parameter)</a:t>
            </a:r>
            <a:endParaRPr sz="8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63900" y="2093883"/>
            <a:ext cx="1807210" cy="34036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90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SessionProperty</a:t>
            </a:r>
            <a:endParaRPr sz="9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Value</a:t>
            </a:r>
            <a:r>
              <a:rPr sz="800" spc="3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of</a:t>
            </a:r>
            <a:r>
              <a:rPr sz="800" spc="3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800" spc="3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property</a:t>
            </a:r>
            <a:r>
              <a:rPr sz="800" spc="3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(OUT</a:t>
            </a:r>
            <a:r>
              <a:rPr sz="800" spc="3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64738B"/>
                </a:solidFill>
                <a:latin typeface="Segoe UI"/>
                <a:cs typeface="Segoe UI"/>
              </a:rPr>
              <a:t>parameter)</a:t>
            </a:r>
            <a:endParaRPr sz="800">
              <a:latin typeface="Segoe UI"/>
              <a:cs typeface="Segoe U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6575" y="1133475"/>
            <a:ext cx="5867400" cy="3790950"/>
            <a:chOff x="536575" y="1133475"/>
            <a:chExt cx="5867400" cy="379095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6575" y="2994025"/>
              <a:ext cx="149225" cy="1270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8400" y="1133475"/>
              <a:ext cx="114300" cy="1524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45225" y="4791075"/>
              <a:ext cx="158750" cy="13335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49300" y="2949575"/>
            <a:ext cx="1463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Available Properties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6425" y="3322608"/>
            <a:ext cx="1344295" cy="34036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90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Address</a:t>
            </a:r>
            <a:endParaRPr sz="9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Target</a:t>
            </a:r>
            <a:r>
              <a:rPr sz="800" spc="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machine</a:t>
            </a:r>
            <a:r>
              <a:rPr sz="800" spc="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64738B"/>
                </a:solidFill>
                <a:latin typeface="Segoe UI"/>
                <a:cs typeface="Segoe UI"/>
              </a:rPr>
              <a:t>IP/hostname</a:t>
            </a:r>
            <a:endParaRPr sz="800">
              <a:latin typeface="Segoe UI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63900" y="3322608"/>
            <a:ext cx="1186815" cy="34036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90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Username</a:t>
            </a:r>
            <a:endParaRPr sz="9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Authentication</a:t>
            </a:r>
            <a:r>
              <a:rPr sz="800" spc="10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64738B"/>
                </a:solidFill>
                <a:latin typeface="Segoe UI"/>
                <a:cs typeface="Segoe UI"/>
              </a:rPr>
              <a:t>username</a:t>
            </a:r>
            <a:endParaRPr sz="800">
              <a:latin typeface="Segoe UI"/>
              <a:cs typeface="Segoe U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6425" y="3894108"/>
            <a:ext cx="1173480" cy="34036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90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Password</a:t>
            </a:r>
            <a:endParaRPr sz="9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Authentication</a:t>
            </a:r>
            <a:r>
              <a:rPr sz="800" spc="10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64738B"/>
                </a:solidFill>
                <a:latin typeface="Segoe UI"/>
                <a:cs typeface="Segoe UI"/>
              </a:rPr>
              <a:t>password</a:t>
            </a:r>
            <a:endParaRPr sz="800">
              <a:latin typeface="Segoe UI"/>
              <a:cs typeface="Segoe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63900" y="3894108"/>
            <a:ext cx="1161415" cy="34036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90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SessionUUID</a:t>
            </a:r>
            <a:endParaRPr sz="9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Unique</a:t>
            </a:r>
            <a:r>
              <a:rPr sz="800" spc="8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session</a:t>
            </a:r>
            <a:r>
              <a:rPr sz="800" spc="8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64738B"/>
                </a:solidFill>
                <a:latin typeface="Segoe UI"/>
                <a:cs typeface="Segoe UI"/>
              </a:rPr>
              <a:t>identifier</a:t>
            </a:r>
            <a:endParaRPr sz="800">
              <a:latin typeface="Segoe UI"/>
              <a:cs typeface="Segoe U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26200" y="1101725"/>
            <a:ext cx="158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Code</a:t>
            </a:r>
            <a:r>
              <a:rPr sz="1200" b="1" spc="-3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Implementation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50000" y="1456055"/>
            <a:ext cx="1753870" cy="568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8400"/>
              </a:lnSpc>
              <a:spcBef>
                <a:spcPts val="95"/>
              </a:spcBef>
            </a:pPr>
            <a:r>
              <a:rPr sz="80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800" spc="10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94A2B8"/>
                </a:solidFill>
                <a:latin typeface="Consolas"/>
                <a:cs typeface="Consolas"/>
              </a:rPr>
              <a:t>GetSessionProperty</a:t>
            </a:r>
            <a:r>
              <a:rPr sz="800" spc="10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94A2B8"/>
                </a:solidFill>
                <a:latin typeface="Consolas"/>
                <a:cs typeface="Consolas"/>
              </a:rPr>
              <a:t>API</a:t>
            </a:r>
            <a:r>
              <a:rPr sz="800" spc="10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94A2B8"/>
                </a:solidFill>
                <a:latin typeface="Consolas"/>
                <a:cs typeface="Consolas"/>
              </a:rPr>
              <a:t>Usage </a:t>
            </a:r>
            <a:r>
              <a:rPr sz="800" spc="-10" dirty="0">
                <a:solidFill>
                  <a:srgbClr val="60A5FA"/>
                </a:solidFill>
                <a:latin typeface="Consolas"/>
                <a:cs typeface="Consolas"/>
              </a:rPr>
              <a:t>Local</a:t>
            </a:r>
            <a:r>
              <a:rPr sz="800" spc="-10" dirty="0">
                <a:solidFill>
                  <a:srgbClr val="33D399"/>
                </a:solidFill>
                <a:latin typeface="Consolas"/>
                <a:cs typeface="Consolas"/>
              </a:rPr>
              <a:t>$addr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800" spc="-10" dirty="0">
                <a:solidFill>
                  <a:srgbClr val="33D399"/>
                </a:solidFill>
                <a:latin typeface="Consolas"/>
                <a:cs typeface="Consolas"/>
              </a:rPr>
              <a:t>$user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800" spc="-10" dirty="0">
                <a:solidFill>
                  <a:srgbClr val="33D399"/>
                </a:solidFill>
                <a:latin typeface="Consolas"/>
                <a:cs typeface="Consolas"/>
              </a:rPr>
              <a:t>$pass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800" spc="-10" dirty="0">
                <a:solidFill>
                  <a:srgbClr val="60A5FA"/>
                </a:solidFill>
                <a:latin typeface="Consolas"/>
                <a:cs typeface="Consolas"/>
              </a:rPr>
              <a:t>Local</a:t>
            </a:r>
            <a:r>
              <a:rPr sz="800" spc="-10" dirty="0">
                <a:solidFill>
                  <a:srgbClr val="33D399"/>
                </a:solidFill>
                <a:latin typeface="Consolas"/>
                <a:cs typeface="Consolas"/>
              </a:rPr>
              <a:t>$result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50000" y="2046604"/>
            <a:ext cx="4634865" cy="91122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80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800" spc="8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94A2B8"/>
                </a:solidFill>
                <a:latin typeface="Consolas"/>
                <a:cs typeface="Consolas"/>
              </a:rPr>
              <a:t>Retrieve</a:t>
            </a:r>
            <a:r>
              <a:rPr sz="800" spc="8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94A2B8"/>
                </a:solidFill>
                <a:latin typeface="Consolas"/>
                <a:cs typeface="Consolas"/>
              </a:rPr>
              <a:t>Address</a:t>
            </a:r>
            <a:r>
              <a:rPr sz="800" spc="8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94A2B8"/>
                </a:solidFill>
                <a:latin typeface="Consolas"/>
                <a:cs typeface="Consolas"/>
              </a:rPr>
              <a:t>property</a:t>
            </a:r>
            <a:endParaRPr sz="800">
              <a:latin typeface="Consolas"/>
              <a:cs typeface="Consolas"/>
            </a:endParaRPr>
          </a:p>
          <a:p>
            <a:pPr marL="12700" marR="638175">
              <a:lnSpc>
                <a:spcPts val="1430"/>
              </a:lnSpc>
              <a:spcBef>
                <a:spcPts val="45"/>
              </a:spcBef>
            </a:pPr>
            <a:r>
              <a:rPr sz="800" spc="-10" dirty="0">
                <a:solidFill>
                  <a:srgbClr val="33D399"/>
                </a:solidFill>
                <a:latin typeface="Consolas"/>
                <a:cs typeface="Consolas"/>
              </a:rPr>
              <a:t>$result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800" spc="-10" dirty="0">
                <a:solidFill>
                  <a:srgbClr val="F59D0A"/>
                </a:solidFill>
                <a:latin typeface="Consolas"/>
                <a:cs typeface="Consolas"/>
              </a:rPr>
              <a:t>PSMDispatcherUtilsWrapper_GetSessionProperty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r>
              <a:rPr sz="800" spc="-10" dirty="0">
                <a:solidFill>
                  <a:srgbClr val="A5F2FB"/>
                </a:solidFill>
                <a:latin typeface="Consolas"/>
                <a:cs typeface="Consolas"/>
              </a:rPr>
              <a:t>"Address"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800" spc="-10" dirty="0">
                <a:solidFill>
                  <a:srgbClr val="33D399"/>
                </a:solidFill>
                <a:latin typeface="Consolas"/>
                <a:cs typeface="Consolas"/>
              </a:rPr>
              <a:t>$addr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)</a:t>
            </a:r>
            <a:r>
              <a:rPr sz="800" spc="500" dirty="0">
                <a:solidFill>
                  <a:srgbClr val="E2E7F0"/>
                </a:solidFill>
                <a:latin typeface="Consolas"/>
                <a:cs typeface="Consolas"/>
              </a:rPr>
              <a:t>  </a:t>
            </a:r>
            <a:r>
              <a:rPr sz="800" spc="-10" dirty="0">
                <a:solidFill>
                  <a:srgbClr val="60A5FA"/>
                </a:solidFill>
                <a:latin typeface="Consolas"/>
                <a:cs typeface="Consolas"/>
              </a:rPr>
              <a:t>If</a:t>
            </a:r>
            <a:r>
              <a:rPr sz="800" spc="-10" dirty="0">
                <a:solidFill>
                  <a:srgbClr val="33D399"/>
                </a:solidFill>
                <a:latin typeface="Consolas"/>
                <a:cs typeface="Consolas"/>
              </a:rPr>
              <a:t>$result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&lt;&gt;</a:t>
            </a:r>
            <a:r>
              <a:rPr sz="800" spc="-10" dirty="0">
                <a:solidFill>
                  <a:srgbClr val="33D399"/>
                </a:solidFill>
                <a:latin typeface="Consolas"/>
                <a:cs typeface="Consolas"/>
              </a:rPr>
              <a:t>$PSM_ERROR_SUCCESS</a:t>
            </a:r>
            <a:r>
              <a:rPr sz="800" spc="-10" dirty="0">
                <a:solidFill>
                  <a:srgbClr val="60A5FA"/>
                </a:solidFill>
                <a:latin typeface="Consolas"/>
                <a:cs typeface="Consolas"/>
              </a:rPr>
              <a:t>Then</a:t>
            </a:r>
            <a:endParaRPr sz="800">
              <a:latin typeface="Consolas"/>
              <a:cs typeface="Consolas"/>
            </a:endParaRPr>
          </a:p>
          <a:p>
            <a:pPr marL="243204">
              <a:lnSpc>
                <a:spcPct val="100000"/>
              </a:lnSpc>
              <a:spcBef>
                <a:spcPts val="334"/>
              </a:spcBef>
            </a:pPr>
            <a:r>
              <a:rPr sz="800" spc="10" dirty="0">
                <a:solidFill>
                  <a:srgbClr val="F59D0A"/>
                </a:solidFill>
                <a:latin typeface="Consolas"/>
                <a:cs typeface="Consolas"/>
              </a:rPr>
              <a:t>PSMDispatcherUtilsWrapper_LogWrite</a:t>
            </a:r>
            <a:r>
              <a:rPr sz="800" spc="1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r>
              <a:rPr sz="800" spc="10" dirty="0">
                <a:solidFill>
                  <a:srgbClr val="A5F2FB"/>
                </a:solidFill>
                <a:latin typeface="Consolas"/>
                <a:cs typeface="Consolas"/>
              </a:rPr>
              <a:t>"Failed</a:t>
            </a:r>
            <a:r>
              <a:rPr sz="800" spc="5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800" spc="10" dirty="0">
                <a:solidFill>
                  <a:srgbClr val="A5F2FB"/>
                </a:solidFill>
                <a:latin typeface="Consolas"/>
                <a:cs typeface="Consolas"/>
              </a:rPr>
              <a:t>to</a:t>
            </a:r>
            <a:r>
              <a:rPr sz="800" spc="60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800" spc="10" dirty="0">
                <a:solidFill>
                  <a:srgbClr val="A5F2FB"/>
                </a:solidFill>
                <a:latin typeface="Consolas"/>
                <a:cs typeface="Consolas"/>
              </a:rPr>
              <a:t>get</a:t>
            </a:r>
            <a:r>
              <a:rPr sz="800" spc="60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A5F2FB"/>
                </a:solidFill>
                <a:latin typeface="Consolas"/>
                <a:cs typeface="Consolas"/>
              </a:rPr>
              <a:t>Address"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800" spc="-10" dirty="0">
                <a:solidFill>
                  <a:srgbClr val="33D399"/>
                </a:solidFill>
                <a:latin typeface="Consolas"/>
                <a:cs typeface="Consolas"/>
              </a:rPr>
              <a:t>$LOG_LEVEL_ERROR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)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64"/>
              </a:spcBef>
            </a:pPr>
            <a:r>
              <a:rPr sz="800" spc="-10" dirty="0">
                <a:solidFill>
                  <a:srgbClr val="60A5FA"/>
                </a:solidFill>
                <a:latin typeface="Consolas"/>
                <a:cs typeface="Consolas"/>
              </a:rPr>
              <a:t>EndIf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350000" y="2970529"/>
            <a:ext cx="3597910" cy="38735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80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800" spc="8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94A2B8"/>
                </a:solidFill>
                <a:latin typeface="Consolas"/>
                <a:cs typeface="Consolas"/>
              </a:rPr>
              <a:t>Retrieve</a:t>
            </a:r>
            <a:r>
              <a:rPr sz="800" spc="8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94A2B8"/>
                </a:solidFill>
                <a:latin typeface="Consolas"/>
                <a:cs typeface="Consolas"/>
              </a:rPr>
              <a:t>Username</a:t>
            </a:r>
            <a:r>
              <a:rPr sz="800" spc="8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94A2B8"/>
                </a:solidFill>
                <a:latin typeface="Consolas"/>
                <a:cs typeface="Consolas"/>
              </a:rPr>
              <a:t>property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64"/>
              </a:spcBef>
            </a:pPr>
            <a:r>
              <a:rPr sz="800" spc="-10" dirty="0">
                <a:solidFill>
                  <a:srgbClr val="F59D0A"/>
                </a:solidFill>
                <a:latin typeface="Consolas"/>
                <a:cs typeface="Consolas"/>
              </a:rPr>
              <a:t>PSMDispatcherUtilsWrapper_GetSessionProperty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r>
              <a:rPr sz="800" spc="-10" dirty="0">
                <a:solidFill>
                  <a:srgbClr val="A5F2FB"/>
                </a:solidFill>
                <a:latin typeface="Consolas"/>
                <a:cs typeface="Consolas"/>
              </a:rPr>
              <a:t>"Username"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800" spc="-10" dirty="0">
                <a:solidFill>
                  <a:srgbClr val="33D399"/>
                </a:solidFill>
                <a:latin typeface="Consolas"/>
                <a:cs typeface="Consolas"/>
              </a:rPr>
              <a:t>$user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)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50000" y="3361054"/>
            <a:ext cx="3597910" cy="38735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80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800" spc="8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94A2B8"/>
                </a:solidFill>
                <a:latin typeface="Consolas"/>
                <a:cs typeface="Consolas"/>
              </a:rPr>
              <a:t>Retrieve</a:t>
            </a:r>
            <a:r>
              <a:rPr sz="800" spc="8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94A2B8"/>
                </a:solidFill>
                <a:latin typeface="Consolas"/>
                <a:cs typeface="Consolas"/>
              </a:rPr>
              <a:t>Password</a:t>
            </a:r>
            <a:r>
              <a:rPr sz="800" spc="8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94A2B8"/>
                </a:solidFill>
                <a:latin typeface="Consolas"/>
                <a:cs typeface="Consolas"/>
              </a:rPr>
              <a:t>property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64"/>
              </a:spcBef>
            </a:pPr>
            <a:r>
              <a:rPr sz="800" spc="-10" dirty="0">
                <a:solidFill>
                  <a:srgbClr val="F59D0A"/>
                </a:solidFill>
                <a:latin typeface="Consolas"/>
                <a:cs typeface="Consolas"/>
              </a:rPr>
              <a:t>PSMDispatcherUtilsWrapper_GetSessionProperty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r>
              <a:rPr sz="800" spc="-10" dirty="0">
                <a:solidFill>
                  <a:srgbClr val="A5F2FB"/>
                </a:solidFill>
                <a:latin typeface="Consolas"/>
                <a:cs typeface="Consolas"/>
              </a:rPr>
              <a:t>"Password"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800" spc="-10" dirty="0">
                <a:solidFill>
                  <a:srgbClr val="33D399"/>
                </a:solidFill>
                <a:latin typeface="Consolas"/>
                <a:cs typeface="Consolas"/>
              </a:rPr>
              <a:t>$pass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)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350000" y="3761104"/>
            <a:ext cx="4346575" cy="38735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80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800" spc="7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94A2B8"/>
                </a:solidFill>
                <a:latin typeface="Consolas"/>
                <a:cs typeface="Consolas"/>
              </a:rPr>
              <a:t>Use</a:t>
            </a:r>
            <a:r>
              <a:rPr sz="800" spc="8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94A2B8"/>
                </a:solidFill>
                <a:latin typeface="Consolas"/>
                <a:cs typeface="Consolas"/>
              </a:rPr>
              <a:t>credentials</a:t>
            </a:r>
            <a:r>
              <a:rPr sz="800" spc="7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94A2B8"/>
                </a:solidFill>
                <a:latin typeface="Consolas"/>
                <a:cs typeface="Consolas"/>
              </a:rPr>
              <a:t>securely</a:t>
            </a:r>
            <a:r>
              <a:rPr sz="800" spc="8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94A2B8"/>
                </a:solidFill>
                <a:latin typeface="Consolas"/>
                <a:cs typeface="Consolas"/>
              </a:rPr>
              <a:t>-</a:t>
            </a:r>
            <a:r>
              <a:rPr sz="800" spc="7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94A2B8"/>
                </a:solidFill>
                <a:latin typeface="Consolas"/>
                <a:cs typeface="Consolas"/>
              </a:rPr>
              <a:t>avoid</a:t>
            </a:r>
            <a:r>
              <a:rPr sz="800" spc="8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94A2B8"/>
                </a:solidFill>
                <a:latin typeface="Consolas"/>
                <a:cs typeface="Consolas"/>
              </a:rPr>
              <a:t>logging</a:t>
            </a:r>
            <a:r>
              <a:rPr sz="800" spc="7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94A2B8"/>
                </a:solidFill>
                <a:latin typeface="Consolas"/>
                <a:cs typeface="Consolas"/>
              </a:rPr>
              <a:t>$pass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800" spc="10" dirty="0">
                <a:solidFill>
                  <a:srgbClr val="F59D0A"/>
                </a:solidFill>
                <a:latin typeface="Consolas"/>
                <a:cs typeface="Consolas"/>
              </a:rPr>
              <a:t>PSMDispatcherUtilsWrapper_LogWrite</a:t>
            </a:r>
            <a:r>
              <a:rPr sz="800" spc="1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r>
              <a:rPr sz="800" spc="10" dirty="0">
                <a:solidFill>
                  <a:srgbClr val="A5F2FB"/>
                </a:solidFill>
                <a:latin typeface="Consolas"/>
                <a:cs typeface="Consolas"/>
              </a:rPr>
              <a:t>"Connected</a:t>
            </a:r>
            <a:r>
              <a:rPr sz="800" spc="8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800" spc="10" dirty="0">
                <a:solidFill>
                  <a:srgbClr val="A5F2FB"/>
                </a:solidFill>
                <a:latin typeface="Consolas"/>
                <a:cs typeface="Consolas"/>
              </a:rPr>
              <a:t>to:</a:t>
            </a:r>
            <a:r>
              <a:rPr sz="800" spc="8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A5F2FB"/>
                </a:solidFill>
                <a:latin typeface="Consolas"/>
                <a:cs typeface="Consolas"/>
              </a:rPr>
              <a:t>"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&amp;</a:t>
            </a:r>
            <a:r>
              <a:rPr sz="800" spc="-10" dirty="0">
                <a:solidFill>
                  <a:srgbClr val="33D399"/>
                </a:solidFill>
                <a:latin typeface="Consolas"/>
                <a:cs typeface="Consolas"/>
              </a:rPr>
              <a:t>$addr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800" spc="-10" dirty="0">
                <a:solidFill>
                  <a:srgbClr val="33D399"/>
                </a:solidFill>
                <a:latin typeface="Consolas"/>
                <a:cs typeface="Consolas"/>
              </a:rPr>
              <a:t>$LOG_LEVEL_TRACE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)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69050" y="4759325"/>
            <a:ext cx="4867910" cy="73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Security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Considerations</a:t>
            </a:r>
            <a:endParaRPr sz="1200">
              <a:latin typeface="Segoe UI"/>
              <a:cs typeface="Segoe UI"/>
            </a:endParaRPr>
          </a:p>
          <a:p>
            <a:pPr marL="12700" marR="5080">
              <a:lnSpc>
                <a:spcPct val="118100"/>
              </a:lnSpc>
              <a:spcBef>
                <a:spcPts val="1590"/>
              </a:spcBef>
            </a:pPr>
            <a:r>
              <a:rPr sz="900" b="1" dirty="0">
                <a:solidFill>
                  <a:srgbClr val="91400D"/>
                </a:solidFill>
                <a:latin typeface="Segoe UI"/>
                <a:cs typeface="Segoe UI"/>
              </a:rPr>
              <a:t>Important:</a:t>
            </a:r>
            <a:r>
              <a:rPr sz="900" b="1" spc="-2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Never</a:t>
            </a:r>
            <a:r>
              <a:rPr sz="900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log</a:t>
            </a:r>
            <a:r>
              <a:rPr sz="900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or</a:t>
            </a:r>
            <a:r>
              <a:rPr sz="900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display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the</a:t>
            </a:r>
            <a:r>
              <a:rPr sz="900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password</a:t>
            </a:r>
            <a:r>
              <a:rPr sz="900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value.</a:t>
            </a:r>
            <a:r>
              <a:rPr sz="900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Use</a:t>
            </a:r>
            <a:r>
              <a:rPr sz="900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GetSessionProperty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securely</a:t>
            </a:r>
            <a:r>
              <a:rPr sz="900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and</a:t>
            </a:r>
            <a:r>
              <a:rPr sz="900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clean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sensitive</a:t>
            </a:r>
            <a:r>
              <a:rPr sz="900" spc="-2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data</a:t>
            </a:r>
            <a:r>
              <a:rPr sz="900" spc="-2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from</a:t>
            </a:r>
            <a:r>
              <a:rPr sz="900" spc="-2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memory</a:t>
            </a:r>
            <a:r>
              <a:rPr sz="900" spc="-2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after</a:t>
            </a:r>
            <a:r>
              <a:rPr sz="900" spc="-20" dirty="0">
                <a:solidFill>
                  <a:srgbClr val="91400D"/>
                </a:solidFill>
                <a:latin typeface="Segoe UI"/>
                <a:cs typeface="Segoe UI"/>
              </a:rPr>
              <a:t> use.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0" y="6793991"/>
            <a:ext cx="12192000" cy="64135"/>
          </a:xfrm>
          <a:custGeom>
            <a:avLst/>
            <a:gdLst/>
            <a:ahLst/>
            <a:cxnLst/>
            <a:rect l="l" t="t" r="r" b="b"/>
            <a:pathLst>
              <a:path w="12192000" h="64134">
                <a:moveTo>
                  <a:pt x="0" y="0"/>
                </a:moveTo>
                <a:lnTo>
                  <a:pt x="12191999" y="0"/>
                </a:lnTo>
                <a:lnTo>
                  <a:pt x="12191999" y="64008"/>
                </a:ln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215900"/>
            <a:ext cx="480758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SendPID</a:t>
            </a:r>
            <a:r>
              <a:rPr spc="185" dirty="0"/>
              <a:t> </a:t>
            </a:r>
            <a:r>
              <a:rPr dirty="0"/>
              <a:t>API</a:t>
            </a:r>
            <a:r>
              <a:rPr spc="185" dirty="0"/>
              <a:t> </a:t>
            </a:r>
            <a:r>
              <a:rPr dirty="0"/>
              <a:t>and</a:t>
            </a:r>
            <a:r>
              <a:rPr spc="185" dirty="0"/>
              <a:t> </a:t>
            </a:r>
            <a:r>
              <a:rPr dirty="0"/>
              <a:t>Session</a:t>
            </a:r>
            <a:r>
              <a:rPr spc="190" dirty="0"/>
              <a:t> </a:t>
            </a:r>
            <a:r>
              <a:rPr spc="-10" dirty="0"/>
              <a:t>Monitoring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5407" y="292100"/>
            <a:ext cx="17125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Critical Timing 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Requirements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67306" y="292100"/>
            <a:ext cx="3568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4738B"/>
                </a:solidFill>
                <a:latin typeface="Segoe UI Semibold"/>
                <a:cs typeface="Segoe UI Semibold"/>
              </a:rPr>
              <a:t>21/30</a:t>
            </a:r>
            <a:endParaRPr sz="1050">
              <a:latin typeface="Segoe UI Semibold"/>
              <a:cs typeface="Segoe UI Semibold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7368" y="868679"/>
            <a:ext cx="11637645" cy="5074920"/>
            <a:chOff x="277368" y="868679"/>
            <a:chExt cx="11637645" cy="507492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368" y="868679"/>
              <a:ext cx="11637263" cy="507491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400" y="1133474"/>
              <a:ext cx="152400" cy="1524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49300" y="1101725"/>
            <a:ext cx="1560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Timing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Requirements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6706" y="1530350"/>
            <a:ext cx="717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1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9325" y="1457166"/>
            <a:ext cx="2210435" cy="3790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Launch</a:t>
            </a:r>
            <a:r>
              <a:rPr sz="950" spc="6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Client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Start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application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and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get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process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Segoe UI"/>
                <a:cs typeface="Segoe UI"/>
              </a:rPr>
              <a:t>ID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7925" y="2111375"/>
            <a:ext cx="88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2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9325" y="2038191"/>
            <a:ext cx="2454275" cy="3790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Automate</a:t>
            </a:r>
            <a:r>
              <a:rPr sz="950" spc="11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Login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Handle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authentication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logic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and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credential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entry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7925" y="2692400"/>
            <a:ext cx="88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3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9325" y="2619216"/>
            <a:ext cx="2687320" cy="3790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Verify</a:t>
            </a:r>
            <a:r>
              <a:rPr sz="950" spc="3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Login</a:t>
            </a:r>
            <a:r>
              <a:rPr sz="950" spc="3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Complete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Confirm</a:t>
            </a:r>
            <a:r>
              <a:rPr sz="900" spc="-2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successful</a:t>
            </a:r>
            <a:r>
              <a:rPr sz="900" spc="-2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authentication</a:t>
            </a:r>
            <a:r>
              <a:rPr sz="900" spc="-2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before</a:t>
            </a:r>
            <a:r>
              <a:rPr sz="900" spc="-2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proceeding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6735" y="3273425"/>
            <a:ext cx="914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4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9325" y="3200241"/>
            <a:ext cx="2369820" cy="3790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Call</a:t>
            </a:r>
            <a:r>
              <a:rPr sz="950" spc="3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SendPID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Report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PID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PSM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only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after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login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is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complete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0225" y="4229100"/>
            <a:ext cx="158750" cy="13335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54050" y="4187825"/>
            <a:ext cx="4823460" cy="73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Critical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Warning</a:t>
            </a:r>
            <a:endParaRPr sz="1200">
              <a:latin typeface="Segoe UI"/>
              <a:cs typeface="Segoe UI"/>
            </a:endParaRPr>
          </a:p>
          <a:p>
            <a:pPr marL="12700" marR="5080">
              <a:lnSpc>
                <a:spcPct val="118100"/>
              </a:lnSpc>
              <a:spcBef>
                <a:spcPts val="1590"/>
              </a:spcBef>
            </a:pPr>
            <a:r>
              <a:rPr sz="900" b="1" dirty="0">
                <a:solidFill>
                  <a:srgbClr val="91400D"/>
                </a:solidFill>
                <a:latin typeface="Segoe UI"/>
                <a:cs typeface="Segoe UI"/>
              </a:rPr>
              <a:t>SendPID</a:t>
            </a:r>
            <a:r>
              <a:rPr sz="900" b="1" spc="-2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b="1" dirty="0">
                <a:solidFill>
                  <a:srgbClr val="91400D"/>
                </a:solidFill>
                <a:latin typeface="Segoe UI"/>
                <a:cs typeface="Segoe UI"/>
              </a:rPr>
              <a:t>must</a:t>
            </a:r>
            <a:r>
              <a:rPr sz="900" b="1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b="1" dirty="0">
                <a:solidFill>
                  <a:srgbClr val="91400D"/>
                </a:solidFill>
                <a:latin typeface="Segoe UI"/>
                <a:cs typeface="Segoe UI"/>
              </a:rPr>
              <a:t>only</a:t>
            </a:r>
            <a:r>
              <a:rPr sz="900" b="1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b="1" dirty="0">
                <a:solidFill>
                  <a:srgbClr val="91400D"/>
                </a:solidFill>
                <a:latin typeface="Segoe UI"/>
                <a:cs typeface="Segoe UI"/>
              </a:rPr>
              <a:t>be</a:t>
            </a:r>
            <a:r>
              <a:rPr sz="900" b="1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b="1" dirty="0">
                <a:solidFill>
                  <a:srgbClr val="91400D"/>
                </a:solidFill>
                <a:latin typeface="Segoe UI"/>
                <a:cs typeface="Segoe UI"/>
              </a:rPr>
              <a:t>called</a:t>
            </a:r>
            <a:r>
              <a:rPr sz="900" b="1" spc="-2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b="1" dirty="0">
                <a:solidFill>
                  <a:srgbClr val="91400D"/>
                </a:solidFill>
                <a:latin typeface="Segoe UI"/>
                <a:cs typeface="Segoe UI"/>
              </a:rPr>
              <a:t>AFTER</a:t>
            </a:r>
            <a:r>
              <a:rPr sz="900" b="1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b="1" dirty="0">
                <a:solidFill>
                  <a:srgbClr val="91400D"/>
                </a:solidFill>
                <a:latin typeface="Segoe UI"/>
                <a:cs typeface="Segoe UI"/>
              </a:rPr>
              <a:t>the</a:t>
            </a:r>
            <a:r>
              <a:rPr sz="900" b="1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b="1" dirty="0">
                <a:solidFill>
                  <a:srgbClr val="91400D"/>
                </a:solidFill>
                <a:latin typeface="Segoe UI"/>
                <a:cs typeface="Segoe UI"/>
              </a:rPr>
              <a:t>login</a:t>
            </a:r>
            <a:r>
              <a:rPr sz="900" b="1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b="1" dirty="0">
                <a:solidFill>
                  <a:srgbClr val="91400D"/>
                </a:solidFill>
                <a:latin typeface="Segoe UI"/>
                <a:cs typeface="Segoe UI"/>
              </a:rPr>
              <a:t>procedure</a:t>
            </a:r>
            <a:r>
              <a:rPr sz="900" b="1" spc="-2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b="1" dirty="0">
                <a:solidFill>
                  <a:srgbClr val="91400D"/>
                </a:solidFill>
                <a:latin typeface="Segoe UI"/>
                <a:cs typeface="Segoe UI"/>
              </a:rPr>
              <a:t>is</a:t>
            </a:r>
            <a:r>
              <a:rPr sz="900" b="1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b="1" dirty="0">
                <a:solidFill>
                  <a:srgbClr val="91400D"/>
                </a:solidFill>
                <a:latin typeface="Segoe UI"/>
                <a:cs typeface="Segoe UI"/>
              </a:rPr>
              <a:t>complete</a:t>
            </a:r>
            <a:r>
              <a:rPr sz="900" b="1" spc="-2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to</a:t>
            </a:r>
            <a:r>
              <a:rPr sz="900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ensure</a:t>
            </a:r>
            <a:r>
              <a:rPr sz="900" spc="-2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user</a:t>
            </a:r>
            <a:r>
              <a:rPr sz="900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input</a:t>
            </a:r>
            <a:r>
              <a:rPr sz="900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91400D"/>
                </a:solidFill>
                <a:latin typeface="Segoe UI"/>
                <a:cs typeface="Segoe UI"/>
              </a:rPr>
              <a:t>is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blocked correctly during 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automation.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48400" y="1133475"/>
            <a:ext cx="114300" cy="15240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350000" y="1101725"/>
            <a:ext cx="4991100" cy="3143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SendPID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Implementation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200">
              <a:latin typeface="Segoe UI"/>
              <a:cs typeface="Segoe UI"/>
            </a:endParaRPr>
          </a:p>
          <a:p>
            <a:pPr marL="12700" algn="just">
              <a:lnSpc>
                <a:spcPct val="100000"/>
              </a:lnSpc>
            </a:pP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900" spc="-5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Launch</a:t>
            </a:r>
            <a:r>
              <a:rPr sz="90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client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and</a:t>
            </a:r>
            <a:r>
              <a:rPr sz="90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get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spc="-25" dirty="0">
                <a:solidFill>
                  <a:srgbClr val="94A2B8"/>
                </a:solidFill>
                <a:latin typeface="Consolas"/>
                <a:cs typeface="Consolas"/>
              </a:rPr>
              <a:t>PID</a:t>
            </a:r>
            <a:endParaRPr sz="900">
              <a:latin typeface="Consolas"/>
              <a:cs typeface="Consolas"/>
            </a:endParaRPr>
          </a:p>
          <a:p>
            <a:pPr marL="12700" algn="just">
              <a:lnSpc>
                <a:spcPct val="100000"/>
              </a:lnSpc>
              <a:spcBef>
                <a:spcPts val="270"/>
              </a:spcBef>
            </a:pPr>
            <a:r>
              <a:rPr sz="900" dirty="0">
                <a:solidFill>
                  <a:srgbClr val="60A5FA"/>
                </a:solidFill>
                <a:latin typeface="Consolas"/>
                <a:cs typeface="Consolas"/>
              </a:rPr>
              <a:t>Local</a:t>
            </a:r>
            <a:r>
              <a:rPr sz="900" dirty="0">
                <a:solidFill>
                  <a:srgbClr val="33D399"/>
                </a:solidFill>
                <a:latin typeface="Consolas"/>
                <a:cs typeface="Consolas"/>
              </a:rPr>
              <a:t>$pid</a:t>
            </a:r>
            <a:r>
              <a:rPr sz="900" spc="-35" dirty="0">
                <a:solidFill>
                  <a:srgbClr val="33D399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900" spc="-30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F59D0A"/>
                </a:solidFill>
                <a:latin typeface="Consolas"/>
                <a:cs typeface="Consolas"/>
              </a:rPr>
              <a:t>Run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r>
              <a:rPr sz="900" spc="-10" dirty="0">
                <a:solidFill>
                  <a:srgbClr val="A5F2FB"/>
                </a:solidFill>
                <a:latin typeface="Consolas"/>
                <a:cs typeface="Consolas"/>
              </a:rPr>
              <a:t>"C:\Path\To\Client.exe"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900" spc="-35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""</a:t>
            </a:r>
            <a:r>
              <a:rPr sz="90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900" spc="-30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33D399"/>
                </a:solidFill>
                <a:latin typeface="Consolas"/>
                <a:cs typeface="Consolas"/>
              </a:rPr>
              <a:t>@SW_SHOW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)</a:t>
            </a:r>
            <a:endParaRPr sz="9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900">
              <a:latin typeface="Consolas"/>
              <a:cs typeface="Consolas"/>
            </a:endParaRPr>
          </a:p>
          <a:p>
            <a:pPr marL="12700" algn="just">
              <a:lnSpc>
                <a:spcPct val="100000"/>
              </a:lnSpc>
            </a:pP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900" spc="-4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Wait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for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login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window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to</a:t>
            </a:r>
            <a:r>
              <a:rPr sz="900" spc="-3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94A2B8"/>
                </a:solidFill>
                <a:latin typeface="Consolas"/>
                <a:cs typeface="Consolas"/>
              </a:rPr>
              <a:t>appear</a:t>
            </a:r>
            <a:endParaRPr sz="900">
              <a:latin typeface="Consolas"/>
              <a:cs typeface="Consolas"/>
            </a:endParaRPr>
          </a:p>
          <a:p>
            <a:pPr marL="12700" algn="just">
              <a:lnSpc>
                <a:spcPct val="100000"/>
              </a:lnSpc>
              <a:spcBef>
                <a:spcPts val="270"/>
              </a:spcBef>
            </a:pPr>
            <a:r>
              <a:rPr sz="900" spc="-10" dirty="0">
                <a:solidFill>
                  <a:srgbClr val="F59D0A"/>
                </a:solidFill>
                <a:latin typeface="Consolas"/>
                <a:cs typeface="Consolas"/>
              </a:rPr>
              <a:t>WinWait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r>
              <a:rPr sz="900" spc="-10" dirty="0">
                <a:solidFill>
                  <a:srgbClr val="A5F2FB"/>
                </a:solidFill>
                <a:latin typeface="Consolas"/>
                <a:cs typeface="Consolas"/>
              </a:rPr>
              <a:t>"Login</a:t>
            </a:r>
            <a:r>
              <a:rPr sz="900" spc="-40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Window</a:t>
            </a:r>
            <a:r>
              <a:rPr sz="900" spc="-40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Title"</a:t>
            </a:r>
            <a:r>
              <a:rPr sz="90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900" spc="-40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""</a:t>
            </a:r>
            <a:r>
              <a:rPr sz="90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900" spc="-40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00" spc="-25" dirty="0">
                <a:solidFill>
                  <a:srgbClr val="F77070"/>
                </a:solidFill>
                <a:latin typeface="Consolas"/>
                <a:cs typeface="Consolas"/>
              </a:rPr>
              <a:t>30</a:t>
            </a:r>
            <a:r>
              <a:rPr sz="900" spc="-25" dirty="0">
                <a:solidFill>
                  <a:srgbClr val="E2E7F0"/>
                </a:solidFill>
                <a:latin typeface="Consolas"/>
                <a:cs typeface="Consolas"/>
              </a:rPr>
              <a:t>)</a:t>
            </a:r>
            <a:endParaRPr sz="9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900">
              <a:latin typeface="Consolas"/>
              <a:cs typeface="Consolas"/>
            </a:endParaRPr>
          </a:p>
          <a:p>
            <a:pPr marL="12700" algn="just">
              <a:lnSpc>
                <a:spcPct val="100000"/>
              </a:lnSpc>
            </a:pP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900" spc="-7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Automate</a:t>
            </a:r>
            <a:r>
              <a:rPr sz="900" spc="-6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login</a:t>
            </a:r>
            <a:r>
              <a:rPr sz="900" spc="-6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(fill</a:t>
            </a:r>
            <a:r>
              <a:rPr sz="900" spc="-6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credentials,</a:t>
            </a:r>
            <a:r>
              <a:rPr sz="900" spc="-6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click</a:t>
            </a:r>
            <a:r>
              <a:rPr sz="900" spc="-6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94A2B8"/>
                </a:solidFill>
                <a:latin typeface="Consolas"/>
                <a:cs typeface="Consolas"/>
              </a:rPr>
              <a:t>buttons)</a:t>
            </a:r>
            <a:endParaRPr sz="900">
              <a:latin typeface="Consolas"/>
              <a:cs typeface="Consolas"/>
            </a:endParaRPr>
          </a:p>
          <a:p>
            <a:pPr marL="12700" marR="5080" algn="just">
              <a:lnSpc>
                <a:spcPct val="125000"/>
              </a:lnSpc>
            </a:pPr>
            <a:r>
              <a:rPr sz="900" spc="-10" dirty="0">
                <a:solidFill>
                  <a:srgbClr val="F59D0A"/>
                </a:solidFill>
                <a:latin typeface="Consolas"/>
                <a:cs typeface="Consolas"/>
              </a:rPr>
              <a:t>ControlSetText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r>
              <a:rPr sz="900" spc="-10" dirty="0">
                <a:solidFill>
                  <a:srgbClr val="A5F2FB"/>
                </a:solidFill>
                <a:latin typeface="Consolas"/>
                <a:cs typeface="Consolas"/>
              </a:rPr>
              <a:t>"Login</a:t>
            </a:r>
            <a:r>
              <a:rPr sz="900" spc="-40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Window</a:t>
            </a:r>
            <a:r>
              <a:rPr sz="900" spc="-2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Title"</a:t>
            </a:r>
            <a:r>
              <a:rPr sz="90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900" spc="-25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""</a:t>
            </a:r>
            <a:r>
              <a:rPr sz="90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900" spc="-30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5F2FB"/>
                </a:solidFill>
                <a:latin typeface="Consolas"/>
                <a:cs typeface="Consolas"/>
              </a:rPr>
              <a:t>"[CLASS:Edit;</a:t>
            </a:r>
            <a:r>
              <a:rPr sz="900" spc="-2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5F2FB"/>
                </a:solidFill>
                <a:latin typeface="Consolas"/>
                <a:cs typeface="Consolas"/>
              </a:rPr>
              <a:t>INSTANCE:1]"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900" spc="-25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33D399"/>
                </a:solidFill>
                <a:latin typeface="Consolas"/>
                <a:cs typeface="Consolas"/>
              </a:rPr>
              <a:t>$username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) </a:t>
            </a:r>
            <a:r>
              <a:rPr sz="900" spc="-10" dirty="0">
                <a:solidFill>
                  <a:srgbClr val="F59D0A"/>
                </a:solidFill>
                <a:latin typeface="Consolas"/>
                <a:cs typeface="Consolas"/>
              </a:rPr>
              <a:t>ControlSetText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r>
              <a:rPr sz="900" spc="-10" dirty="0">
                <a:solidFill>
                  <a:srgbClr val="A5F2FB"/>
                </a:solidFill>
                <a:latin typeface="Consolas"/>
                <a:cs typeface="Consolas"/>
              </a:rPr>
              <a:t>"Login</a:t>
            </a:r>
            <a:r>
              <a:rPr sz="900" spc="-40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Window</a:t>
            </a:r>
            <a:r>
              <a:rPr sz="900" spc="-2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Title"</a:t>
            </a:r>
            <a:r>
              <a:rPr sz="90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900" spc="-25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""</a:t>
            </a:r>
            <a:r>
              <a:rPr sz="90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900" spc="-30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5F2FB"/>
                </a:solidFill>
                <a:latin typeface="Consolas"/>
                <a:cs typeface="Consolas"/>
              </a:rPr>
              <a:t>"[CLASS:Edit;</a:t>
            </a:r>
            <a:r>
              <a:rPr sz="900" spc="-2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5F2FB"/>
                </a:solidFill>
                <a:latin typeface="Consolas"/>
                <a:cs typeface="Consolas"/>
              </a:rPr>
              <a:t>INSTANCE:2]"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900" spc="-25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33D399"/>
                </a:solidFill>
                <a:latin typeface="Consolas"/>
                <a:cs typeface="Consolas"/>
              </a:rPr>
              <a:t>$password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) </a:t>
            </a:r>
            <a:r>
              <a:rPr sz="900" spc="-10" dirty="0">
                <a:solidFill>
                  <a:srgbClr val="F59D0A"/>
                </a:solidFill>
                <a:latin typeface="Consolas"/>
                <a:cs typeface="Consolas"/>
              </a:rPr>
              <a:t>ControlClick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r>
              <a:rPr sz="900" spc="-10" dirty="0">
                <a:solidFill>
                  <a:srgbClr val="A5F2FB"/>
                </a:solidFill>
                <a:latin typeface="Consolas"/>
                <a:cs typeface="Consolas"/>
              </a:rPr>
              <a:t>"Login</a:t>
            </a:r>
            <a:r>
              <a:rPr sz="900" spc="-3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Window</a:t>
            </a:r>
            <a:r>
              <a:rPr sz="900" spc="-30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Title"</a:t>
            </a:r>
            <a:r>
              <a:rPr sz="90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900" spc="-35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""</a:t>
            </a:r>
            <a:r>
              <a:rPr sz="90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900" spc="-30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5F2FB"/>
                </a:solidFill>
                <a:latin typeface="Consolas"/>
                <a:cs typeface="Consolas"/>
              </a:rPr>
              <a:t>"[CLASS:Button;</a:t>
            </a:r>
            <a:r>
              <a:rPr sz="900" spc="-30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5F2FB"/>
                </a:solidFill>
                <a:latin typeface="Consolas"/>
                <a:cs typeface="Consolas"/>
              </a:rPr>
              <a:t>TEXT:Login]"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)</a:t>
            </a:r>
            <a:endParaRPr sz="9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900">
              <a:latin typeface="Consolas"/>
              <a:cs typeface="Consolas"/>
            </a:endParaRPr>
          </a:p>
          <a:p>
            <a:pPr marL="12700" marR="1702435">
              <a:lnSpc>
                <a:spcPct val="125000"/>
              </a:lnSpc>
            </a:pP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90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Wait</a:t>
            </a:r>
            <a:r>
              <a:rPr sz="90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for</a:t>
            </a:r>
            <a:r>
              <a:rPr sz="90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login</a:t>
            </a:r>
            <a:r>
              <a:rPr sz="90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to</a:t>
            </a:r>
            <a:r>
              <a:rPr sz="90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complete</a:t>
            </a:r>
            <a:r>
              <a:rPr sz="90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(check</a:t>
            </a:r>
            <a:r>
              <a:rPr sz="90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for</a:t>
            </a:r>
            <a:r>
              <a:rPr sz="90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main</a:t>
            </a:r>
            <a:r>
              <a:rPr sz="90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94A2B8"/>
                </a:solidFill>
                <a:latin typeface="Consolas"/>
                <a:cs typeface="Consolas"/>
              </a:rPr>
              <a:t>window) </a:t>
            </a:r>
            <a:r>
              <a:rPr sz="900" spc="-10" dirty="0">
                <a:solidFill>
                  <a:srgbClr val="F59D0A"/>
                </a:solidFill>
                <a:latin typeface="Consolas"/>
                <a:cs typeface="Consolas"/>
              </a:rPr>
              <a:t>WinWait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r>
              <a:rPr sz="900" spc="-10" dirty="0">
                <a:solidFill>
                  <a:srgbClr val="A5F2FB"/>
                </a:solidFill>
                <a:latin typeface="Consolas"/>
                <a:cs typeface="Consolas"/>
              </a:rPr>
              <a:t>"Main</a:t>
            </a:r>
            <a:r>
              <a:rPr sz="900" spc="-5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Application</a:t>
            </a:r>
            <a:r>
              <a:rPr sz="900" spc="-5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Window"</a:t>
            </a:r>
            <a:r>
              <a:rPr sz="90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900" spc="-55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""</a:t>
            </a:r>
            <a:r>
              <a:rPr sz="90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900" spc="-55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00" spc="-25" dirty="0">
                <a:solidFill>
                  <a:srgbClr val="F77070"/>
                </a:solidFill>
                <a:latin typeface="Consolas"/>
                <a:cs typeface="Consolas"/>
              </a:rPr>
              <a:t>30</a:t>
            </a:r>
            <a:r>
              <a:rPr sz="900" spc="-25" dirty="0">
                <a:solidFill>
                  <a:srgbClr val="E2E7F0"/>
                </a:solidFill>
                <a:latin typeface="Consolas"/>
                <a:cs typeface="Consolas"/>
              </a:rPr>
              <a:t>)</a:t>
            </a:r>
            <a:endParaRPr sz="9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900">
              <a:latin typeface="Consolas"/>
              <a:cs typeface="Consolas"/>
            </a:endParaRPr>
          </a:p>
          <a:p>
            <a:pPr marL="12700" marR="1891030">
              <a:lnSpc>
                <a:spcPct val="125000"/>
              </a:lnSpc>
            </a:pP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900" spc="-4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ONLY</a:t>
            </a:r>
            <a:r>
              <a:rPr sz="90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after</a:t>
            </a:r>
            <a:r>
              <a:rPr sz="90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login</a:t>
            </a:r>
            <a:r>
              <a:rPr sz="90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is</a:t>
            </a:r>
            <a:r>
              <a:rPr sz="900" spc="-4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complete,</a:t>
            </a:r>
            <a:r>
              <a:rPr sz="90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report</a:t>
            </a:r>
            <a:r>
              <a:rPr sz="90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PID</a:t>
            </a:r>
            <a:r>
              <a:rPr sz="90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to</a:t>
            </a:r>
            <a:r>
              <a:rPr sz="90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spc="-25" dirty="0">
                <a:solidFill>
                  <a:srgbClr val="94A2B8"/>
                </a:solidFill>
                <a:latin typeface="Consolas"/>
                <a:cs typeface="Consolas"/>
              </a:rPr>
              <a:t>PSM </a:t>
            </a:r>
            <a:r>
              <a:rPr sz="900" spc="-10" dirty="0">
                <a:solidFill>
                  <a:srgbClr val="F59D0A"/>
                </a:solidFill>
                <a:latin typeface="Consolas"/>
                <a:cs typeface="Consolas"/>
              </a:rPr>
              <a:t>PSMDispatcherUtilsWrapper_SendPID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r>
              <a:rPr sz="900" spc="-10" dirty="0">
                <a:solidFill>
                  <a:srgbClr val="33D399"/>
                </a:solidFill>
                <a:latin typeface="Consolas"/>
                <a:cs typeface="Consolas"/>
              </a:rPr>
              <a:t>$pid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)</a:t>
            </a:r>
            <a:endParaRPr sz="900">
              <a:latin typeface="Consolas"/>
              <a:cs typeface="Consola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4867275"/>
            <a:ext cx="12192000" cy="1990725"/>
            <a:chOff x="0" y="4867275"/>
            <a:chExt cx="12192000" cy="1990725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48400" y="4867275"/>
              <a:ext cx="152400" cy="15240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793991"/>
              <a:ext cx="12192000" cy="64135"/>
            </a:xfrm>
            <a:custGeom>
              <a:avLst/>
              <a:gdLst/>
              <a:ahLst/>
              <a:cxnLst/>
              <a:rect l="l" t="t" r="r" b="b"/>
              <a:pathLst>
                <a:path w="12192000" h="64134">
                  <a:moveTo>
                    <a:pt x="0" y="0"/>
                  </a:moveTo>
                  <a:lnTo>
                    <a:pt x="12191999" y="0"/>
                  </a:lnTo>
                  <a:lnTo>
                    <a:pt x="12191999" y="64008"/>
                  </a:lnTo>
                  <a:lnTo>
                    <a:pt x="0" y="64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64300" y="4835525"/>
            <a:ext cx="7734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Key</a:t>
            </a:r>
            <a:r>
              <a:rPr sz="1200" b="1" spc="-3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Points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69050" y="5220334"/>
            <a:ext cx="4662805" cy="34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sz="900" b="1" dirty="0">
                <a:solidFill>
                  <a:srgbClr val="1D3A5E"/>
                </a:solidFill>
                <a:latin typeface="Segoe UI"/>
                <a:cs typeface="Segoe UI"/>
              </a:rPr>
              <a:t>Why</a:t>
            </a:r>
            <a:r>
              <a:rPr sz="900" b="1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b="1" dirty="0">
                <a:solidFill>
                  <a:srgbClr val="1D3A5E"/>
                </a:solidFill>
                <a:latin typeface="Segoe UI"/>
                <a:cs typeface="Segoe UI"/>
              </a:rPr>
              <a:t>timing</a:t>
            </a:r>
            <a:r>
              <a:rPr sz="900" b="1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b="1" dirty="0">
                <a:solidFill>
                  <a:srgbClr val="1D3A5E"/>
                </a:solidFill>
                <a:latin typeface="Segoe UI"/>
                <a:cs typeface="Segoe UI"/>
              </a:rPr>
              <a:t>matters:</a:t>
            </a:r>
            <a:r>
              <a:rPr sz="900" b="1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Calling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SendPID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too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early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may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allow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user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input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during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authentication,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compromising 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security.</a:t>
            </a:r>
            <a:endParaRPr sz="9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215900"/>
            <a:ext cx="34645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MapTSDrives</a:t>
            </a:r>
            <a:r>
              <a:rPr spc="240" dirty="0"/>
              <a:t> </a:t>
            </a:r>
            <a:r>
              <a:rPr dirty="0"/>
              <a:t>API</a:t>
            </a:r>
            <a:r>
              <a:rPr spc="245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02678" y="292100"/>
            <a:ext cx="24015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Drive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Mapping</a:t>
            </a:r>
            <a:r>
              <a:rPr sz="1050" spc="-5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for</a:t>
            </a:r>
            <a:r>
              <a:rPr sz="1050" spc="-5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Non-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Standard</a:t>
            </a:r>
            <a:r>
              <a:rPr sz="1050" spc="-5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Clients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6922" y="292100"/>
            <a:ext cx="3771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4738B"/>
                </a:solidFill>
                <a:latin typeface="Segoe UI Semibold"/>
                <a:cs typeface="Segoe UI Semibold"/>
              </a:rPr>
              <a:t>22/30</a:t>
            </a:r>
            <a:endParaRPr sz="1050">
              <a:latin typeface="Segoe UI Semibold"/>
              <a:cs typeface="Segoe UI Semibold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7368" y="868679"/>
            <a:ext cx="11637645" cy="4617720"/>
            <a:chOff x="277368" y="868679"/>
            <a:chExt cx="11637645" cy="461772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368" y="868679"/>
              <a:ext cx="11637263" cy="461771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400" y="1142999"/>
              <a:ext cx="152400" cy="13335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49300" y="1101725"/>
            <a:ext cx="13684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Function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Overview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6706" y="1530350"/>
            <a:ext cx="717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1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9325" y="1457166"/>
            <a:ext cx="4436745" cy="3790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Purpose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Enable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RDP local drive mapping for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clients that don't support Windows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Shell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Extensions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7925" y="2111375"/>
            <a:ext cx="88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2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9325" y="2038191"/>
            <a:ext cx="3736975" cy="3790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When</a:t>
            </a:r>
            <a:r>
              <a:rPr sz="950" spc="5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to</a:t>
            </a:r>
            <a:r>
              <a:rPr sz="950" spc="5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25" dirty="0">
                <a:solidFill>
                  <a:srgbClr val="1D3A5E"/>
                </a:solidFill>
                <a:latin typeface="Segoe UI Semibold"/>
                <a:cs typeface="Segoe UI Semibold"/>
              </a:rPr>
              <a:t>Use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When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connection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client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doesn't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display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standard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File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Open/Save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windows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7925" y="2692400"/>
            <a:ext cx="88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3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9325" y="2619216"/>
            <a:ext cx="4121150" cy="3790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Result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Allocates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drive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letters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for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mapped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drives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appear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in any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File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Open/Save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window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400" y="3638550"/>
            <a:ext cx="152400" cy="15240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54050" y="3606800"/>
            <a:ext cx="4985385" cy="1181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Key</a:t>
            </a:r>
            <a:r>
              <a:rPr sz="1200" b="1" spc="-3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Details</a:t>
            </a:r>
            <a:endParaRPr sz="1200">
              <a:latin typeface="Segoe UI"/>
              <a:cs typeface="Segoe UI"/>
            </a:endParaRPr>
          </a:p>
          <a:p>
            <a:pPr marL="12700" marR="48895">
              <a:lnSpc>
                <a:spcPct val="118100"/>
              </a:lnSpc>
              <a:spcBef>
                <a:spcPts val="1590"/>
              </a:spcBef>
            </a:pPr>
            <a:r>
              <a:rPr sz="900" b="1" dirty="0">
                <a:solidFill>
                  <a:srgbClr val="1D3A5E"/>
                </a:solidFill>
                <a:latin typeface="Segoe UI"/>
                <a:cs typeface="Segoe UI"/>
              </a:rPr>
              <a:t>Windows</a:t>
            </a:r>
            <a:r>
              <a:rPr sz="900" b="1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b="1" dirty="0">
                <a:solidFill>
                  <a:srgbClr val="1D3A5E"/>
                </a:solidFill>
                <a:latin typeface="Segoe UI"/>
                <a:cs typeface="Segoe UI"/>
              </a:rPr>
              <a:t>Shell</a:t>
            </a:r>
            <a:r>
              <a:rPr sz="900" b="1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b="1" dirty="0">
                <a:solidFill>
                  <a:srgbClr val="1D3A5E"/>
                </a:solidFill>
                <a:latin typeface="Segoe UI"/>
                <a:cs typeface="Segoe UI"/>
              </a:rPr>
              <a:t>Extensions:</a:t>
            </a:r>
            <a:r>
              <a:rPr sz="900" b="1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Standard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method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for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drive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mapping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that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may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not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work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with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all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client applications.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900" b="1" dirty="0">
                <a:solidFill>
                  <a:srgbClr val="91400D"/>
                </a:solidFill>
                <a:latin typeface="Segoe UI"/>
                <a:cs typeface="Segoe UI"/>
              </a:rPr>
              <a:t>Note:</a:t>
            </a:r>
            <a:r>
              <a:rPr sz="900" b="1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This</a:t>
            </a:r>
            <a:r>
              <a:rPr sz="900" spc="-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function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is</a:t>
            </a:r>
            <a:r>
              <a:rPr sz="900" spc="-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specifically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for</a:t>
            </a:r>
            <a:r>
              <a:rPr sz="900" spc="-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clients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that</a:t>
            </a:r>
            <a:r>
              <a:rPr sz="900" spc="-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don't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support</a:t>
            </a:r>
            <a:r>
              <a:rPr sz="900" spc="-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standard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Windows</a:t>
            </a:r>
            <a:r>
              <a:rPr sz="900" spc="-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Shell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Extensions.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1133475"/>
            <a:ext cx="12192000" cy="5724525"/>
            <a:chOff x="0" y="1133475"/>
            <a:chExt cx="12192000" cy="5724525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8400" y="1133475"/>
              <a:ext cx="114300" cy="1524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48400" y="4314825"/>
              <a:ext cx="114300" cy="1524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48400" y="4606925"/>
              <a:ext cx="133350" cy="13652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48400" y="4835525"/>
              <a:ext cx="133350" cy="13652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48400" y="5064125"/>
              <a:ext cx="133350" cy="13652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793991"/>
              <a:ext cx="12192000" cy="64135"/>
            </a:xfrm>
            <a:custGeom>
              <a:avLst/>
              <a:gdLst/>
              <a:ahLst/>
              <a:cxnLst/>
              <a:rect l="l" t="t" r="r" b="b"/>
              <a:pathLst>
                <a:path w="12192000" h="64134">
                  <a:moveTo>
                    <a:pt x="0" y="0"/>
                  </a:moveTo>
                  <a:lnTo>
                    <a:pt x="12191999" y="0"/>
                  </a:lnTo>
                  <a:lnTo>
                    <a:pt x="12191999" y="64008"/>
                  </a:lnTo>
                  <a:lnTo>
                    <a:pt x="0" y="64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26200" y="1101725"/>
            <a:ext cx="15411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AutoIt</a:t>
            </a:r>
            <a:r>
              <a:rPr sz="1200" b="1" spc="-3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Code</a:t>
            </a:r>
            <a:r>
              <a:rPr sz="1200" b="1" spc="-2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Example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50000" y="1456055"/>
            <a:ext cx="5325745" cy="221615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80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800" spc="7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94A2B8"/>
                </a:solidFill>
                <a:latin typeface="Consolas"/>
                <a:cs typeface="Consolas"/>
              </a:rPr>
              <a:t>MapTSDrives</a:t>
            </a:r>
            <a:r>
              <a:rPr sz="800" spc="7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94A2B8"/>
                </a:solidFill>
                <a:latin typeface="Consolas"/>
                <a:cs typeface="Consolas"/>
              </a:rPr>
              <a:t>API</a:t>
            </a:r>
            <a:r>
              <a:rPr sz="800" spc="7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94A2B8"/>
                </a:solidFill>
                <a:latin typeface="Consolas"/>
                <a:cs typeface="Consolas"/>
              </a:rPr>
              <a:t>Function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64"/>
              </a:spcBef>
            </a:pPr>
            <a:r>
              <a:rPr sz="800" spc="-10" dirty="0">
                <a:solidFill>
                  <a:srgbClr val="60A5FA"/>
                </a:solidFill>
                <a:latin typeface="Consolas"/>
                <a:cs typeface="Consolas"/>
              </a:rPr>
              <a:t>Local</a:t>
            </a:r>
            <a:r>
              <a:rPr sz="800" spc="-10" dirty="0">
                <a:solidFill>
                  <a:srgbClr val="33D399"/>
                </a:solidFill>
                <a:latin typeface="Consolas"/>
                <a:cs typeface="Consolas"/>
              </a:rPr>
              <a:t>$rc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800" spc="-10" dirty="0">
                <a:solidFill>
                  <a:srgbClr val="F59D0A"/>
                </a:solidFill>
                <a:latin typeface="Consolas"/>
                <a:cs typeface="Consolas"/>
              </a:rPr>
              <a:t>PSMDispatcherUtilsWrapper_MapTSDrives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()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800" spc="-10" dirty="0">
                <a:solidFill>
                  <a:srgbClr val="60A5FA"/>
                </a:solidFill>
                <a:latin typeface="Consolas"/>
                <a:cs typeface="Consolas"/>
              </a:rPr>
              <a:t>If</a:t>
            </a:r>
            <a:r>
              <a:rPr sz="800" spc="-10" dirty="0">
                <a:solidFill>
                  <a:srgbClr val="33D399"/>
                </a:solidFill>
                <a:latin typeface="Consolas"/>
                <a:cs typeface="Consolas"/>
              </a:rPr>
              <a:t>$rc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&lt;&gt;</a:t>
            </a:r>
            <a:r>
              <a:rPr sz="800" spc="-10" dirty="0">
                <a:solidFill>
                  <a:srgbClr val="33D399"/>
                </a:solidFill>
                <a:latin typeface="Consolas"/>
                <a:cs typeface="Consolas"/>
              </a:rPr>
              <a:t>$PSM_ERROR_SUCCESS</a:t>
            </a:r>
            <a:r>
              <a:rPr sz="800" spc="-10" dirty="0">
                <a:solidFill>
                  <a:srgbClr val="60A5FA"/>
                </a:solidFill>
                <a:latin typeface="Consolas"/>
                <a:cs typeface="Consolas"/>
              </a:rPr>
              <a:t>Then</a:t>
            </a:r>
            <a:endParaRPr sz="800">
              <a:latin typeface="Consolas"/>
              <a:cs typeface="Consolas"/>
            </a:endParaRPr>
          </a:p>
          <a:p>
            <a:pPr marL="243204">
              <a:lnSpc>
                <a:spcPct val="100000"/>
              </a:lnSpc>
              <a:spcBef>
                <a:spcPts val="464"/>
              </a:spcBef>
            </a:pPr>
            <a:r>
              <a:rPr sz="800" spc="-10" dirty="0">
                <a:solidFill>
                  <a:srgbClr val="F59D0A"/>
                </a:solidFill>
                <a:latin typeface="Consolas"/>
                <a:cs typeface="Consolas"/>
              </a:rPr>
              <a:t>PSMDispatcherUtilsWrapper_LogWrite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r>
              <a:rPr sz="800" spc="-10" dirty="0">
                <a:solidFill>
                  <a:srgbClr val="A5F2FB"/>
                </a:solidFill>
                <a:latin typeface="Consolas"/>
                <a:cs typeface="Consolas"/>
              </a:rPr>
              <a:t>"MapTSDrives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&amp;</a:t>
            </a:r>
            <a:r>
              <a:rPr sz="800" spc="-10" dirty="0">
                <a:solidFill>
                  <a:srgbClr val="F59D0A"/>
                </a:solidFill>
                <a:latin typeface="Consolas"/>
                <a:cs typeface="Consolas"/>
              </a:rPr>
              <a:t>PSMDispatcherUtilsWrapper_PSMGetLastErro</a:t>
            </a:r>
            <a:endParaRPr sz="800">
              <a:latin typeface="Consolas"/>
              <a:cs typeface="Consolas"/>
            </a:endParaRPr>
          </a:p>
          <a:p>
            <a:pPr marL="2259330">
              <a:lnSpc>
                <a:spcPct val="100000"/>
              </a:lnSpc>
              <a:spcBef>
                <a:spcPts val="90"/>
              </a:spcBef>
            </a:pPr>
            <a:r>
              <a:rPr sz="800" dirty="0">
                <a:solidFill>
                  <a:srgbClr val="A5F2FB"/>
                </a:solidFill>
                <a:latin typeface="Consolas"/>
                <a:cs typeface="Consolas"/>
              </a:rPr>
              <a:t>failed:</a:t>
            </a:r>
            <a:r>
              <a:rPr sz="800" spc="100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800" spc="-50" dirty="0">
                <a:solidFill>
                  <a:srgbClr val="A5F2FB"/>
                </a:solidFill>
                <a:latin typeface="Consolas"/>
                <a:cs typeface="Consolas"/>
              </a:rPr>
              <a:t>"</a:t>
            </a:r>
            <a:endParaRPr sz="800">
              <a:latin typeface="Consolas"/>
              <a:cs typeface="Consolas"/>
            </a:endParaRPr>
          </a:p>
          <a:p>
            <a:pPr marL="12700" marR="4786630" indent="230504">
              <a:lnSpc>
                <a:spcPct val="148400"/>
              </a:lnSpc>
            </a:pPr>
            <a:r>
              <a:rPr sz="800" spc="-10" dirty="0">
                <a:solidFill>
                  <a:srgbClr val="60A5FA"/>
                </a:solidFill>
                <a:latin typeface="Consolas"/>
                <a:cs typeface="Consolas"/>
              </a:rPr>
              <a:t>Exit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1 </a:t>
            </a:r>
            <a:r>
              <a:rPr sz="800" spc="-10" dirty="0">
                <a:solidFill>
                  <a:srgbClr val="60A5FA"/>
                </a:solidFill>
                <a:latin typeface="Consolas"/>
                <a:cs typeface="Consolas"/>
              </a:rPr>
              <a:t>EndIf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800" dirty="0">
                <a:solidFill>
                  <a:srgbClr val="94A2B8"/>
                </a:solidFill>
                <a:latin typeface="Consolas"/>
                <a:cs typeface="Consolas"/>
              </a:rPr>
              <a:t>;</a:t>
            </a:r>
            <a:r>
              <a:rPr sz="800" spc="6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94A2B8"/>
                </a:solidFill>
                <a:latin typeface="Consolas"/>
                <a:cs typeface="Consolas"/>
              </a:rPr>
              <a:t>Verify</a:t>
            </a:r>
            <a:r>
              <a:rPr sz="800" spc="7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94A2B8"/>
                </a:solidFill>
                <a:latin typeface="Consolas"/>
                <a:cs typeface="Consolas"/>
              </a:rPr>
              <a:t>drive</a:t>
            </a:r>
            <a:r>
              <a:rPr sz="800" spc="6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94A2B8"/>
                </a:solidFill>
                <a:latin typeface="Consolas"/>
                <a:cs typeface="Consolas"/>
              </a:rPr>
              <a:t>mapping</a:t>
            </a:r>
            <a:r>
              <a:rPr sz="800" spc="7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94A2B8"/>
                </a:solidFill>
                <a:latin typeface="Consolas"/>
                <a:cs typeface="Consolas"/>
              </a:rPr>
              <a:t>was</a:t>
            </a:r>
            <a:r>
              <a:rPr sz="800" spc="6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94A2B8"/>
                </a:solidFill>
                <a:latin typeface="Consolas"/>
                <a:cs typeface="Consolas"/>
              </a:rPr>
              <a:t>successful</a:t>
            </a:r>
            <a:endParaRPr sz="800">
              <a:latin typeface="Consolas"/>
              <a:cs typeface="Consolas"/>
            </a:endParaRPr>
          </a:p>
          <a:p>
            <a:pPr marL="12700" marR="2827655">
              <a:lnSpc>
                <a:spcPct val="148400"/>
              </a:lnSpc>
            </a:pPr>
            <a:r>
              <a:rPr sz="800" spc="-10" dirty="0">
                <a:solidFill>
                  <a:srgbClr val="60A5FA"/>
                </a:solidFill>
                <a:latin typeface="Consolas"/>
                <a:cs typeface="Consolas"/>
              </a:rPr>
              <a:t>Local</a:t>
            </a:r>
            <a:r>
              <a:rPr sz="800" spc="-10" dirty="0">
                <a:solidFill>
                  <a:srgbClr val="33D399"/>
                </a:solidFill>
                <a:latin typeface="Consolas"/>
                <a:cs typeface="Consolas"/>
              </a:rPr>
              <a:t>$mappedDrives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800" spc="-10" dirty="0">
                <a:solidFill>
                  <a:srgbClr val="F59D0A"/>
                </a:solidFill>
                <a:latin typeface="Consolas"/>
                <a:cs typeface="Consolas"/>
              </a:rPr>
              <a:t>DriveGetDrive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r>
              <a:rPr sz="800" spc="-10" dirty="0">
                <a:solidFill>
                  <a:srgbClr val="A5F2FB"/>
                </a:solidFill>
                <a:latin typeface="Consolas"/>
                <a:cs typeface="Consolas"/>
              </a:rPr>
              <a:t>"NETWORK"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) </a:t>
            </a:r>
            <a:r>
              <a:rPr sz="800" spc="-10" dirty="0">
                <a:solidFill>
                  <a:srgbClr val="60A5FA"/>
                </a:solidFill>
                <a:latin typeface="Consolas"/>
                <a:cs typeface="Consolas"/>
              </a:rPr>
              <a:t>If</a:t>
            </a:r>
            <a:r>
              <a:rPr sz="800" spc="-10" dirty="0">
                <a:solidFill>
                  <a:srgbClr val="33D399"/>
                </a:solidFill>
                <a:latin typeface="Consolas"/>
                <a:cs typeface="Consolas"/>
              </a:rPr>
              <a:t>@error</a:t>
            </a:r>
            <a:r>
              <a:rPr sz="800" spc="-10" dirty="0">
                <a:solidFill>
                  <a:srgbClr val="60A5FA"/>
                </a:solidFill>
                <a:latin typeface="Consolas"/>
                <a:cs typeface="Consolas"/>
              </a:rPr>
              <a:t>Then</a:t>
            </a:r>
            <a:endParaRPr sz="800">
              <a:latin typeface="Consolas"/>
              <a:cs typeface="Consolas"/>
            </a:endParaRPr>
          </a:p>
          <a:p>
            <a:pPr marL="12700" marR="177800" indent="230504">
              <a:lnSpc>
                <a:spcPts val="1430"/>
              </a:lnSpc>
              <a:spcBef>
                <a:spcPts val="20"/>
              </a:spcBef>
            </a:pPr>
            <a:r>
              <a:rPr sz="800" spc="10" dirty="0">
                <a:solidFill>
                  <a:srgbClr val="F59D0A"/>
                </a:solidFill>
                <a:latin typeface="Consolas"/>
                <a:cs typeface="Consolas"/>
              </a:rPr>
              <a:t>PSMDispatcherUtilsWrapper_LogWrite</a:t>
            </a:r>
            <a:r>
              <a:rPr sz="800" spc="10" dirty="0">
                <a:solidFill>
                  <a:srgbClr val="E2E7F0"/>
                </a:solidFill>
                <a:latin typeface="Consolas"/>
                <a:cs typeface="Consolas"/>
              </a:rPr>
              <a:t>(</a:t>
            </a:r>
            <a:r>
              <a:rPr sz="800" spc="10" dirty="0">
                <a:solidFill>
                  <a:srgbClr val="A5F2FB"/>
                </a:solidFill>
                <a:latin typeface="Consolas"/>
                <a:cs typeface="Consolas"/>
              </a:rPr>
              <a:t>"Failed</a:t>
            </a:r>
            <a:r>
              <a:rPr sz="800" spc="50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800" spc="10" dirty="0">
                <a:solidFill>
                  <a:srgbClr val="A5F2FB"/>
                </a:solidFill>
                <a:latin typeface="Consolas"/>
                <a:cs typeface="Consolas"/>
              </a:rPr>
              <a:t>to</a:t>
            </a:r>
            <a:r>
              <a:rPr sz="800" spc="5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800" spc="10" dirty="0">
                <a:solidFill>
                  <a:srgbClr val="A5F2FB"/>
                </a:solidFill>
                <a:latin typeface="Consolas"/>
                <a:cs typeface="Consolas"/>
              </a:rPr>
              <a:t>verify</a:t>
            </a:r>
            <a:r>
              <a:rPr sz="800" spc="50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800" spc="10" dirty="0">
                <a:solidFill>
                  <a:srgbClr val="A5F2FB"/>
                </a:solidFill>
                <a:latin typeface="Consolas"/>
                <a:cs typeface="Consolas"/>
              </a:rPr>
              <a:t>drive</a:t>
            </a:r>
            <a:r>
              <a:rPr sz="800" spc="5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A5F2FB"/>
                </a:solidFill>
                <a:latin typeface="Consolas"/>
                <a:cs typeface="Consolas"/>
              </a:rPr>
              <a:t>mapping"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,</a:t>
            </a:r>
            <a:r>
              <a:rPr sz="800" spc="-10" dirty="0">
                <a:solidFill>
                  <a:srgbClr val="33D399"/>
                </a:solidFill>
                <a:latin typeface="Consolas"/>
                <a:cs typeface="Consolas"/>
              </a:rPr>
              <a:t>$LOG_LEVEL_ERROR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) </a:t>
            </a:r>
            <a:r>
              <a:rPr sz="800" spc="-10" dirty="0">
                <a:solidFill>
                  <a:srgbClr val="60A5FA"/>
                </a:solidFill>
                <a:latin typeface="Consolas"/>
                <a:cs typeface="Consolas"/>
              </a:rPr>
              <a:t>EndIf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26200" y="4283075"/>
            <a:ext cx="3022600" cy="934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Usage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Checklist</a:t>
            </a:r>
            <a:endParaRPr sz="1200">
              <a:latin typeface="Segoe UI"/>
              <a:cs typeface="Segoe UI"/>
            </a:endParaRPr>
          </a:p>
          <a:p>
            <a:pPr marL="31750" marR="5080">
              <a:lnSpc>
                <a:spcPct val="166700"/>
              </a:lnSpc>
              <a:spcBef>
                <a:spcPts val="315"/>
              </a:spcBef>
            </a:pP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Check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if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client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supports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standard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Windows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Shell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Extensions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Call</a:t>
            </a:r>
            <a:r>
              <a:rPr sz="900" spc="-2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MapTSDrives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before</a:t>
            </a:r>
            <a:r>
              <a:rPr sz="900" spc="-2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file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operations</a:t>
            </a:r>
            <a:endParaRPr sz="900">
              <a:latin typeface="Segoe UI"/>
              <a:cs typeface="Segoe UI"/>
            </a:endParaRPr>
          </a:p>
          <a:p>
            <a:pPr marL="31750">
              <a:lnSpc>
                <a:spcPct val="100000"/>
              </a:lnSpc>
              <a:spcBef>
                <a:spcPts val="720"/>
              </a:spcBef>
            </a:pP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Verify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drive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letters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are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allocated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successfully</a:t>
            </a:r>
            <a:endParaRPr sz="9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215900"/>
            <a:ext cx="50590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Testing:</a:t>
            </a:r>
            <a:r>
              <a:rPr spc="355" dirty="0"/>
              <a:t> </a:t>
            </a:r>
            <a:r>
              <a:rPr dirty="0"/>
              <a:t>PSMGenericClientDriver</a:t>
            </a:r>
            <a:r>
              <a:rPr spc="355" dirty="0"/>
              <a:t> </a:t>
            </a:r>
            <a:r>
              <a:rPr spc="-10" dirty="0"/>
              <a:t>Setup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97229" y="292100"/>
            <a:ext cx="26523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Development</a:t>
            </a:r>
            <a:r>
              <a:rPr sz="1050" spc="-30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Machine</a:t>
            </a:r>
            <a:r>
              <a:rPr sz="1050" spc="-25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Testing</a:t>
            </a:r>
            <a:r>
              <a:rPr sz="1050" spc="-30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Configuration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6922" y="292100"/>
            <a:ext cx="3771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4738B"/>
                </a:solidFill>
                <a:latin typeface="Segoe UI Semibold"/>
                <a:cs typeface="Segoe UI Semibold"/>
              </a:rPr>
              <a:t>23/30</a:t>
            </a:r>
            <a:endParaRPr sz="1050">
              <a:latin typeface="Segoe UI Semibold"/>
              <a:cs typeface="Segoe UI Semibold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7368" y="868679"/>
            <a:ext cx="11637645" cy="5587365"/>
            <a:chOff x="277368" y="868679"/>
            <a:chExt cx="11637645" cy="558736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368" y="868679"/>
              <a:ext cx="11637263" cy="558698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025" y="1162049"/>
              <a:ext cx="133350" cy="1524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77875" y="1130300"/>
            <a:ext cx="2889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PSMGenericClientDriver</a:t>
            </a:r>
            <a:r>
              <a:rPr sz="1200" b="1" spc="-2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Setup</a:t>
            </a:r>
            <a:r>
              <a:rPr sz="1200" b="1" spc="-2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Checklist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23900" y="1584325"/>
            <a:ext cx="371475" cy="187325"/>
            <a:chOff x="723900" y="1584325"/>
            <a:chExt cx="371475" cy="18732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3900" y="1619250"/>
              <a:ext cx="152400" cy="1524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1550" y="1584325"/>
              <a:ext cx="123825" cy="1270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284390" y="1577975"/>
            <a:ext cx="54864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166533"/>
                </a:solidFill>
                <a:latin typeface="Segoe UI Semibold"/>
                <a:cs typeface="Segoe UI Semibold"/>
              </a:rPr>
              <a:t>Completed</a:t>
            </a:r>
            <a:endParaRPr sz="800">
              <a:latin typeface="Segoe UI Semibold"/>
              <a:cs typeface="Segoe UI Semibold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8850" y="1502410"/>
            <a:ext cx="3373120" cy="59055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93675">
              <a:lnSpc>
                <a:spcPct val="100000"/>
              </a:lnSpc>
              <a:spcBef>
                <a:spcPts val="645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Copy</a:t>
            </a:r>
            <a:r>
              <a:rPr sz="950" spc="4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Required</a:t>
            </a:r>
            <a:r>
              <a:rPr sz="950" spc="5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Files</a:t>
            </a:r>
            <a:r>
              <a:rPr sz="950" spc="5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from</a:t>
            </a:r>
            <a:r>
              <a:rPr sz="950" spc="5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PSM\Components</a:t>
            </a:r>
            <a:endParaRPr sz="950" dirty="0">
              <a:latin typeface="Segoe UI Semibold"/>
              <a:cs typeface="Segoe UI Semibold"/>
            </a:endParaRPr>
          </a:p>
          <a:p>
            <a:pPr marL="12700" marR="5080">
              <a:lnSpc>
                <a:spcPct val="111100"/>
              </a:lnSpc>
              <a:spcBef>
                <a:spcPts val="365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Copy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PSMGenericClientDriver.dll,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PSMGenericClientDriver.xml,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Segoe UI"/>
                <a:cs typeface="Segoe UI"/>
              </a:rPr>
              <a:t>and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PSMGenericClientWrapper.au3</a:t>
            </a:r>
            <a:endParaRPr sz="900" dirty="0">
              <a:latin typeface="Segoe UI"/>
              <a:cs typeface="Segoe U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23900" y="2422525"/>
            <a:ext cx="390525" cy="177800"/>
            <a:chOff x="723900" y="2422525"/>
            <a:chExt cx="390525" cy="17780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3900" y="2447925"/>
              <a:ext cx="152400" cy="1524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8375" y="2422525"/>
              <a:ext cx="146050" cy="11112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284390" y="2406650"/>
            <a:ext cx="54864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166533"/>
                </a:solidFill>
                <a:latin typeface="Segoe UI Semibold"/>
                <a:cs typeface="Segoe UI Semibold"/>
              </a:rPr>
              <a:t>Completed</a:t>
            </a:r>
            <a:endParaRPr sz="800">
              <a:latin typeface="Segoe UI Semibold"/>
              <a:cs typeface="Segoe UI Semibold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58850" y="2331085"/>
            <a:ext cx="3193415" cy="43815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208915">
              <a:lnSpc>
                <a:spcPct val="100000"/>
              </a:lnSpc>
              <a:spcBef>
                <a:spcPts val="645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Place</a:t>
            </a:r>
            <a:r>
              <a:rPr sz="950" spc="6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Files</a:t>
            </a:r>
            <a:r>
              <a:rPr sz="950" spc="6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in</a:t>
            </a:r>
            <a:r>
              <a:rPr sz="950" spc="6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Development</a:t>
            </a:r>
            <a:r>
              <a:rPr sz="950" spc="7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Folder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Place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files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in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same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folder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as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your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new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.au3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script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for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testing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23900" y="3098800"/>
            <a:ext cx="371475" cy="187325"/>
            <a:chOff x="723900" y="3098800"/>
            <a:chExt cx="371475" cy="187325"/>
          </a:xfrm>
        </p:grpSpPr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3900" y="3133725"/>
              <a:ext cx="152400" cy="1524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1550" y="3098800"/>
              <a:ext cx="123825" cy="12700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417740" y="3092450"/>
            <a:ext cx="41529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91400D"/>
                </a:solidFill>
                <a:latin typeface="Segoe UI Semibold"/>
                <a:cs typeface="Segoe UI Semibold"/>
              </a:rPr>
              <a:t>Pending</a:t>
            </a:r>
            <a:endParaRPr sz="800">
              <a:latin typeface="Segoe UI Semibold"/>
              <a:cs typeface="Segoe UI Semibold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58850" y="3016885"/>
            <a:ext cx="3533140" cy="43815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93675">
              <a:lnSpc>
                <a:spcPct val="100000"/>
              </a:lnSpc>
              <a:spcBef>
                <a:spcPts val="645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Update</a:t>
            </a:r>
            <a:r>
              <a:rPr sz="950" spc="6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PSMGenericClientDriver.xml</a:t>
            </a:r>
            <a:endParaRPr sz="950" dirty="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Update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SessionProperties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section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with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test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values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for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your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application</a:t>
            </a:r>
            <a:endParaRPr sz="900" dirty="0">
              <a:latin typeface="Segoe UI"/>
              <a:cs typeface="Segoe U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324600" y="1593850"/>
            <a:ext cx="387350" cy="177800"/>
            <a:chOff x="6324600" y="1593850"/>
            <a:chExt cx="387350" cy="177800"/>
          </a:xfrm>
        </p:grpSpPr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24600" y="1619250"/>
              <a:ext cx="152400" cy="1524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72250" y="1593850"/>
              <a:ext cx="139700" cy="111125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1018487" y="1577975"/>
            <a:ext cx="41529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91400D"/>
                </a:solidFill>
                <a:latin typeface="Segoe UI Semibold"/>
                <a:cs typeface="Segoe UI Semibold"/>
              </a:rPr>
              <a:t>Pending</a:t>
            </a:r>
            <a:endParaRPr sz="800">
              <a:latin typeface="Segoe UI Semibold"/>
              <a:cs typeface="Segoe UI Semibold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59550" y="1502410"/>
            <a:ext cx="3443604" cy="43815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208915">
              <a:lnSpc>
                <a:spcPct val="100000"/>
              </a:lnSpc>
              <a:spcBef>
                <a:spcPts val="645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Run</a:t>
            </a:r>
            <a:r>
              <a:rPr sz="950" spc="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Test</a:t>
            </a:r>
            <a:r>
              <a:rPr sz="950" spc="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Driver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Execute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test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driver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using: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autoit3.exe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your-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script.au3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"C:\path\"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/test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324600" y="2260600"/>
            <a:ext cx="342900" cy="187325"/>
            <a:chOff x="6324600" y="2260600"/>
            <a:chExt cx="342900" cy="187325"/>
          </a:xfrm>
        </p:grpSpPr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24600" y="2295525"/>
              <a:ext cx="152400" cy="1524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72250" y="2260600"/>
              <a:ext cx="95250" cy="12700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1018487" y="2254250"/>
            <a:ext cx="41529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91400D"/>
                </a:solidFill>
                <a:latin typeface="Segoe UI Semibold"/>
                <a:cs typeface="Segoe UI Semibold"/>
              </a:rPr>
              <a:t>Pending</a:t>
            </a:r>
            <a:endParaRPr sz="800">
              <a:latin typeface="Segoe UI Semibold"/>
              <a:cs typeface="Segoe UI Semibold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559550" y="2178685"/>
            <a:ext cx="3004820" cy="43815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645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Review</a:t>
            </a:r>
            <a:r>
              <a:rPr sz="950" spc="-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Test </a:t>
            </a:r>
            <a:r>
              <a:rPr sz="950" spc="-20" dirty="0">
                <a:solidFill>
                  <a:srgbClr val="1D3A5E"/>
                </a:solidFill>
                <a:latin typeface="Segoe UI Semibold"/>
                <a:cs typeface="Segoe UI Semibold"/>
              </a:rPr>
              <a:t>Logs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Check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PSMGenericClientDriver.txt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for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log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output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and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errors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81025" y="4229100"/>
            <a:ext cx="152400" cy="152400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682625" y="4206875"/>
            <a:ext cx="10608945" cy="1819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Important</a:t>
            </a:r>
            <a:r>
              <a:rPr sz="1200" b="1" spc="-3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Testing</a:t>
            </a:r>
            <a:r>
              <a:rPr sz="1200" b="1" spc="-2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Notes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200">
              <a:latin typeface="Segoe UI"/>
              <a:cs typeface="Segoe UI"/>
            </a:endParaRPr>
          </a:p>
          <a:p>
            <a:pPr marL="50800" marR="5080">
              <a:lnSpc>
                <a:spcPct val="125000"/>
              </a:lnSpc>
            </a:pPr>
            <a:r>
              <a:rPr sz="950" b="1" dirty="0">
                <a:solidFill>
                  <a:srgbClr val="1D3A5E"/>
                </a:solidFill>
                <a:latin typeface="Segoe UI"/>
                <a:cs typeface="Segoe UI"/>
              </a:rPr>
              <a:t>Testing </a:t>
            </a:r>
            <a:r>
              <a:rPr sz="950" b="1" spc="10" dirty="0">
                <a:solidFill>
                  <a:srgbClr val="1D3A5E"/>
                </a:solidFill>
                <a:latin typeface="Segoe UI"/>
                <a:cs typeface="Segoe UI"/>
              </a:rPr>
              <a:t>Configuration:</a:t>
            </a:r>
            <a:r>
              <a:rPr sz="950" b="1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10" dirty="0">
                <a:solidFill>
                  <a:srgbClr val="1D3A5E"/>
                </a:solidFill>
                <a:latin typeface="Segoe UI"/>
                <a:cs typeface="Segoe UI"/>
              </a:rPr>
              <a:t>The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10" dirty="0">
                <a:solidFill>
                  <a:srgbClr val="1D3A5E"/>
                </a:solidFill>
                <a:latin typeface="Segoe UI"/>
                <a:cs typeface="Segoe UI"/>
              </a:rPr>
              <a:t>PSMGenericClientDriver.xml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10" dirty="0">
                <a:solidFill>
                  <a:srgbClr val="1D3A5E"/>
                </a:solidFill>
                <a:latin typeface="Segoe UI"/>
                <a:cs typeface="Segoe UI"/>
              </a:rPr>
              <a:t>file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10" dirty="0">
                <a:solidFill>
                  <a:srgbClr val="1D3A5E"/>
                </a:solidFill>
                <a:latin typeface="Segoe UI"/>
                <a:cs typeface="Segoe UI"/>
              </a:rPr>
              <a:t>contains</a:t>
            </a:r>
            <a:r>
              <a:rPr sz="950" spc="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10" dirty="0">
                <a:solidFill>
                  <a:srgbClr val="1D3A5E"/>
                </a:solidFill>
                <a:latin typeface="Segoe UI"/>
                <a:cs typeface="Segoe UI"/>
              </a:rPr>
              <a:t>the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10" dirty="0">
                <a:solidFill>
                  <a:srgbClr val="1D3A5E"/>
                </a:solidFill>
                <a:latin typeface="Segoe UI"/>
                <a:cs typeface="Segoe UI"/>
              </a:rPr>
              <a:t>Functions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10" dirty="0">
                <a:solidFill>
                  <a:srgbClr val="1D3A5E"/>
                </a:solidFill>
                <a:latin typeface="Segoe UI"/>
                <a:cs typeface="Segoe UI"/>
              </a:rPr>
              <a:t>and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10" dirty="0">
                <a:solidFill>
                  <a:srgbClr val="1D3A5E"/>
                </a:solidFill>
                <a:latin typeface="Segoe UI"/>
                <a:cs typeface="Segoe UI"/>
              </a:rPr>
              <a:t>SessionProperties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10" dirty="0">
                <a:solidFill>
                  <a:srgbClr val="1D3A5E"/>
                </a:solidFill>
                <a:latin typeface="Segoe UI"/>
                <a:cs typeface="Segoe UI"/>
              </a:rPr>
              <a:t>sections.</a:t>
            </a:r>
            <a:r>
              <a:rPr sz="950" spc="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10" dirty="0">
                <a:solidFill>
                  <a:srgbClr val="1D3A5E"/>
                </a:solidFill>
                <a:latin typeface="Segoe UI"/>
                <a:cs typeface="Segoe UI"/>
              </a:rPr>
              <a:t>Update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10" dirty="0">
                <a:solidFill>
                  <a:srgbClr val="1D3A5E"/>
                </a:solidFill>
                <a:latin typeface="Segoe UI"/>
                <a:cs typeface="Segoe UI"/>
              </a:rPr>
              <a:t>the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10" dirty="0">
                <a:solidFill>
                  <a:srgbClr val="1D3A5E"/>
                </a:solidFill>
                <a:latin typeface="Segoe UI"/>
                <a:cs typeface="Segoe UI"/>
              </a:rPr>
              <a:t>SessionProperties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10" dirty="0">
                <a:solidFill>
                  <a:srgbClr val="1D3A5E"/>
                </a:solidFill>
                <a:latin typeface="Segoe UI"/>
                <a:cs typeface="Segoe UI"/>
              </a:rPr>
              <a:t>with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10" dirty="0">
                <a:solidFill>
                  <a:srgbClr val="1D3A5E"/>
                </a:solidFill>
                <a:latin typeface="Segoe UI"/>
                <a:cs typeface="Segoe UI"/>
              </a:rPr>
              <a:t>realistic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10" dirty="0">
                <a:solidFill>
                  <a:srgbClr val="1D3A5E"/>
                </a:solidFill>
                <a:latin typeface="Segoe UI"/>
                <a:cs typeface="Segoe UI"/>
              </a:rPr>
              <a:t>test</a:t>
            </a:r>
            <a:r>
              <a:rPr sz="950" spc="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10" dirty="0">
                <a:solidFill>
                  <a:srgbClr val="1D3A5E"/>
                </a:solidFill>
                <a:latin typeface="Segoe UI"/>
                <a:cs typeface="Segoe UI"/>
              </a:rPr>
              <a:t>values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10" dirty="0">
                <a:solidFill>
                  <a:srgbClr val="1D3A5E"/>
                </a:solidFill>
                <a:latin typeface="Segoe UI"/>
                <a:cs typeface="Segoe UI"/>
              </a:rPr>
              <a:t>for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10" dirty="0">
                <a:solidFill>
                  <a:srgbClr val="1D3A5E"/>
                </a:solidFill>
                <a:latin typeface="Segoe UI"/>
                <a:cs typeface="Segoe UI"/>
              </a:rPr>
              <a:t>Address,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"/>
                <a:cs typeface="Segoe UI"/>
              </a:rPr>
              <a:t>Username,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and</a:t>
            </a:r>
            <a:r>
              <a:rPr sz="950" spc="4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Password</a:t>
            </a:r>
            <a:r>
              <a:rPr sz="950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to</a:t>
            </a:r>
            <a:r>
              <a:rPr sz="950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simulate</a:t>
            </a:r>
            <a:r>
              <a:rPr sz="950" spc="4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actual</a:t>
            </a:r>
            <a:r>
              <a:rPr sz="950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session</a:t>
            </a:r>
            <a:r>
              <a:rPr sz="950" spc="5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"/>
                <a:cs typeface="Segoe UI"/>
              </a:rPr>
              <a:t>data.</a:t>
            </a:r>
            <a:endParaRPr sz="95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9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900" spc="-10" dirty="0">
                <a:solidFill>
                  <a:srgbClr val="64738B"/>
                </a:solidFill>
                <a:latin typeface="Consolas"/>
                <a:cs typeface="Consolas"/>
              </a:rPr>
              <a:t>&lt;!-</a:t>
            </a:r>
            <a:r>
              <a:rPr sz="900" dirty="0">
                <a:solidFill>
                  <a:srgbClr val="64738B"/>
                </a:solidFill>
                <a:latin typeface="Consolas"/>
                <a:cs typeface="Consolas"/>
              </a:rPr>
              <a:t>-</a:t>
            </a:r>
            <a:r>
              <a:rPr sz="900" spc="-30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64738B"/>
                </a:solidFill>
                <a:latin typeface="Consolas"/>
                <a:cs typeface="Consolas"/>
              </a:rPr>
              <a:t>Example</a:t>
            </a:r>
            <a:r>
              <a:rPr sz="900" spc="-20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Consolas"/>
                <a:cs typeface="Consolas"/>
              </a:rPr>
              <a:t>SessionProperties</a:t>
            </a:r>
            <a:r>
              <a:rPr sz="900" spc="-20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Consolas"/>
                <a:cs typeface="Consolas"/>
              </a:rPr>
              <a:t>configuration</a:t>
            </a:r>
            <a:r>
              <a:rPr sz="900" spc="-20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Consolas"/>
                <a:cs typeface="Consolas"/>
              </a:rPr>
              <a:t>--</a:t>
            </a:r>
            <a:r>
              <a:rPr sz="900" spc="-50" dirty="0">
                <a:solidFill>
                  <a:srgbClr val="64738B"/>
                </a:solidFill>
                <a:latin typeface="Consolas"/>
                <a:cs typeface="Consolas"/>
              </a:rPr>
              <a:t>&gt;</a:t>
            </a:r>
            <a:endParaRPr sz="9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900" spc="-10" dirty="0">
                <a:solidFill>
                  <a:srgbClr val="F59D0A"/>
                </a:solidFill>
                <a:latin typeface="Consolas"/>
                <a:cs typeface="Consolas"/>
              </a:rPr>
              <a:t>&lt;SessionProperty</a:t>
            </a:r>
            <a:r>
              <a:rPr sz="900" dirty="0">
                <a:solidFill>
                  <a:srgbClr val="F59D0A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3B81F5"/>
                </a:solidFill>
                <a:latin typeface="Consolas"/>
                <a:cs typeface="Consolas"/>
              </a:rPr>
              <a:t>Name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900" spc="-10" dirty="0">
                <a:solidFill>
                  <a:srgbClr val="0FB981"/>
                </a:solidFill>
                <a:latin typeface="Consolas"/>
                <a:cs typeface="Consolas"/>
              </a:rPr>
              <a:t>"Address"</a:t>
            </a:r>
            <a:r>
              <a:rPr sz="900" dirty="0">
                <a:solidFill>
                  <a:srgbClr val="0FB981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3B81F5"/>
                </a:solidFill>
                <a:latin typeface="Consolas"/>
                <a:cs typeface="Consolas"/>
              </a:rPr>
              <a:t>Value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900" spc="-10" dirty="0">
                <a:solidFill>
                  <a:srgbClr val="0FB981"/>
                </a:solidFill>
                <a:latin typeface="Consolas"/>
                <a:cs typeface="Consolas"/>
              </a:rPr>
              <a:t>"10.10.10.10"</a:t>
            </a:r>
            <a:r>
              <a:rPr sz="900" dirty="0">
                <a:solidFill>
                  <a:srgbClr val="0FB981"/>
                </a:solidFill>
                <a:latin typeface="Consolas"/>
                <a:cs typeface="Consolas"/>
              </a:rPr>
              <a:t> </a:t>
            </a:r>
            <a:r>
              <a:rPr sz="900" spc="-25" dirty="0">
                <a:solidFill>
                  <a:srgbClr val="F59D0A"/>
                </a:solidFill>
                <a:latin typeface="Consolas"/>
                <a:cs typeface="Consolas"/>
              </a:rPr>
              <a:t>/&gt;</a:t>
            </a:r>
            <a:endParaRPr sz="9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900" spc="-10" dirty="0">
                <a:solidFill>
                  <a:srgbClr val="F59D0A"/>
                </a:solidFill>
                <a:latin typeface="Consolas"/>
                <a:cs typeface="Consolas"/>
              </a:rPr>
              <a:t>&lt;SessionProperty</a:t>
            </a:r>
            <a:r>
              <a:rPr sz="900" dirty="0">
                <a:solidFill>
                  <a:srgbClr val="F59D0A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3B81F5"/>
                </a:solidFill>
                <a:latin typeface="Consolas"/>
                <a:cs typeface="Consolas"/>
              </a:rPr>
              <a:t>Name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900" spc="-10" dirty="0">
                <a:solidFill>
                  <a:srgbClr val="0FB981"/>
                </a:solidFill>
                <a:latin typeface="Consolas"/>
                <a:cs typeface="Consolas"/>
              </a:rPr>
              <a:t>"Username"</a:t>
            </a:r>
            <a:r>
              <a:rPr sz="900" dirty="0">
                <a:solidFill>
                  <a:srgbClr val="0FB981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3B81F5"/>
                </a:solidFill>
                <a:latin typeface="Consolas"/>
                <a:cs typeface="Consolas"/>
              </a:rPr>
              <a:t>Value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900" spc="-10" dirty="0">
                <a:solidFill>
                  <a:srgbClr val="0FB981"/>
                </a:solidFill>
                <a:latin typeface="Consolas"/>
                <a:cs typeface="Consolas"/>
              </a:rPr>
              <a:t>"administrator"</a:t>
            </a:r>
            <a:r>
              <a:rPr sz="900" dirty="0">
                <a:solidFill>
                  <a:srgbClr val="0FB981"/>
                </a:solidFill>
                <a:latin typeface="Consolas"/>
                <a:cs typeface="Consolas"/>
              </a:rPr>
              <a:t> </a:t>
            </a:r>
            <a:r>
              <a:rPr sz="900" spc="-25" dirty="0">
                <a:solidFill>
                  <a:srgbClr val="F59D0A"/>
                </a:solidFill>
                <a:latin typeface="Consolas"/>
                <a:cs typeface="Consolas"/>
              </a:rPr>
              <a:t>/&gt;</a:t>
            </a:r>
            <a:endParaRPr sz="9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900" spc="-10" dirty="0">
                <a:solidFill>
                  <a:srgbClr val="F59D0A"/>
                </a:solidFill>
                <a:latin typeface="Consolas"/>
                <a:cs typeface="Consolas"/>
              </a:rPr>
              <a:t>&lt;SessionProperty</a:t>
            </a:r>
            <a:r>
              <a:rPr sz="900" spc="-30" dirty="0">
                <a:solidFill>
                  <a:srgbClr val="F59D0A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3B81F5"/>
                </a:solidFill>
                <a:latin typeface="Consolas"/>
                <a:cs typeface="Consolas"/>
              </a:rPr>
              <a:t>Name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900" spc="-10" dirty="0">
                <a:solidFill>
                  <a:srgbClr val="0FB981"/>
                </a:solidFill>
                <a:latin typeface="Consolas"/>
                <a:cs typeface="Consolas"/>
              </a:rPr>
              <a:t>"Password"</a:t>
            </a:r>
            <a:r>
              <a:rPr sz="900" spc="-30" dirty="0">
                <a:solidFill>
                  <a:srgbClr val="0FB981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3B81F5"/>
                </a:solidFill>
                <a:latin typeface="Consolas"/>
                <a:cs typeface="Consolas"/>
              </a:rPr>
              <a:t>Value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900" spc="-10" dirty="0">
                <a:solidFill>
                  <a:srgbClr val="0FB981"/>
                </a:solidFill>
                <a:latin typeface="Consolas"/>
                <a:cs typeface="Consolas"/>
              </a:rPr>
              <a:t>"test-</a:t>
            </a:r>
            <a:r>
              <a:rPr sz="900" dirty="0">
                <a:solidFill>
                  <a:srgbClr val="0FB981"/>
                </a:solidFill>
                <a:latin typeface="Consolas"/>
                <a:cs typeface="Consolas"/>
              </a:rPr>
              <a:t>password"</a:t>
            </a:r>
            <a:r>
              <a:rPr sz="900" spc="-30" dirty="0">
                <a:solidFill>
                  <a:srgbClr val="0FB981"/>
                </a:solidFill>
                <a:latin typeface="Consolas"/>
                <a:cs typeface="Consolas"/>
              </a:rPr>
              <a:t> </a:t>
            </a:r>
            <a:r>
              <a:rPr sz="900" spc="-25" dirty="0">
                <a:solidFill>
                  <a:srgbClr val="F59D0A"/>
                </a:solidFill>
                <a:latin typeface="Consolas"/>
                <a:cs typeface="Consolas"/>
              </a:rPr>
              <a:t>/&gt;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0" y="6793991"/>
            <a:ext cx="12192000" cy="64135"/>
          </a:xfrm>
          <a:custGeom>
            <a:avLst/>
            <a:gdLst/>
            <a:ahLst/>
            <a:cxnLst/>
            <a:rect l="l" t="t" r="r" b="b"/>
            <a:pathLst>
              <a:path w="12192000" h="64134">
                <a:moveTo>
                  <a:pt x="0" y="0"/>
                </a:moveTo>
                <a:lnTo>
                  <a:pt x="12191999" y="0"/>
                </a:lnTo>
                <a:lnTo>
                  <a:pt x="12191999" y="64008"/>
                </a:ln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215900"/>
            <a:ext cx="471106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Sample</a:t>
            </a:r>
            <a:r>
              <a:rPr spc="210" dirty="0"/>
              <a:t> </a:t>
            </a:r>
            <a:r>
              <a:rPr spc="-10" dirty="0"/>
              <a:t>PSMGenericClientDriver.xml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49119" y="292100"/>
            <a:ext cx="21304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94A2B8"/>
                </a:solidFill>
                <a:latin typeface="Segoe UI"/>
                <a:cs typeface="Segoe UI"/>
              </a:rPr>
              <a:t>Test</a:t>
            </a:r>
            <a:r>
              <a:rPr sz="1050" spc="-15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Configuration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for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 Development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4065" y="292100"/>
            <a:ext cx="37973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4738B"/>
                </a:solidFill>
                <a:latin typeface="Segoe UI Semibold"/>
                <a:cs typeface="Segoe UI Semibold"/>
              </a:rPr>
              <a:t>24/30</a:t>
            </a:r>
            <a:endParaRPr sz="1050">
              <a:latin typeface="Segoe UI Semibold"/>
              <a:cs typeface="Segoe UI Semibold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368" y="868679"/>
            <a:ext cx="11637263" cy="34533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96900" y="1101725"/>
            <a:ext cx="1743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Configuration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Overview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0541" y="1501775"/>
            <a:ext cx="6794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1</a:t>
            </a:r>
            <a:endParaRPr sz="800">
              <a:latin typeface="Segoe UI Semibold"/>
              <a:cs typeface="Segoe UI Semibol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3125" y="1435792"/>
            <a:ext cx="2682240" cy="36004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900" dirty="0">
                <a:solidFill>
                  <a:srgbClr val="1D3A5E"/>
                </a:solidFill>
                <a:latin typeface="Segoe UI Semibold"/>
                <a:cs typeface="Segoe UI Semibold"/>
              </a:rPr>
              <a:t>Functions</a:t>
            </a:r>
            <a:r>
              <a:rPr sz="900" spc="-4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0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Section</a:t>
            </a:r>
            <a:endParaRPr sz="9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Defines</a:t>
            </a:r>
            <a:r>
              <a:rPr sz="800" spc="6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API</a:t>
            </a:r>
            <a:r>
              <a:rPr sz="800" spc="6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functions</a:t>
            </a:r>
            <a:r>
              <a:rPr sz="800" spc="6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800" spc="7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test</a:t>
            </a:r>
            <a:r>
              <a:rPr sz="800" spc="6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(SendPID,</a:t>
            </a:r>
            <a:r>
              <a:rPr sz="800" spc="6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MapTSDrives,</a:t>
            </a:r>
            <a:r>
              <a:rPr sz="800" spc="7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64738B"/>
                </a:solidFill>
                <a:latin typeface="Segoe UI"/>
                <a:cs typeface="Segoe UI"/>
              </a:rPr>
              <a:t>etc.)</a:t>
            </a:r>
            <a:endParaRPr sz="8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2504" y="2006600"/>
            <a:ext cx="8382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2</a:t>
            </a:r>
            <a:endParaRPr sz="800">
              <a:latin typeface="Segoe UI Semibold"/>
              <a:cs typeface="Segoe UI Semibol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3125" y="1940617"/>
            <a:ext cx="2705735" cy="36004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900" dirty="0">
                <a:solidFill>
                  <a:srgbClr val="1D3A5E"/>
                </a:solidFill>
                <a:latin typeface="Segoe UI Semibold"/>
                <a:cs typeface="Segoe UI Semibold"/>
              </a:rPr>
              <a:t>SessionProperties</a:t>
            </a:r>
            <a:r>
              <a:rPr sz="900" spc="1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0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Section</a:t>
            </a:r>
            <a:endParaRPr sz="9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Contains</a:t>
            </a:r>
            <a:r>
              <a:rPr sz="800" spc="5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test</a:t>
            </a:r>
            <a:r>
              <a:rPr sz="800" spc="5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values</a:t>
            </a:r>
            <a:r>
              <a:rPr sz="800" spc="5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for</a:t>
            </a:r>
            <a:r>
              <a:rPr sz="800" spc="5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credentials</a:t>
            </a:r>
            <a:r>
              <a:rPr sz="800" spc="5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and</a:t>
            </a:r>
            <a:r>
              <a:rPr sz="800" spc="5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connection</a:t>
            </a:r>
            <a:r>
              <a:rPr sz="800" spc="5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64738B"/>
                </a:solidFill>
                <a:latin typeface="Segoe UI"/>
                <a:cs typeface="Segoe UI"/>
              </a:rPr>
              <a:t>details</a:t>
            </a:r>
            <a:endParaRPr sz="8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2504" y="2511425"/>
            <a:ext cx="8382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3</a:t>
            </a:r>
            <a:endParaRPr sz="800">
              <a:latin typeface="Segoe UI Semibold"/>
              <a:cs typeface="Segoe UI Semibol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3125" y="2445442"/>
            <a:ext cx="2404745" cy="36004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900" spc="-20" dirty="0">
                <a:solidFill>
                  <a:srgbClr val="1D3A5E"/>
                </a:solidFill>
                <a:latin typeface="Segoe UI Semibold"/>
                <a:cs typeface="Segoe UI Semibold"/>
              </a:rPr>
              <a:t>Test</a:t>
            </a:r>
            <a:r>
              <a:rPr sz="900" spc="-1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0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Values</a:t>
            </a:r>
            <a:endParaRPr sz="9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Set</a:t>
            </a:r>
            <a:r>
              <a:rPr sz="800" spc="6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realistic</a:t>
            </a:r>
            <a:r>
              <a:rPr sz="800" spc="6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values</a:t>
            </a:r>
            <a:r>
              <a:rPr sz="800" spc="6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for</a:t>
            </a:r>
            <a:r>
              <a:rPr sz="800" spc="6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username,</a:t>
            </a:r>
            <a:r>
              <a:rPr sz="800" spc="6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password,</a:t>
            </a:r>
            <a:r>
              <a:rPr sz="800" spc="6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64738B"/>
                </a:solidFill>
                <a:latin typeface="Segoe UI"/>
                <a:cs typeface="Segoe UI"/>
              </a:rPr>
              <a:t>address</a:t>
            </a:r>
            <a:endParaRPr sz="800">
              <a:latin typeface="Segoe UI"/>
              <a:cs typeface="Segoe U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00" y="3409950"/>
            <a:ext cx="152400" cy="15240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54050" y="3378200"/>
            <a:ext cx="4895850" cy="572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Key</a:t>
            </a:r>
            <a:r>
              <a:rPr sz="1200" b="1" spc="-3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Points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900" b="1" dirty="0">
                <a:solidFill>
                  <a:srgbClr val="1D3A5E"/>
                </a:solidFill>
                <a:latin typeface="Segoe UI"/>
                <a:cs typeface="Segoe UI"/>
              </a:rPr>
              <a:t>Important:</a:t>
            </a:r>
            <a:r>
              <a:rPr sz="900" b="1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The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XML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file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must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be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placed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in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the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same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folder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as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your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AutoIt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script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and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the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DLL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file.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48400" y="1130300"/>
            <a:ext cx="190500" cy="15875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350000" y="1101725"/>
            <a:ext cx="4865370" cy="2703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PSMGenericClientDriver.xml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800" dirty="0">
                <a:solidFill>
                  <a:srgbClr val="FF78C6"/>
                </a:solidFill>
                <a:latin typeface="Consolas"/>
                <a:cs typeface="Consolas"/>
              </a:rPr>
              <a:t>&lt;?xml</a:t>
            </a:r>
            <a:r>
              <a:rPr sz="800" spc="155" dirty="0">
                <a:solidFill>
                  <a:srgbClr val="FF78C6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FF78C6"/>
                </a:solidFill>
                <a:latin typeface="Consolas"/>
                <a:cs typeface="Consolas"/>
              </a:rPr>
              <a:t>version="1.0"</a:t>
            </a:r>
            <a:r>
              <a:rPr sz="800" spc="160" dirty="0">
                <a:solidFill>
                  <a:srgbClr val="FF78C6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FF78C6"/>
                </a:solidFill>
                <a:latin typeface="Consolas"/>
                <a:cs typeface="Consolas"/>
              </a:rPr>
              <a:t>encoding="utf-8"</a:t>
            </a:r>
            <a:r>
              <a:rPr sz="800" spc="160" dirty="0">
                <a:solidFill>
                  <a:srgbClr val="FF78C6"/>
                </a:solidFill>
                <a:latin typeface="Consolas"/>
                <a:cs typeface="Consolas"/>
              </a:rPr>
              <a:t> </a:t>
            </a:r>
            <a:r>
              <a:rPr sz="800" spc="-25" dirty="0">
                <a:solidFill>
                  <a:srgbClr val="FF78C6"/>
                </a:solidFill>
                <a:latin typeface="Consolas"/>
                <a:cs typeface="Consolas"/>
              </a:rPr>
              <a:t>?&gt;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800" spc="-10" dirty="0">
                <a:solidFill>
                  <a:srgbClr val="FF78C6"/>
                </a:solidFill>
                <a:latin typeface="Consolas"/>
                <a:cs typeface="Consolas"/>
              </a:rPr>
              <a:t>&lt;PSMGenericClientDriver&gt;</a:t>
            </a:r>
            <a:endParaRPr sz="800">
              <a:latin typeface="Consolas"/>
              <a:cs typeface="Consolas"/>
            </a:endParaRPr>
          </a:p>
          <a:p>
            <a:pPr marL="127635">
              <a:lnSpc>
                <a:spcPct val="100000"/>
              </a:lnSpc>
              <a:spcBef>
                <a:spcPts val="165"/>
              </a:spcBef>
            </a:pPr>
            <a:r>
              <a:rPr sz="800" spc="-10" dirty="0">
                <a:solidFill>
                  <a:srgbClr val="FF78C6"/>
                </a:solidFill>
                <a:latin typeface="Consolas"/>
                <a:cs typeface="Consolas"/>
              </a:rPr>
              <a:t>&lt;Functions&gt;</a:t>
            </a:r>
            <a:endParaRPr sz="800">
              <a:latin typeface="Consolas"/>
              <a:cs typeface="Consolas"/>
            </a:endParaRPr>
          </a:p>
          <a:p>
            <a:pPr marL="243204">
              <a:lnSpc>
                <a:spcPct val="100000"/>
              </a:lnSpc>
              <a:spcBef>
                <a:spcPts val="165"/>
              </a:spcBef>
            </a:pPr>
            <a:r>
              <a:rPr sz="800" spc="-10" dirty="0">
                <a:solidFill>
                  <a:srgbClr val="FF78C6"/>
                </a:solidFill>
                <a:latin typeface="Consolas"/>
                <a:cs typeface="Consolas"/>
              </a:rPr>
              <a:t>&lt;Function</a:t>
            </a:r>
            <a:r>
              <a:rPr sz="800" spc="-10" dirty="0">
                <a:solidFill>
                  <a:srgbClr val="4FFA7B"/>
                </a:solidFill>
                <a:latin typeface="Consolas"/>
                <a:cs typeface="Consolas"/>
              </a:rPr>
              <a:t>Name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800" spc="-10" dirty="0">
                <a:solidFill>
                  <a:srgbClr val="A5F2FB"/>
                </a:solidFill>
                <a:latin typeface="Consolas"/>
                <a:cs typeface="Consolas"/>
              </a:rPr>
              <a:t>"SendPID"</a:t>
            </a:r>
            <a:r>
              <a:rPr sz="800" spc="-10" dirty="0">
                <a:solidFill>
                  <a:srgbClr val="4FFA7B"/>
                </a:solidFill>
                <a:latin typeface="Consolas"/>
                <a:cs typeface="Consolas"/>
              </a:rPr>
              <a:t>Return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800" spc="-10" dirty="0">
                <a:solidFill>
                  <a:srgbClr val="A5F2FB"/>
                </a:solidFill>
                <a:latin typeface="Consolas"/>
                <a:cs typeface="Consolas"/>
              </a:rPr>
              <a:t>"Success"</a:t>
            </a:r>
            <a:r>
              <a:rPr sz="800" spc="-10" dirty="0">
                <a:solidFill>
                  <a:srgbClr val="FF78C6"/>
                </a:solidFill>
                <a:latin typeface="Consolas"/>
                <a:cs typeface="Consolas"/>
              </a:rPr>
              <a:t>/&gt;</a:t>
            </a:r>
            <a:endParaRPr sz="800">
              <a:latin typeface="Consolas"/>
              <a:cs typeface="Consolas"/>
            </a:endParaRPr>
          </a:p>
          <a:p>
            <a:pPr marL="243204">
              <a:lnSpc>
                <a:spcPct val="100000"/>
              </a:lnSpc>
              <a:spcBef>
                <a:spcPts val="165"/>
              </a:spcBef>
            </a:pPr>
            <a:r>
              <a:rPr sz="800" spc="-10" dirty="0">
                <a:solidFill>
                  <a:srgbClr val="FF78C6"/>
                </a:solidFill>
                <a:latin typeface="Consolas"/>
                <a:cs typeface="Consolas"/>
              </a:rPr>
              <a:t>&lt;Function</a:t>
            </a:r>
            <a:r>
              <a:rPr sz="800" spc="-10" dirty="0">
                <a:solidFill>
                  <a:srgbClr val="4FFA7B"/>
                </a:solidFill>
                <a:latin typeface="Consolas"/>
                <a:cs typeface="Consolas"/>
              </a:rPr>
              <a:t>Name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800" spc="-10" dirty="0">
                <a:solidFill>
                  <a:srgbClr val="A5F2FB"/>
                </a:solidFill>
                <a:latin typeface="Consolas"/>
                <a:cs typeface="Consolas"/>
              </a:rPr>
              <a:t>"MapTSDrives"</a:t>
            </a:r>
            <a:r>
              <a:rPr sz="800" spc="-10" dirty="0">
                <a:solidFill>
                  <a:srgbClr val="4FFA7B"/>
                </a:solidFill>
                <a:latin typeface="Consolas"/>
                <a:cs typeface="Consolas"/>
              </a:rPr>
              <a:t>Return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800" spc="-10" dirty="0">
                <a:solidFill>
                  <a:srgbClr val="A5F2FB"/>
                </a:solidFill>
                <a:latin typeface="Consolas"/>
                <a:cs typeface="Consolas"/>
              </a:rPr>
              <a:t>"Success"</a:t>
            </a:r>
            <a:r>
              <a:rPr sz="800" spc="-10" dirty="0">
                <a:solidFill>
                  <a:srgbClr val="FF78C6"/>
                </a:solidFill>
                <a:latin typeface="Consolas"/>
                <a:cs typeface="Consolas"/>
              </a:rPr>
              <a:t>/&gt;</a:t>
            </a:r>
            <a:endParaRPr sz="800">
              <a:latin typeface="Consolas"/>
              <a:cs typeface="Consolas"/>
            </a:endParaRPr>
          </a:p>
          <a:p>
            <a:pPr marL="243204">
              <a:lnSpc>
                <a:spcPct val="100000"/>
              </a:lnSpc>
              <a:spcBef>
                <a:spcPts val="165"/>
              </a:spcBef>
            </a:pPr>
            <a:r>
              <a:rPr sz="800" spc="-10" dirty="0">
                <a:solidFill>
                  <a:srgbClr val="FF78C6"/>
                </a:solidFill>
                <a:latin typeface="Consolas"/>
                <a:cs typeface="Consolas"/>
              </a:rPr>
              <a:t>&lt;Function</a:t>
            </a:r>
            <a:r>
              <a:rPr sz="800" spc="-10" dirty="0">
                <a:solidFill>
                  <a:srgbClr val="4FFA7B"/>
                </a:solidFill>
                <a:latin typeface="Consolas"/>
                <a:cs typeface="Consolas"/>
              </a:rPr>
              <a:t>Name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800" spc="-10" dirty="0">
                <a:solidFill>
                  <a:srgbClr val="A5F2FB"/>
                </a:solidFill>
                <a:latin typeface="Consolas"/>
                <a:cs typeface="Consolas"/>
              </a:rPr>
              <a:t>"GetSessionPropertyBufferLength"</a:t>
            </a:r>
            <a:r>
              <a:rPr sz="800" spc="-10" dirty="0">
                <a:solidFill>
                  <a:srgbClr val="4FFA7B"/>
                </a:solidFill>
                <a:latin typeface="Consolas"/>
                <a:cs typeface="Consolas"/>
              </a:rPr>
              <a:t>Return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800" spc="-10" dirty="0">
                <a:solidFill>
                  <a:srgbClr val="A5F2FB"/>
                </a:solidFill>
                <a:latin typeface="Consolas"/>
                <a:cs typeface="Consolas"/>
              </a:rPr>
              <a:t>"Success"</a:t>
            </a:r>
            <a:r>
              <a:rPr sz="800" spc="-10" dirty="0">
                <a:solidFill>
                  <a:srgbClr val="FF78C6"/>
                </a:solidFill>
                <a:latin typeface="Consolas"/>
                <a:cs typeface="Consolas"/>
              </a:rPr>
              <a:t>/&gt;</a:t>
            </a:r>
            <a:endParaRPr sz="800">
              <a:latin typeface="Consolas"/>
              <a:cs typeface="Consolas"/>
            </a:endParaRPr>
          </a:p>
          <a:p>
            <a:pPr marL="243204">
              <a:lnSpc>
                <a:spcPct val="100000"/>
              </a:lnSpc>
              <a:spcBef>
                <a:spcPts val="165"/>
              </a:spcBef>
            </a:pPr>
            <a:r>
              <a:rPr sz="800" spc="-10" dirty="0">
                <a:solidFill>
                  <a:srgbClr val="FF78C6"/>
                </a:solidFill>
                <a:latin typeface="Consolas"/>
                <a:cs typeface="Consolas"/>
              </a:rPr>
              <a:t>&lt;Function</a:t>
            </a:r>
            <a:r>
              <a:rPr sz="800" spc="-10" dirty="0">
                <a:solidFill>
                  <a:srgbClr val="4FFA7B"/>
                </a:solidFill>
                <a:latin typeface="Consolas"/>
                <a:cs typeface="Consolas"/>
              </a:rPr>
              <a:t>Name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800" spc="-10" dirty="0">
                <a:solidFill>
                  <a:srgbClr val="A5F2FB"/>
                </a:solidFill>
                <a:latin typeface="Consolas"/>
                <a:cs typeface="Consolas"/>
              </a:rPr>
              <a:t>"GetSessionProperty"</a:t>
            </a:r>
            <a:r>
              <a:rPr sz="800" spc="-10" dirty="0">
                <a:solidFill>
                  <a:srgbClr val="4FFA7B"/>
                </a:solidFill>
                <a:latin typeface="Consolas"/>
                <a:cs typeface="Consolas"/>
              </a:rPr>
              <a:t>Return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800" spc="-10" dirty="0">
                <a:solidFill>
                  <a:srgbClr val="A5F2FB"/>
                </a:solidFill>
                <a:latin typeface="Consolas"/>
                <a:cs typeface="Consolas"/>
              </a:rPr>
              <a:t>"Success"</a:t>
            </a:r>
            <a:r>
              <a:rPr sz="800" spc="-10" dirty="0">
                <a:solidFill>
                  <a:srgbClr val="FF78C6"/>
                </a:solidFill>
                <a:latin typeface="Consolas"/>
                <a:cs typeface="Consolas"/>
              </a:rPr>
              <a:t>/&gt;</a:t>
            </a:r>
            <a:endParaRPr sz="800">
              <a:latin typeface="Consolas"/>
              <a:cs typeface="Consolas"/>
            </a:endParaRPr>
          </a:p>
          <a:p>
            <a:pPr marL="243204">
              <a:lnSpc>
                <a:spcPct val="100000"/>
              </a:lnSpc>
              <a:spcBef>
                <a:spcPts val="165"/>
              </a:spcBef>
            </a:pPr>
            <a:r>
              <a:rPr sz="800" spc="-10" dirty="0">
                <a:solidFill>
                  <a:srgbClr val="FF78C6"/>
                </a:solidFill>
                <a:latin typeface="Consolas"/>
                <a:cs typeface="Consolas"/>
              </a:rPr>
              <a:t>&lt;Function</a:t>
            </a:r>
            <a:r>
              <a:rPr sz="800" spc="-10" dirty="0">
                <a:solidFill>
                  <a:srgbClr val="4FFA7B"/>
                </a:solidFill>
                <a:latin typeface="Consolas"/>
                <a:cs typeface="Consolas"/>
              </a:rPr>
              <a:t>Name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800" spc="-10" dirty="0">
                <a:solidFill>
                  <a:srgbClr val="A5F2FB"/>
                </a:solidFill>
                <a:latin typeface="Consolas"/>
                <a:cs typeface="Consolas"/>
              </a:rPr>
              <a:t>"LogWrite"</a:t>
            </a:r>
            <a:r>
              <a:rPr sz="800" spc="-10" dirty="0">
                <a:solidFill>
                  <a:srgbClr val="4FFA7B"/>
                </a:solidFill>
                <a:latin typeface="Consolas"/>
                <a:cs typeface="Consolas"/>
              </a:rPr>
              <a:t>Return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800" spc="-10" dirty="0">
                <a:solidFill>
                  <a:srgbClr val="A5F2FB"/>
                </a:solidFill>
                <a:latin typeface="Consolas"/>
                <a:cs typeface="Consolas"/>
              </a:rPr>
              <a:t>"Success"</a:t>
            </a:r>
            <a:r>
              <a:rPr sz="800" spc="-10" dirty="0">
                <a:solidFill>
                  <a:srgbClr val="FF78C6"/>
                </a:solidFill>
                <a:latin typeface="Consolas"/>
                <a:cs typeface="Consolas"/>
              </a:rPr>
              <a:t>/&gt;</a:t>
            </a:r>
            <a:endParaRPr sz="800">
              <a:latin typeface="Consolas"/>
              <a:cs typeface="Consolas"/>
            </a:endParaRPr>
          </a:p>
          <a:p>
            <a:pPr marL="127635">
              <a:lnSpc>
                <a:spcPct val="100000"/>
              </a:lnSpc>
              <a:spcBef>
                <a:spcPts val="165"/>
              </a:spcBef>
            </a:pPr>
            <a:r>
              <a:rPr sz="800" spc="-10" dirty="0">
                <a:solidFill>
                  <a:srgbClr val="FF78C6"/>
                </a:solidFill>
                <a:latin typeface="Consolas"/>
                <a:cs typeface="Consolas"/>
              </a:rPr>
              <a:t>&lt;/Functions&gt;</a:t>
            </a:r>
            <a:endParaRPr sz="800">
              <a:latin typeface="Consolas"/>
              <a:cs typeface="Consolas"/>
            </a:endParaRPr>
          </a:p>
          <a:p>
            <a:pPr marL="127635">
              <a:lnSpc>
                <a:spcPct val="100000"/>
              </a:lnSpc>
              <a:spcBef>
                <a:spcPts val="165"/>
              </a:spcBef>
            </a:pPr>
            <a:r>
              <a:rPr sz="800" spc="-10" dirty="0">
                <a:solidFill>
                  <a:srgbClr val="FF78C6"/>
                </a:solidFill>
                <a:latin typeface="Consolas"/>
                <a:cs typeface="Consolas"/>
              </a:rPr>
              <a:t>&lt;SessionProperties&gt;</a:t>
            </a:r>
            <a:endParaRPr sz="800">
              <a:latin typeface="Consolas"/>
              <a:cs typeface="Consolas"/>
            </a:endParaRPr>
          </a:p>
          <a:p>
            <a:pPr marL="243204">
              <a:lnSpc>
                <a:spcPct val="100000"/>
              </a:lnSpc>
              <a:spcBef>
                <a:spcPts val="165"/>
              </a:spcBef>
            </a:pPr>
            <a:r>
              <a:rPr sz="800" dirty="0">
                <a:solidFill>
                  <a:srgbClr val="FF78C6"/>
                </a:solidFill>
                <a:latin typeface="Consolas"/>
                <a:cs typeface="Consolas"/>
              </a:rPr>
              <a:t>&lt;SessionProperty</a:t>
            </a:r>
            <a:r>
              <a:rPr sz="800" dirty="0">
                <a:solidFill>
                  <a:srgbClr val="4FFA7B"/>
                </a:solidFill>
                <a:latin typeface="Consolas"/>
                <a:cs typeface="Consolas"/>
              </a:rPr>
              <a:t>Name</a:t>
            </a:r>
            <a:r>
              <a:rPr sz="80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800" dirty="0">
                <a:solidFill>
                  <a:srgbClr val="A5F2FB"/>
                </a:solidFill>
                <a:latin typeface="Consolas"/>
                <a:cs typeface="Consolas"/>
              </a:rPr>
              <a:t>"SessionUUID"</a:t>
            </a:r>
            <a:r>
              <a:rPr sz="800" dirty="0">
                <a:solidFill>
                  <a:srgbClr val="4FFA7B"/>
                </a:solidFill>
                <a:latin typeface="Consolas"/>
                <a:cs typeface="Consolas"/>
              </a:rPr>
              <a:t>Value</a:t>
            </a:r>
            <a:r>
              <a:rPr sz="80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800" dirty="0">
                <a:solidFill>
                  <a:srgbClr val="A5F2FB"/>
                </a:solidFill>
                <a:latin typeface="Consolas"/>
                <a:cs typeface="Consolas"/>
              </a:rPr>
              <a:t>"0b4d3135-d824-4044-8a3f-</a:t>
            </a:r>
            <a:r>
              <a:rPr sz="800" spc="-10" dirty="0">
                <a:solidFill>
                  <a:srgbClr val="A5F2FB"/>
                </a:solidFill>
                <a:latin typeface="Consolas"/>
                <a:cs typeface="Consolas"/>
              </a:rPr>
              <a:t>555a72b72577"</a:t>
            </a:r>
            <a:r>
              <a:rPr sz="800" spc="-10" dirty="0">
                <a:solidFill>
                  <a:srgbClr val="FF78C6"/>
                </a:solidFill>
                <a:latin typeface="Consolas"/>
                <a:cs typeface="Consolas"/>
              </a:rPr>
              <a:t>/&gt;</a:t>
            </a:r>
            <a:endParaRPr sz="800">
              <a:latin typeface="Consolas"/>
              <a:cs typeface="Consolas"/>
            </a:endParaRPr>
          </a:p>
          <a:p>
            <a:pPr marL="243204">
              <a:lnSpc>
                <a:spcPct val="100000"/>
              </a:lnSpc>
              <a:spcBef>
                <a:spcPts val="165"/>
              </a:spcBef>
            </a:pPr>
            <a:r>
              <a:rPr sz="800" spc="-10" dirty="0">
                <a:solidFill>
                  <a:srgbClr val="FF78C6"/>
                </a:solidFill>
                <a:latin typeface="Consolas"/>
                <a:cs typeface="Consolas"/>
              </a:rPr>
              <a:t>&lt;SessionProperty</a:t>
            </a:r>
            <a:r>
              <a:rPr sz="800" spc="-10" dirty="0">
                <a:solidFill>
                  <a:srgbClr val="4FFA7B"/>
                </a:solidFill>
                <a:latin typeface="Consolas"/>
                <a:cs typeface="Consolas"/>
              </a:rPr>
              <a:t>Name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800" spc="-10" dirty="0">
                <a:solidFill>
                  <a:srgbClr val="A5F2FB"/>
                </a:solidFill>
                <a:latin typeface="Consolas"/>
                <a:cs typeface="Consolas"/>
              </a:rPr>
              <a:t>"Username"</a:t>
            </a:r>
            <a:r>
              <a:rPr sz="800" spc="-10" dirty="0">
                <a:solidFill>
                  <a:srgbClr val="4FFA7B"/>
                </a:solidFill>
                <a:latin typeface="Consolas"/>
                <a:cs typeface="Consolas"/>
              </a:rPr>
              <a:t>Value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800" spc="-10" dirty="0">
                <a:solidFill>
                  <a:srgbClr val="A5F2FB"/>
                </a:solidFill>
                <a:latin typeface="Consolas"/>
                <a:cs typeface="Consolas"/>
              </a:rPr>
              <a:t>"administrator"</a:t>
            </a:r>
            <a:r>
              <a:rPr sz="800" spc="-10" dirty="0">
                <a:solidFill>
                  <a:srgbClr val="FF78C6"/>
                </a:solidFill>
                <a:latin typeface="Consolas"/>
                <a:cs typeface="Consolas"/>
              </a:rPr>
              <a:t>/&gt;</a:t>
            </a:r>
            <a:endParaRPr sz="800">
              <a:latin typeface="Consolas"/>
              <a:cs typeface="Consolas"/>
            </a:endParaRPr>
          </a:p>
          <a:p>
            <a:pPr marL="243204">
              <a:lnSpc>
                <a:spcPct val="100000"/>
              </a:lnSpc>
              <a:spcBef>
                <a:spcPts val="165"/>
              </a:spcBef>
            </a:pPr>
            <a:r>
              <a:rPr sz="800" spc="-10" dirty="0">
                <a:solidFill>
                  <a:srgbClr val="FF78C6"/>
                </a:solidFill>
                <a:latin typeface="Consolas"/>
                <a:cs typeface="Consolas"/>
              </a:rPr>
              <a:t>&lt;SessionProperty</a:t>
            </a:r>
            <a:r>
              <a:rPr sz="800" spc="-10" dirty="0">
                <a:solidFill>
                  <a:srgbClr val="4FFA7B"/>
                </a:solidFill>
                <a:latin typeface="Consolas"/>
                <a:cs typeface="Consolas"/>
              </a:rPr>
              <a:t>Name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800" spc="-10" dirty="0">
                <a:solidFill>
                  <a:srgbClr val="A5F2FB"/>
                </a:solidFill>
                <a:latin typeface="Consolas"/>
                <a:cs typeface="Consolas"/>
              </a:rPr>
              <a:t>"Address"</a:t>
            </a:r>
            <a:r>
              <a:rPr sz="800" spc="-10" dirty="0">
                <a:solidFill>
                  <a:srgbClr val="4FFA7B"/>
                </a:solidFill>
                <a:latin typeface="Consolas"/>
                <a:cs typeface="Consolas"/>
              </a:rPr>
              <a:t>Value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800" spc="-10" dirty="0">
                <a:solidFill>
                  <a:srgbClr val="A5F2FB"/>
                </a:solidFill>
                <a:latin typeface="Consolas"/>
                <a:cs typeface="Consolas"/>
              </a:rPr>
              <a:t>"10.10.10.10"</a:t>
            </a:r>
            <a:r>
              <a:rPr sz="800" spc="-10" dirty="0">
                <a:solidFill>
                  <a:srgbClr val="FF78C6"/>
                </a:solidFill>
                <a:latin typeface="Consolas"/>
                <a:cs typeface="Consolas"/>
              </a:rPr>
              <a:t>/&gt;</a:t>
            </a:r>
            <a:endParaRPr sz="800">
              <a:latin typeface="Consolas"/>
              <a:cs typeface="Consolas"/>
            </a:endParaRPr>
          </a:p>
          <a:p>
            <a:pPr marL="243204">
              <a:lnSpc>
                <a:spcPct val="100000"/>
              </a:lnSpc>
              <a:spcBef>
                <a:spcPts val="165"/>
              </a:spcBef>
            </a:pPr>
            <a:r>
              <a:rPr sz="800" dirty="0">
                <a:solidFill>
                  <a:srgbClr val="FF78C6"/>
                </a:solidFill>
                <a:latin typeface="Consolas"/>
                <a:cs typeface="Consolas"/>
              </a:rPr>
              <a:t>&lt;SessionProperty</a:t>
            </a:r>
            <a:r>
              <a:rPr sz="800" dirty="0">
                <a:solidFill>
                  <a:srgbClr val="4FFA7B"/>
                </a:solidFill>
                <a:latin typeface="Consolas"/>
                <a:cs typeface="Consolas"/>
              </a:rPr>
              <a:t>Name</a:t>
            </a:r>
            <a:r>
              <a:rPr sz="80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800" dirty="0">
                <a:solidFill>
                  <a:srgbClr val="A5F2FB"/>
                </a:solidFill>
                <a:latin typeface="Consolas"/>
                <a:cs typeface="Consolas"/>
              </a:rPr>
              <a:t>"Password"</a:t>
            </a:r>
            <a:r>
              <a:rPr sz="800" dirty="0">
                <a:solidFill>
                  <a:srgbClr val="4FFA7B"/>
                </a:solidFill>
                <a:latin typeface="Consolas"/>
                <a:cs typeface="Consolas"/>
              </a:rPr>
              <a:t>Value</a:t>
            </a:r>
            <a:r>
              <a:rPr sz="80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800" dirty="0">
                <a:solidFill>
                  <a:srgbClr val="A5F2FB"/>
                </a:solidFill>
                <a:latin typeface="Consolas"/>
                <a:cs typeface="Consolas"/>
              </a:rPr>
              <a:t>"very-secured-</a:t>
            </a:r>
            <a:r>
              <a:rPr sz="800" spc="-10" dirty="0">
                <a:solidFill>
                  <a:srgbClr val="A5F2FB"/>
                </a:solidFill>
                <a:latin typeface="Consolas"/>
                <a:cs typeface="Consolas"/>
              </a:rPr>
              <a:t>pass"</a:t>
            </a:r>
            <a:r>
              <a:rPr sz="800" spc="-10" dirty="0">
                <a:solidFill>
                  <a:srgbClr val="FF78C6"/>
                </a:solidFill>
                <a:latin typeface="Consolas"/>
                <a:cs typeface="Consolas"/>
              </a:rPr>
              <a:t>/&gt;</a:t>
            </a:r>
            <a:endParaRPr sz="800">
              <a:latin typeface="Consolas"/>
              <a:cs typeface="Consolas"/>
            </a:endParaRPr>
          </a:p>
          <a:p>
            <a:pPr marR="3448685" algn="ctr">
              <a:lnSpc>
                <a:spcPct val="100000"/>
              </a:lnSpc>
              <a:spcBef>
                <a:spcPts val="165"/>
              </a:spcBef>
            </a:pPr>
            <a:r>
              <a:rPr sz="800" spc="-10" dirty="0">
                <a:solidFill>
                  <a:srgbClr val="FF78C6"/>
                </a:solidFill>
                <a:latin typeface="Consolas"/>
                <a:cs typeface="Consolas"/>
              </a:rPr>
              <a:t>&lt;/SessionProperties&gt;</a:t>
            </a:r>
            <a:endParaRPr sz="800">
              <a:latin typeface="Consolas"/>
              <a:cs typeface="Consolas"/>
            </a:endParaRPr>
          </a:p>
          <a:p>
            <a:pPr marR="3391535" algn="ctr">
              <a:lnSpc>
                <a:spcPct val="100000"/>
              </a:lnSpc>
              <a:spcBef>
                <a:spcPts val="165"/>
              </a:spcBef>
            </a:pPr>
            <a:r>
              <a:rPr sz="800" spc="-10" dirty="0">
                <a:solidFill>
                  <a:srgbClr val="FF78C6"/>
                </a:solidFill>
                <a:latin typeface="Consolas"/>
                <a:cs typeface="Consolas"/>
              </a:rPr>
              <a:t>&lt;/PSMGenericClientDriver&gt;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6793991"/>
            <a:ext cx="12192000" cy="64135"/>
          </a:xfrm>
          <a:custGeom>
            <a:avLst/>
            <a:gdLst/>
            <a:ahLst/>
            <a:cxnLst/>
            <a:rect l="l" t="t" r="r" b="b"/>
            <a:pathLst>
              <a:path w="12192000" h="64134">
                <a:moveTo>
                  <a:pt x="0" y="0"/>
                </a:moveTo>
                <a:lnTo>
                  <a:pt x="12191999" y="0"/>
                </a:lnTo>
                <a:lnTo>
                  <a:pt x="12191999" y="64008"/>
                </a:ln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215900"/>
            <a:ext cx="42875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Testing:</a:t>
            </a:r>
            <a:r>
              <a:rPr spc="140" dirty="0"/>
              <a:t> </a:t>
            </a:r>
            <a:r>
              <a:rPr dirty="0"/>
              <a:t>Running</a:t>
            </a:r>
            <a:r>
              <a:rPr spc="140" dirty="0"/>
              <a:t> </a:t>
            </a:r>
            <a:r>
              <a:rPr dirty="0"/>
              <a:t>and</a:t>
            </a:r>
            <a:r>
              <a:rPr spc="145" dirty="0"/>
              <a:t> </a:t>
            </a:r>
            <a:r>
              <a:rPr spc="-10" dirty="0"/>
              <a:t>Debugging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25257" y="292100"/>
            <a:ext cx="22955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PSMGenericClientDriver</a:t>
            </a:r>
            <a:r>
              <a:rPr sz="1050" spc="-20" dirty="0">
                <a:solidFill>
                  <a:srgbClr val="94A2B8"/>
                </a:solidFill>
                <a:latin typeface="Segoe UI"/>
                <a:cs typeface="Segoe UI"/>
              </a:rPr>
              <a:t> Test</a:t>
            </a:r>
            <a:r>
              <a:rPr sz="1050" spc="-15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Execution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6922" y="292100"/>
            <a:ext cx="3771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4738B"/>
                </a:solidFill>
                <a:latin typeface="Segoe UI Semibold"/>
                <a:cs typeface="Segoe UI Semibold"/>
              </a:rPr>
              <a:t>25/30</a:t>
            </a:r>
            <a:endParaRPr sz="1050">
              <a:latin typeface="Segoe UI Semibold"/>
              <a:cs typeface="Segoe UI Semibold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7368" y="868679"/>
            <a:ext cx="6590030" cy="3310254"/>
            <a:chOff x="277368" y="868679"/>
            <a:chExt cx="6590030" cy="3310254"/>
          </a:xfrm>
        </p:grpSpPr>
        <p:sp>
          <p:nvSpPr>
            <p:cNvPr id="6" name="object 6"/>
            <p:cNvSpPr/>
            <p:nvPr/>
          </p:nvSpPr>
          <p:spPr>
            <a:xfrm>
              <a:off x="277368" y="868679"/>
              <a:ext cx="6590030" cy="3310254"/>
            </a:xfrm>
            <a:custGeom>
              <a:avLst/>
              <a:gdLst/>
              <a:ahLst/>
              <a:cxnLst/>
              <a:rect l="l" t="t" r="r" b="b"/>
              <a:pathLst>
                <a:path w="6590030" h="3310254">
                  <a:moveTo>
                    <a:pt x="6589775" y="3310127"/>
                  </a:moveTo>
                  <a:lnTo>
                    <a:pt x="0" y="3310127"/>
                  </a:lnTo>
                  <a:lnTo>
                    <a:pt x="0" y="0"/>
                  </a:lnTo>
                  <a:lnTo>
                    <a:pt x="6589775" y="0"/>
                  </a:lnTo>
                  <a:lnTo>
                    <a:pt x="6589775" y="93344"/>
                  </a:lnTo>
                  <a:lnTo>
                    <a:pt x="179831" y="93344"/>
                  </a:lnTo>
                  <a:lnTo>
                    <a:pt x="173263" y="93662"/>
                  </a:lnTo>
                  <a:lnTo>
                    <a:pt x="137554" y="108453"/>
                  </a:lnTo>
                  <a:lnTo>
                    <a:pt x="116011" y="140694"/>
                  </a:lnTo>
                  <a:lnTo>
                    <a:pt x="113156" y="160019"/>
                  </a:lnTo>
                  <a:lnTo>
                    <a:pt x="113156" y="3112769"/>
                  </a:lnTo>
                  <a:lnTo>
                    <a:pt x="124383" y="3149822"/>
                  </a:lnTo>
                  <a:lnTo>
                    <a:pt x="154317" y="3174369"/>
                  </a:lnTo>
                  <a:lnTo>
                    <a:pt x="179831" y="3179460"/>
                  </a:lnTo>
                  <a:lnTo>
                    <a:pt x="6589775" y="3179460"/>
                  </a:lnTo>
                  <a:lnTo>
                    <a:pt x="6589775" y="3310127"/>
                  </a:lnTo>
                  <a:close/>
                </a:path>
                <a:path w="6590030" h="3310254">
                  <a:moveTo>
                    <a:pt x="6589775" y="3179460"/>
                  </a:moveTo>
                  <a:lnTo>
                    <a:pt x="6409181" y="3179460"/>
                  </a:lnTo>
                  <a:lnTo>
                    <a:pt x="6415748" y="3179127"/>
                  </a:lnTo>
                  <a:lnTo>
                    <a:pt x="6422189" y="3178172"/>
                  </a:lnTo>
                  <a:lnTo>
                    <a:pt x="6456334" y="3159922"/>
                  </a:lnTo>
                  <a:lnTo>
                    <a:pt x="6474580" y="3125777"/>
                  </a:lnTo>
                  <a:lnTo>
                    <a:pt x="6475841" y="3112769"/>
                  </a:lnTo>
                  <a:lnTo>
                    <a:pt x="6475841" y="160019"/>
                  </a:lnTo>
                  <a:lnTo>
                    <a:pt x="6464632" y="122970"/>
                  </a:lnTo>
                  <a:lnTo>
                    <a:pt x="6434693" y="98419"/>
                  </a:lnTo>
                  <a:lnTo>
                    <a:pt x="6409181" y="93344"/>
                  </a:lnTo>
                  <a:lnTo>
                    <a:pt x="6589775" y="93344"/>
                  </a:lnTo>
                  <a:lnTo>
                    <a:pt x="6589775" y="317946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5762" y="957262"/>
              <a:ext cx="6372225" cy="3095625"/>
            </a:xfrm>
            <a:custGeom>
              <a:avLst/>
              <a:gdLst/>
              <a:ahLst/>
              <a:cxnLst/>
              <a:rect l="l" t="t" r="r" b="b"/>
              <a:pathLst>
                <a:path w="6372225" h="3095625">
                  <a:moveTo>
                    <a:pt x="6305473" y="3095625"/>
                  </a:moveTo>
                  <a:lnTo>
                    <a:pt x="66746" y="3095625"/>
                  </a:lnTo>
                  <a:lnTo>
                    <a:pt x="62101" y="3095167"/>
                  </a:lnTo>
                  <a:lnTo>
                    <a:pt x="24240" y="3078013"/>
                  </a:lnTo>
                  <a:lnTo>
                    <a:pt x="2287" y="3042723"/>
                  </a:lnTo>
                  <a:lnTo>
                    <a:pt x="0" y="3028873"/>
                  </a:lnTo>
                  <a:lnTo>
                    <a:pt x="0" y="3024187"/>
                  </a:lnTo>
                  <a:lnTo>
                    <a:pt x="0" y="66751"/>
                  </a:lnTo>
                  <a:lnTo>
                    <a:pt x="14645" y="27851"/>
                  </a:lnTo>
                  <a:lnTo>
                    <a:pt x="48432" y="3638"/>
                  </a:lnTo>
                  <a:lnTo>
                    <a:pt x="66746" y="0"/>
                  </a:lnTo>
                  <a:lnTo>
                    <a:pt x="6305473" y="0"/>
                  </a:lnTo>
                  <a:lnTo>
                    <a:pt x="6344373" y="14649"/>
                  </a:lnTo>
                  <a:lnTo>
                    <a:pt x="6368576" y="48434"/>
                  </a:lnTo>
                  <a:lnTo>
                    <a:pt x="6372225" y="66751"/>
                  </a:lnTo>
                  <a:lnTo>
                    <a:pt x="6372225" y="3028873"/>
                  </a:lnTo>
                  <a:lnTo>
                    <a:pt x="6357575" y="3067773"/>
                  </a:lnTo>
                  <a:lnTo>
                    <a:pt x="6323790" y="3091976"/>
                  </a:lnTo>
                  <a:lnTo>
                    <a:pt x="6310122" y="3095167"/>
                  </a:lnTo>
                  <a:lnTo>
                    <a:pt x="6305473" y="30956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5762" y="957262"/>
              <a:ext cx="6372225" cy="3095625"/>
            </a:xfrm>
            <a:custGeom>
              <a:avLst/>
              <a:gdLst/>
              <a:ahLst/>
              <a:cxnLst/>
              <a:rect l="l" t="t" r="r" b="b"/>
              <a:pathLst>
                <a:path w="6372225" h="3095625">
                  <a:moveTo>
                    <a:pt x="0" y="3024187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103"/>
                  </a:lnTo>
                  <a:lnTo>
                    <a:pt x="1372" y="57502"/>
                  </a:lnTo>
                  <a:lnTo>
                    <a:pt x="2287" y="52901"/>
                  </a:lnTo>
                  <a:lnTo>
                    <a:pt x="3642" y="48434"/>
                  </a:lnTo>
                  <a:lnTo>
                    <a:pt x="5437" y="44100"/>
                  </a:lnTo>
                  <a:lnTo>
                    <a:pt x="7233" y="39766"/>
                  </a:lnTo>
                  <a:lnTo>
                    <a:pt x="20923" y="20926"/>
                  </a:lnTo>
                  <a:lnTo>
                    <a:pt x="24240" y="17602"/>
                  </a:lnTo>
                  <a:lnTo>
                    <a:pt x="44099" y="5438"/>
                  </a:lnTo>
                  <a:lnTo>
                    <a:pt x="48432" y="3638"/>
                  </a:lnTo>
                  <a:lnTo>
                    <a:pt x="52899" y="2285"/>
                  </a:lnTo>
                  <a:lnTo>
                    <a:pt x="57500" y="1371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300787" y="0"/>
                  </a:lnTo>
                  <a:lnTo>
                    <a:pt x="6305473" y="0"/>
                  </a:lnTo>
                  <a:lnTo>
                    <a:pt x="6310122" y="457"/>
                  </a:lnTo>
                  <a:lnTo>
                    <a:pt x="6314722" y="1371"/>
                  </a:lnTo>
                  <a:lnTo>
                    <a:pt x="6319323" y="2285"/>
                  </a:lnTo>
                  <a:lnTo>
                    <a:pt x="6323790" y="3638"/>
                  </a:lnTo>
                  <a:lnTo>
                    <a:pt x="6328124" y="5438"/>
                  </a:lnTo>
                  <a:lnTo>
                    <a:pt x="6332458" y="7229"/>
                  </a:lnTo>
                  <a:lnTo>
                    <a:pt x="6351298" y="20926"/>
                  </a:lnTo>
                  <a:lnTo>
                    <a:pt x="6354613" y="24241"/>
                  </a:lnTo>
                  <a:lnTo>
                    <a:pt x="6366786" y="44100"/>
                  </a:lnTo>
                  <a:lnTo>
                    <a:pt x="6368576" y="48434"/>
                  </a:lnTo>
                  <a:lnTo>
                    <a:pt x="6369938" y="52901"/>
                  </a:lnTo>
                  <a:lnTo>
                    <a:pt x="6370853" y="57502"/>
                  </a:lnTo>
                  <a:lnTo>
                    <a:pt x="6371767" y="62103"/>
                  </a:lnTo>
                  <a:lnTo>
                    <a:pt x="6372225" y="66751"/>
                  </a:lnTo>
                  <a:lnTo>
                    <a:pt x="6372225" y="71437"/>
                  </a:lnTo>
                  <a:lnTo>
                    <a:pt x="6372225" y="3024187"/>
                  </a:lnTo>
                  <a:lnTo>
                    <a:pt x="6372225" y="3028873"/>
                  </a:lnTo>
                  <a:lnTo>
                    <a:pt x="6371767" y="3033522"/>
                  </a:lnTo>
                  <a:lnTo>
                    <a:pt x="6354613" y="3071383"/>
                  </a:lnTo>
                  <a:lnTo>
                    <a:pt x="6328124" y="3090186"/>
                  </a:lnTo>
                  <a:lnTo>
                    <a:pt x="6323790" y="3091976"/>
                  </a:lnTo>
                  <a:lnTo>
                    <a:pt x="6319323" y="3093339"/>
                  </a:lnTo>
                  <a:lnTo>
                    <a:pt x="6314722" y="3094253"/>
                  </a:lnTo>
                  <a:lnTo>
                    <a:pt x="6310122" y="3095167"/>
                  </a:lnTo>
                  <a:lnTo>
                    <a:pt x="6305473" y="3095625"/>
                  </a:lnTo>
                  <a:lnTo>
                    <a:pt x="6300787" y="3095625"/>
                  </a:lnTo>
                  <a:lnTo>
                    <a:pt x="71437" y="3095625"/>
                  </a:lnTo>
                  <a:lnTo>
                    <a:pt x="66746" y="3095625"/>
                  </a:lnTo>
                  <a:lnTo>
                    <a:pt x="62101" y="3095167"/>
                  </a:lnTo>
                  <a:lnTo>
                    <a:pt x="57500" y="3094253"/>
                  </a:lnTo>
                  <a:lnTo>
                    <a:pt x="52899" y="3093339"/>
                  </a:lnTo>
                  <a:lnTo>
                    <a:pt x="48432" y="3091976"/>
                  </a:lnTo>
                  <a:lnTo>
                    <a:pt x="44099" y="3090186"/>
                  </a:lnTo>
                  <a:lnTo>
                    <a:pt x="39765" y="3088395"/>
                  </a:lnTo>
                  <a:lnTo>
                    <a:pt x="9433" y="3059972"/>
                  </a:lnTo>
                  <a:lnTo>
                    <a:pt x="0" y="3028873"/>
                  </a:lnTo>
                  <a:lnTo>
                    <a:pt x="0" y="3024187"/>
                  </a:lnTo>
                  <a:close/>
                </a:path>
              </a:pathLst>
            </a:custGeom>
            <a:ln w="9525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1025" y="2457450"/>
              <a:ext cx="5981700" cy="723900"/>
            </a:xfrm>
            <a:custGeom>
              <a:avLst/>
              <a:gdLst/>
              <a:ahLst/>
              <a:cxnLst/>
              <a:rect l="l" t="t" r="r" b="b"/>
              <a:pathLst>
                <a:path w="5981700" h="723900">
                  <a:moveTo>
                    <a:pt x="5928302" y="723900"/>
                  </a:moveTo>
                  <a:lnTo>
                    <a:pt x="53397" y="723900"/>
                  </a:lnTo>
                  <a:lnTo>
                    <a:pt x="49681" y="723538"/>
                  </a:lnTo>
                  <a:lnTo>
                    <a:pt x="14085" y="704507"/>
                  </a:lnTo>
                  <a:lnTo>
                    <a:pt x="0" y="670502"/>
                  </a:lnTo>
                  <a:lnTo>
                    <a:pt x="0" y="666750"/>
                  </a:lnTo>
                  <a:lnTo>
                    <a:pt x="0" y="53397"/>
                  </a:lnTo>
                  <a:lnTo>
                    <a:pt x="19391" y="14087"/>
                  </a:lnTo>
                  <a:lnTo>
                    <a:pt x="53397" y="0"/>
                  </a:lnTo>
                  <a:lnTo>
                    <a:pt x="5928302" y="0"/>
                  </a:lnTo>
                  <a:lnTo>
                    <a:pt x="5967612" y="19392"/>
                  </a:lnTo>
                  <a:lnTo>
                    <a:pt x="5981700" y="53397"/>
                  </a:lnTo>
                  <a:lnTo>
                    <a:pt x="5981700" y="670502"/>
                  </a:lnTo>
                  <a:lnTo>
                    <a:pt x="5962307" y="709812"/>
                  </a:lnTo>
                  <a:lnTo>
                    <a:pt x="5932017" y="723538"/>
                  </a:lnTo>
                  <a:lnTo>
                    <a:pt x="5928302" y="723900"/>
                  </a:lnTo>
                  <a:close/>
                </a:path>
              </a:pathLst>
            </a:custGeom>
            <a:solidFill>
              <a:srgbClr val="1D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0075" y="3276599"/>
              <a:ext cx="5962650" cy="600075"/>
            </a:xfrm>
            <a:custGeom>
              <a:avLst/>
              <a:gdLst/>
              <a:ahLst/>
              <a:cxnLst/>
              <a:rect l="l" t="t" r="r" b="b"/>
              <a:pathLst>
                <a:path w="5962650" h="600075">
                  <a:moveTo>
                    <a:pt x="5909252" y="600075"/>
                  </a:moveTo>
                  <a:lnTo>
                    <a:pt x="33047" y="600075"/>
                  </a:lnTo>
                  <a:lnTo>
                    <a:pt x="28187" y="598627"/>
                  </a:lnTo>
                  <a:lnTo>
                    <a:pt x="966" y="557793"/>
                  </a:lnTo>
                  <a:lnTo>
                    <a:pt x="0" y="550506"/>
                  </a:lnTo>
                  <a:lnTo>
                    <a:pt x="0" y="542925"/>
                  </a:lnTo>
                  <a:lnTo>
                    <a:pt x="0" y="49568"/>
                  </a:lnTo>
                  <a:lnTo>
                    <a:pt x="14731" y="11382"/>
                  </a:lnTo>
                  <a:lnTo>
                    <a:pt x="33047" y="0"/>
                  </a:lnTo>
                  <a:lnTo>
                    <a:pt x="5909252" y="0"/>
                  </a:lnTo>
                  <a:lnTo>
                    <a:pt x="5948562" y="19392"/>
                  </a:lnTo>
                  <a:lnTo>
                    <a:pt x="5962650" y="53397"/>
                  </a:lnTo>
                  <a:lnTo>
                    <a:pt x="5962650" y="546677"/>
                  </a:lnTo>
                  <a:lnTo>
                    <a:pt x="5943257" y="585987"/>
                  </a:lnTo>
                  <a:lnTo>
                    <a:pt x="5912967" y="599713"/>
                  </a:lnTo>
                  <a:lnTo>
                    <a:pt x="5909252" y="600075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1025" y="3276599"/>
              <a:ext cx="52069" cy="600075"/>
            </a:xfrm>
            <a:custGeom>
              <a:avLst/>
              <a:gdLst/>
              <a:ahLst/>
              <a:cxnLst/>
              <a:rect l="l" t="t" r="r" b="b"/>
              <a:pathLst>
                <a:path w="52070" h="600075">
                  <a:moveTo>
                    <a:pt x="51889" y="600075"/>
                  </a:moveTo>
                  <a:lnTo>
                    <a:pt x="49572" y="600075"/>
                  </a:lnTo>
                  <a:lnTo>
                    <a:pt x="42281" y="598627"/>
                  </a:lnTo>
                  <a:lnTo>
                    <a:pt x="7251" y="571804"/>
                  </a:lnTo>
                  <a:lnTo>
                    <a:pt x="0" y="550499"/>
                  </a:lnTo>
                  <a:lnTo>
                    <a:pt x="0" y="49560"/>
                  </a:lnTo>
                  <a:lnTo>
                    <a:pt x="22097" y="11368"/>
                  </a:lnTo>
                  <a:lnTo>
                    <a:pt x="49572" y="0"/>
                  </a:lnTo>
                  <a:lnTo>
                    <a:pt x="51889" y="0"/>
                  </a:lnTo>
                  <a:lnTo>
                    <a:pt x="47399" y="5577"/>
                  </a:lnTo>
                  <a:lnTo>
                    <a:pt x="43680" y="16733"/>
                  </a:lnTo>
                  <a:lnTo>
                    <a:pt x="41238" y="25534"/>
                  </a:lnTo>
                  <a:lnTo>
                    <a:pt x="39494" y="35204"/>
                  </a:lnTo>
                  <a:lnTo>
                    <a:pt x="38448" y="45742"/>
                  </a:lnTo>
                  <a:lnTo>
                    <a:pt x="38099" y="57149"/>
                  </a:lnTo>
                  <a:lnTo>
                    <a:pt x="38099" y="542940"/>
                  </a:lnTo>
                  <a:lnTo>
                    <a:pt x="43680" y="583326"/>
                  </a:lnTo>
                  <a:lnTo>
                    <a:pt x="47399" y="594481"/>
                  </a:lnTo>
                  <a:lnTo>
                    <a:pt x="51889" y="600075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25" y="1162049"/>
              <a:ext cx="152400" cy="1524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025" y="1501774"/>
              <a:ext cx="133350" cy="1365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025" y="1835150"/>
              <a:ext cx="133350" cy="1365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025" y="2178050"/>
              <a:ext cx="133350" cy="13652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11200" y="1130300"/>
            <a:ext cx="4995545" cy="18408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Running</a:t>
            </a:r>
            <a:r>
              <a:rPr sz="1200" b="1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the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20" dirty="0">
                <a:solidFill>
                  <a:srgbClr val="1D3A5E"/>
                </a:solidFill>
                <a:latin typeface="Segoe UI"/>
                <a:cs typeface="Segoe UI"/>
              </a:rPr>
              <a:t>Test</a:t>
            </a:r>
            <a:r>
              <a:rPr sz="1200" b="1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Driver</a:t>
            </a:r>
            <a:endParaRPr sz="1200">
              <a:latin typeface="Segoe UI"/>
              <a:cs typeface="Segoe UI"/>
            </a:endParaRPr>
          </a:p>
          <a:p>
            <a:pPr marL="98425">
              <a:lnSpc>
                <a:spcPct val="100000"/>
              </a:lnSpc>
              <a:spcBef>
                <a:spcPts val="1035"/>
              </a:spcBef>
            </a:pP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Command:</a:t>
            </a:r>
            <a:r>
              <a:rPr sz="1050" b="1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Run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AutoIt3.exe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with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the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test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script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and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driver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334054"/>
                </a:solidFill>
                <a:latin typeface="Segoe UI"/>
                <a:cs typeface="Segoe UI"/>
              </a:rPr>
              <a:t>path</a:t>
            </a:r>
            <a:endParaRPr sz="1050">
              <a:latin typeface="Segoe UI"/>
              <a:cs typeface="Segoe UI"/>
            </a:endParaRPr>
          </a:p>
          <a:p>
            <a:pPr marL="98425">
              <a:lnSpc>
                <a:spcPct val="100000"/>
              </a:lnSpc>
              <a:spcBef>
                <a:spcPts val="1365"/>
              </a:spcBef>
            </a:pP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Format:</a:t>
            </a:r>
            <a:r>
              <a:rPr sz="1050" b="1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Consolas"/>
                <a:cs typeface="Consolas"/>
              </a:rPr>
              <a:t>autoit3.exe</a:t>
            </a:r>
            <a:r>
              <a:rPr sz="1050" spc="-5" dirty="0">
                <a:solidFill>
                  <a:srgbClr val="334054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334054"/>
                </a:solidFill>
                <a:latin typeface="Consolas"/>
                <a:cs typeface="Consolas"/>
              </a:rPr>
              <a:t>&lt;script.au3&gt;</a:t>
            </a:r>
            <a:r>
              <a:rPr sz="1050" spc="-10" dirty="0">
                <a:solidFill>
                  <a:srgbClr val="334054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334054"/>
                </a:solidFill>
                <a:latin typeface="Consolas"/>
                <a:cs typeface="Consolas"/>
              </a:rPr>
              <a:t>"&lt;driver_path&gt;"</a:t>
            </a:r>
            <a:r>
              <a:rPr sz="1050" spc="-5" dirty="0">
                <a:solidFill>
                  <a:srgbClr val="334054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onsolas"/>
                <a:cs typeface="Consolas"/>
              </a:rPr>
              <a:t>/test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050">
              <a:latin typeface="Consolas"/>
              <a:cs typeface="Consolas"/>
            </a:endParaRPr>
          </a:p>
          <a:p>
            <a:pPr marL="98425">
              <a:lnSpc>
                <a:spcPct val="100000"/>
              </a:lnSpc>
            </a:pP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Parameter:</a:t>
            </a:r>
            <a:r>
              <a:rPr sz="1050" b="1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The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second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parameter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must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end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with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backslash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#</a:t>
            </a:r>
            <a:r>
              <a:rPr sz="950" spc="5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Run</a:t>
            </a:r>
            <a:r>
              <a:rPr sz="950" spc="6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from</a:t>
            </a:r>
            <a:r>
              <a:rPr sz="950" spc="6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development</a:t>
            </a:r>
            <a:r>
              <a:rPr sz="950" spc="6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94A2B8"/>
                </a:solidFill>
                <a:latin typeface="Consolas"/>
                <a:cs typeface="Consolas"/>
              </a:rPr>
              <a:t>machine</a:t>
            </a:r>
            <a:endParaRPr sz="9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C:\Path\to\autoit3.exe</a:t>
            </a:r>
            <a:r>
              <a:rPr sz="950" spc="235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C:\Your\script.au3</a:t>
            </a:r>
            <a:r>
              <a:rPr sz="950" spc="240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"C:\FolderWithDriverDLL\"</a:t>
            </a:r>
            <a:r>
              <a:rPr sz="950" spc="235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E2E7F0"/>
                </a:solidFill>
                <a:latin typeface="Consolas"/>
                <a:cs typeface="Consolas"/>
              </a:rPr>
              <a:t>/test</a:t>
            </a:r>
            <a:endParaRPr sz="950">
              <a:latin typeface="Consolas"/>
              <a:cs typeface="Consola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0250" y="3432175"/>
            <a:ext cx="130175" cy="11112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20725" y="3364865"/>
            <a:ext cx="5538470" cy="387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7480">
              <a:lnSpc>
                <a:spcPct val="125000"/>
              </a:lnSpc>
              <a:spcBef>
                <a:spcPts val="95"/>
              </a:spcBef>
            </a:pPr>
            <a:r>
              <a:rPr sz="950" b="1" dirty="0">
                <a:solidFill>
                  <a:srgbClr val="91400D"/>
                </a:solidFill>
                <a:latin typeface="Segoe UI"/>
                <a:cs typeface="Segoe UI"/>
              </a:rPr>
              <a:t>Important:</a:t>
            </a:r>
            <a:r>
              <a:rPr sz="950" b="1" spc="5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The</a:t>
            </a:r>
            <a:r>
              <a:rPr sz="950" spc="6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second</a:t>
            </a:r>
            <a:r>
              <a:rPr sz="950" spc="5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parameter</a:t>
            </a:r>
            <a:r>
              <a:rPr sz="950" spc="6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specifies</a:t>
            </a:r>
            <a:r>
              <a:rPr sz="950" spc="5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the</a:t>
            </a:r>
            <a:r>
              <a:rPr sz="950" spc="6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path</a:t>
            </a:r>
            <a:r>
              <a:rPr sz="950" spc="6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to</a:t>
            </a:r>
            <a:r>
              <a:rPr sz="950" spc="5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the</a:t>
            </a:r>
            <a:r>
              <a:rPr sz="950" spc="6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folder</a:t>
            </a:r>
            <a:r>
              <a:rPr sz="950" spc="5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containing</a:t>
            </a:r>
            <a:r>
              <a:rPr sz="950" spc="6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the</a:t>
            </a:r>
            <a:r>
              <a:rPr sz="950" spc="6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driver's</a:t>
            </a:r>
            <a:r>
              <a:rPr sz="950" spc="5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DLL.</a:t>
            </a:r>
            <a:r>
              <a:rPr sz="950" spc="6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spc="-20" dirty="0">
                <a:solidFill>
                  <a:srgbClr val="91400D"/>
                </a:solidFill>
                <a:latin typeface="Segoe UI"/>
                <a:cs typeface="Segoe UI"/>
              </a:rPr>
              <a:t>This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parameter</a:t>
            </a:r>
            <a:r>
              <a:rPr sz="950" spc="4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must</a:t>
            </a:r>
            <a:r>
              <a:rPr sz="950" spc="4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end</a:t>
            </a:r>
            <a:r>
              <a:rPr sz="950" spc="4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with</a:t>
            </a:r>
            <a:r>
              <a:rPr sz="950" spc="4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91400D"/>
                </a:solidFill>
                <a:latin typeface="Segoe UI"/>
                <a:cs typeface="Segoe UI"/>
              </a:rPr>
              <a:t>a</a:t>
            </a:r>
            <a:r>
              <a:rPr sz="950" spc="4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91400D"/>
                </a:solidFill>
                <a:latin typeface="Segoe UI"/>
                <a:cs typeface="Segoe UI"/>
              </a:rPr>
              <a:t>backslash.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77368" y="4163567"/>
            <a:ext cx="6590030" cy="1551940"/>
            <a:chOff x="277368" y="4163567"/>
            <a:chExt cx="6590030" cy="1551940"/>
          </a:xfrm>
        </p:grpSpPr>
        <p:sp>
          <p:nvSpPr>
            <p:cNvPr id="20" name="object 20"/>
            <p:cNvSpPr/>
            <p:nvPr/>
          </p:nvSpPr>
          <p:spPr>
            <a:xfrm>
              <a:off x="277368" y="4163567"/>
              <a:ext cx="6590030" cy="1551940"/>
            </a:xfrm>
            <a:custGeom>
              <a:avLst/>
              <a:gdLst/>
              <a:ahLst/>
              <a:cxnLst/>
              <a:rect l="l" t="t" r="r" b="b"/>
              <a:pathLst>
                <a:path w="6590030" h="1551939">
                  <a:moveTo>
                    <a:pt x="6589775" y="1551431"/>
                  </a:moveTo>
                  <a:lnTo>
                    <a:pt x="0" y="1551431"/>
                  </a:lnTo>
                  <a:lnTo>
                    <a:pt x="0" y="0"/>
                  </a:lnTo>
                  <a:lnTo>
                    <a:pt x="6589775" y="0"/>
                  </a:lnTo>
                  <a:lnTo>
                    <a:pt x="6589775" y="94122"/>
                  </a:lnTo>
                  <a:lnTo>
                    <a:pt x="179831" y="94122"/>
                  </a:lnTo>
                  <a:lnTo>
                    <a:pt x="173263" y="94437"/>
                  </a:lnTo>
                  <a:lnTo>
                    <a:pt x="137554" y="109211"/>
                  </a:lnTo>
                  <a:lnTo>
                    <a:pt x="116011" y="141459"/>
                  </a:lnTo>
                  <a:lnTo>
                    <a:pt x="113156" y="160781"/>
                  </a:lnTo>
                  <a:lnTo>
                    <a:pt x="113156" y="1351391"/>
                  </a:lnTo>
                  <a:lnTo>
                    <a:pt x="124383" y="1388459"/>
                  </a:lnTo>
                  <a:lnTo>
                    <a:pt x="154317" y="1412991"/>
                  </a:lnTo>
                  <a:lnTo>
                    <a:pt x="179831" y="1418081"/>
                  </a:lnTo>
                  <a:lnTo>
                    <a:pt x="6589775" y="1418081"/>
                  </a:lnTo>
                  <a:lnTo>
                    <a:pt x="6589775" y="1551431"/>
                  </a:lnTo>
                  <a:close/>
                </a:path>
                <a:path w="6590030" h="1551939">
                  <a:moveTo>
                    <a:pt x="6589775" y="1418081"/>
                  </a:moveTo>
                  <a:lnTo>
                    <a:pt x="6409181" y="1418081"/>
                  </a:lnTo>
                  <a:lnTo>
                    <a:pt x="6415748" y="1417762"/>
                  </a:lnTo>
                  <a:lnTo>
                    <a:pt x="6422189" y="1416805"/>
                  </a:lnTo>
                  <a:lnTo>
                    <a:pt x="6456334" y="1398544"/>
                  </a:lnTo>
                  <a:lnTo>
                    <a:pt x="6474580" y="1364425"/>
                  </a:lnTo>
                  <a:lnTo>
                    <a:pt x="6475841" y="1351391"/>
                  </a:lnTo>
                  <a:lnTo>
                    <a:pt x="6475841" y="160781"/>
                  </a:lnTo>
                  <a:lnTo>
                    <a:pt x="6464632" y="123729"/>
                  </a:lnTo>
                  <a:lnTo>
                    <a:pt x="6434693" y="99181"/>
                  </a:lnTo>
                  <a:lnTo>
                    <a:pt x="6409181" y="94122"/>
                  </a:lnTo>
                  <a:lnTo>
                    <a:pt x="6589775" y="94122"/>
                  </a:lnTo>
                  <a:lnTo>
                    <a:pt x="6589775" y="1418081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5762" y="4252912"/>
              <a:ext cx="6372225" cy="1333500"/>
            </a:xfrm>
            <a:custGeom>
              <a:avLst/>
              <a:gdLst/>
              <a:ahLst/>
              <a:cxnLst/>
              <a:rect l="l" t="t" r="r" b="b"/>
              <a:pathLst>
                <a:path w="6372225" h="1333500">
                  <a:moveTo>
                    <a:pt x="6305473" y="1333500"/>
                  </a:moveTo>
                  <a:lnTo>
                    <a:pt x="66746" y="1333500"/>
                  </a:lnTo>
                  <a:lnTo>
                    <a:pt x="62101" y="1333042"/>
                  </a:lnTo>
                  <a:lnTo>
                    <a:pt x="24240" y="1315888"/>
                  </a:lnTo>
                  <a:lnTo>
                    <a:pt x="2287" y="1280598"/>
                  </a:lnTo>
                  <a:lnTo>
                    <a:pt x="0" y="1266748"/>
                  </a:lnTo>
                  <a:lnTo>
                    <a:pt x="0" y="1262062"/>
                  </a:lnTo>
                  <a:lnTo>
                    <a:pt x="0" y="66751"/>
                  </a:lnTo>
                  <a:lnTo>
                    <a:pt x="14645" y="27851"/>
                  </a:lnTo>
                  <a:lnTo>
                    <a:pt x="48432" y="3638"/>
                  </a:lnTo>
                  <a:lnTo>
                    <a:pt x="66746" y="0"/>
                  </a:lnTo>
                  <a:lnTo>
                    <a:pt x="6305473" y="0"/>
                  </a:lnTo>
                  <a:lnTo>
                    <a:pt x="6344373" y="14649"/>
                  </a:lnTo>
                  <a:lnTo>
                    <a:pt x="6368576" y="48434"/>
                  </a:lnTo>
                  <a:lnTo>
                    <a:pt x="6372225" y="66751"/>
                  </a:lnTo>
                  <a:lnTo>
                    <a:pt x="6372225" y="1266748"/>
                  </a:lnTo>
                  <a:lnTo>
                    <a:pt x="6357575" y="1305648"/>
                  </a:lnTo>
                  <a:lnTo>
                    <a:pt x="6323790" y="1329851"/>
                  </a:lnTo>
                  <a:lnTo>
                    <a:pt x="6310122" y="1333042"/>
                  </a:lnTo>
                  <a:lnTo>
                    <a:pt x="6305473" y="13335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5762" y="4252912"/>
              <a:ext cx="6372225" cy="1333500"/>
            </a:xfrm>
            <a:custGeom>
              <a:avLst/>
              <a:gdLst/>
              <a:ahLst/>
              <a:cxnLst/>
              <a:rect l="l" t="t" r="r" b="b"/>
              <a:pathLst>
                <a:path w="6372225" h="1333500">
                  <a:moveTo>
                    <a:pt x="0" y="1262062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102"/>
                  </a:lnTo>
                  <a:lnTo>
                    <a:pt x="17606" y="24241"/>
                  </a:lnTo>
                  <a:lnTo>
                    <a:pt x="20923" y="20926"/>
                  </a:lnTo>
                  <a:lnTo>
                    <a:pt x="24240" y="17602"/>
                  </a:lnTo>
                  <a:lnTo>
                    <a:pt x="44099" y="5438"/>
                  </a:lnTo>
                  <a:lnTo>
                    <a:pt x="48432" y="3638"/>
                  </a:lnTo>
                  <a:lnTo>
                    <a:pt x="52899" y="2286"/>
                  </a:lnTo>
                  <a:lnTo>
                    <a:pt x="57500" y="1371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300787" y="0"/>
                  </a:lnTo>
                  <a:lnTo>
                    <a:pt x="6305473" y="0"/>
                  </a:lnTo>
                  <a:lnTo>
                    <a:pt x="6310122" y="457"/>
                  </a:lnTo>
                  <a:lnTo>
                    <a:pt x="6314722" y="1371"/>
                  </a:lnTo>
                  <a:lnTo>
                    <a:pt x="6319323" y="2286"/>
                  </a:lnTo>
                  <a:lnTo>
                    <a:pt x="6323790" y="3638"/>
                  </a:lnTo>
                  <a:lnTo>
                    <a:pt x="6328124" y="5438"/>
                  </a:lnTo>
                  <a:lnTo>
                    <a:pt x="6332458" y="7229"/>
                  </a:lnTo>
                  <a:lnTo>
                    <a:pt x="6351298" y="20926"/>
                  </a:lnTo>
                  <a:lnTo>
                    <a:pt x="6354613" y="24241"/>
                  </a:lnTo>
                  <a:lnTo>
                    <a:pt x="6371767" y="62102"/>
                  </a:lnTo>
                  <a:lnTo>
                    <a:pt x="6372225" y="66751"/>
                  </a:lnTo>
                  <a:lnTo>
                    <a:pt x="6372225" y="71437"/>
                  </a:lnTo>
                  <a:lnTo>
                    <a:pt x="6372225" y="1262062"/>
                  </a:lnTo>
                  <a:lnTo>
                    <a:pt x="6372225" y="1266748"/>
                  </a:lnTo>
                  <a:lnTo>
                    <a:pt x="6371767" y="1271397"/>
                  </a:lnTo>
                  <a:lnTo>
                    <a:pt x="6354613" y="1309258"/>
                  </a:lnTo>
                  <a:lnTo>
                    <a:pt x="6351298" y="1312573"/>
                  </a:lnTo>
                  <a:lnTo>
                    <a:pt x="6347983" y="1315888"/>
                  </a:lnTo>
                  <a:lnTo>
                    <a:pt x="6328124" y="1328061"/>
                  </a:lnTo>
                  <a:lnTo>
                    <a:pt x="6323790" y="1329851"/>
                  </a:lnTo>
                  <a:lnTo>
                    <a:pt x="6319323" y="1331214"/>
                  </a:lnTo>
                  <a:lnTo>
                    <a:pt x="6314722" y="1332128"/>
                  </a:lnTo>
                  <a:lnTo>
                    <a:pt x="6310122" y="1333042"/>
                  </a:lnTo>
                  <a:lnTo>
                    <a:pt x="6305473" y="1333500"/>
                  </a:lnTo>
                  <a:lnTo>
                    <a:pt x="6300787" y="1333500"/>
                  </a:lnTo>
                  <a:lnTo>
                    <a:pt x="71437" y="1333500"/>
                  </a:lnTo>
                  <a:lnTo>
                    <a:pt x="66746" y="1333500"/>
                  </a:lnTo>
                  <a:lnTo>
                    <a:pt x="62101" y="1333042"/>
                  </a:lnTo>
                  <a:lnTo>
                    <a:pt x="57500" y="1332128"/>
                  </a:lnTo>
                  <a:lnTo>
                    <a:pt x="52899" y="1331214"/>
                  </a:lnTo>
                  <a:lnTo>
                    <a:pt x="48432" y="1329851"/>
                  </a:lnTo>
                  <a:lnTo>
                    <a:pt x="44099" y="1328061"/>
                  </a:lnTo>
                  <a:lnTo>
                    <a:pt x="39765" y="1326270"/>
                  </a:lnTo>
                  <a:lnTo>
                    <a:pt x="20923" y="1312573"/>
                  </a:lnTo>
                  <a:lnTo>
                    <a:pt x="17606" y="1309258"/>
                  </a:lnTo>
                  <a:lnTo>
                    <a:pt x="1372" y="1275997"/>
                  </a:lnTo>
                  <a:lnTo>
                    <a:pt x="457" y="1271397"/>
                  </a:lnTo>
                  <a:lnTo>
                    <a:pt x="0" y="1266748"/>
                  </a:lnTo>
                  <a:lnTo>
                    <a:pt x="0" y="1262062"/>
                  </a:lnTo>
                  <a:close/>
                </a:path>
              </a:pathLst>
            </a:custGeom>
            <a:ln w="9525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1025" y="4448175"/>
              <a:ext cx="152400" cy="1524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1025" y="4797425"/>
              <a:ext cx="101600" cy="13652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1025" y="5130800"/>
              <a:ext cx="133350" cy="136525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763587" y="4425950"/>
            <a:ext cx="511746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Debugging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Information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Log</a:t>
            </a:r>
            <a:r>
              <a:rPr sz="1050" b="1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File:</a:t>
            </a:r>
            <a:r>
              <a:rPr sz="1050" b="1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PSMGenericClientDriver.txt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will be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created with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log 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output</a:t>
            </a:r>
            <a:endParaRPr sz="1050">
              <a:latin typeface="Segoe UI"/>
              <a:cs typeface="Segoe UI"/>
            </a:endParaRPr>
          </a:p>
          <a:p>
            <a:pPr marL="45720">
              <a:lnSpc>
                <a:spcPct val="100000"/>
              </a:lnSpc>
              <a:spcBef>
                <a:spcPts val="1365"/>
              </a:spcBef>
            </a:pP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Window</a:t>
            </a:r>
            <a:r>
              <a:rPr sz="1050" b="1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b="1" dirty="0">
                <a:solidFill>
                  <a:srgbClr val="334054"/>
                </a:solidFill>
                <a:latin typeface="Segoe UI"/>
                <a:cs typeface="Segoe UI"/>
              </a:rPr>
              <a:t>Info:</a:t>
            </a:r>
            <a:r>
              <a:rPr sz="1050" b="1" spc="-1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Share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MainWindowTitle/Class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with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admin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for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Lock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Application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Window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946391" y="868679"/>
            <a:ext cx="4968240" cy="3112135"/>
            <a:chOff x="6946391" y="868679"/>
            <a:chExt cx="4968240" cy="3112135"/>
          </a:xfrm>
        </p:grpSpPr>
        <p:sp>
          <p:nvSpPr>
            <p:cNvPr id="28" name="object 28"/>
            <p:cNvSpPr/>
            <p:nvPr/>
          </p:nvSpPr>
          <p:spPr>
            <a:xfrm>
              <a:off x="6946391" y="868679"/>
              <a:ext cx="4968240" cy="3112135"/>
            </a:xfrm>
            <a:custGeom>
              <a:avLst/>
              <a:gdLst/>
              <a:ahLst/>
              <a:cxnLst/>
              <a:rect l="l" t="t" r="r" b="b"/>
              <a:pathLst>
                <a:path w="4968240" h="3112135">
                  <a:moveTo>
                    <a:pt x="4968239" y="3112007"/>
                  </a:moveTo>
                  <a:lnTo>
                    <a:pt x="0" y="3112007"/>
                  </a:lnTo>
                  <a:lnTo>
                    <a:pt x="0" y="0"/>
                  </a:lnTo>
                  <a:lnTo>
                    <a:pt x="4968239" y="0"/>
                  </a:lnTo>
                  <a:lnTo>
                    <a:pt x="4968239" y="93344"/>
                  </a:lnTo>
                  <a:lnTo>
                    <a:pt x="178307" y="93344"/>
                  </a:lnTo>
                  <a:lnTo>
                    <a:pt x="171741" y="93662"/>
                  </a:lnTo>
                  <a:lnTo>
                    <a:pt x="136024" y="108453"/>
                  </a:lnTo>
                  <a:lnTo>
                    <a:pt x="114485" y="140694"/>
                  </a:lnTo>
                  <a:lnTo>
                    <a:pt x="111617" y="160019"/>
                  </a:lnTo>
                  <a:lnTo>
                    <a:pt x="111617" y="2912760"/>
                  </a:lnTo>
                  <a:lnTo>
                    <a:pt x="122857" y="2949797"/>
                  </a:lnTo>
                  <a:lnTo>
                    <a:pt x="152796" y="2974329"/>
                  </a:lnTo>
                  <a:lnTo>
                    <a:pt x="178307" y="2979419"/>
                  </a:lnTo>
                  <a:lnTo>
                    <a:pt x="4968239" y="2979419"/>
                  </a:lnTo>
                  <a:lnTo>
                    <a:pt x="4968239" y="3112007"/>
                  </a:lnTo>
                  <a:close/>
                </a:path>
                <a:path w="4968240" h="3112135">
                  <a:moveTo>
                    <a:pt x="4968239" y="2979419"/>
                  </a:moveTo>
                  <a:lnTo>
                    <a:pt x="4788407" y="2979419"/>
                  </a:lnTo>
                  <a:lnTo>
                    <a:pt x="4794974" y="2979100"/>
                  </a:lnTo>
                  <a:lnTo>
                    <a:pt x="4801415" y="2978143"/>
                  </a:lnTo>
                  <a:lnTo>
                    <a:pt x="4835560" y="2959882"/>
                  </a:lnTo>
                  <a:lnTo>
                    <a:pt x="4853810" y="2925767"/>
                  </a:lnTo>
                  <a:lnTo>
                    <a:pt x="4855098" y="2912760"/>
                  </a:lnTo>
                  <a:lnTo>
                    <a:pt x="4855098" y="160019"/>
                  </a:lnTo>
                  <a:lnTo>
                    <a:pt x="4843858" y="122970"/>
                  </a:lnTo>
                  <a:lnTo>
                    <a:pt x="4813919" y="98419"/>
                  </a:lnTo>
                  <a:lnTo>
                    <a:pt x="4788407" y="93344"/>
                  </a:lnTo>
                  <a:lnTo>
                    <a:pt x="4968239" y="93344"/>
                  </a:lnTo>
                  <a:lnTo>
                    <a:pt x="4968239" y="2979419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053262" y="957262"/>
              <a:ext cx="4752975" cy="2895600"/>
            </a:xfrm>
            <a:custGeom>
              <a:avLst/>
              <a:gdLst/>
              <a:ahLst/>
              <a:cxnLst/>
              <a:rect l="l" t="t" r="r" b="b"/>
              <a:pathLst>
                <a:path w="4752975" h="2895600">
                  <a:moveTo>
                    <a:pt x="4686204" y="2895600"/>
                  </a:moveTo>
                  <a:lnTo>
                    <a:pt x="66751" y="2895600"/>
                  </a:lnTo>
                  <a:lnTo>
                    <a:pt x="62102" y="2895142"/>
                  </a:lnTo>
                  <a:lnTo>
                    <a:pt x="24241" y="2877988"/>
                  </a:lnTo>
                  <a:lnTo>
                    <a:pt x="2286" y="2842698"/>
                  </a:lnTo>
                  <a:lnTo>
                    <a:pt x="0" y="2828848"/>
                  </a:lnTo>
                  <a:lnTo>
                    <a:pt x="0" y="2824162"/>
                  </a:lnTo>
                  <a:lnTo>
                    <a:pt x="0" y="66751"/>
                  </a:lnTo>
                  <a:lnTo>
                    <a:pt x="14639" y="27851"/>
                  </a:lnTo>
                  <a:lnTo>
                    <a:pt x="48434" y="3638"/>
                  </a:lnTo>
                  <a:lnTo>
                    <a:pt x="66751" y="0"/>
                  </a:lnTo>
                  <a:lnTo>
                    <a:pt x="4686204" y="0"/>
                  </a:lnTo>
                  <a:lnTo>
                    <a:pt x="4725161" y="14649"/>
                  </a:lnTo>
                  <a:lnTo>
                    <a:pt x="4749355" y="48434"/>
                  </a:lnTo>
                  <a:lnTo>
                    <a:pt x="4752975" y="66751"/>
                  </a:lnTo>
                  <a:lnTo>
                    <a:pt x="4752975" y="2828848"/>
                  </a:lnTo>
                  <a:lnTo>
                    <a:pt x="4738306" y="2867748"/>
                  </a:lnTo>
                  <a:lnTo>
                    <a:pt x="4704588" y="2891951"/>
                  </a:lnTo>
                  <a:lnTo>
                    <a:pt x="4690872" y="2895142"/>
                  </a:lnTo>
                  <a:lnTo>
                    <a:pt x="4686204" y="28956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053262" y="957262"/>
              <a:ext cx="4752975" cy="2895600"/>
            </a:xfrm>
            <a:custGeom>
              <a:avLst/>
              <a:gdLst/>
              <a:ahLst/>
              <a:cxnLst/>
              <a:rect l="l" t="t" r="r" b="b"/>
              <a:pathLst>
                <a:path w="4752975" h="2895600">
                  <a:moveTo>
                    <a:pt x="0" y="2824162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103"/>
                  </a:lnTo>
                  <a:lnTo>
                    <a:pt x="1371" y="57502"/>
                  </a:lnTo>
                  <a:lnTo>
                    <a:pt x="2286" y="52901"/>
                  </a:lnTo>
                  <a:lnTo>
                    <a:pt x="3638" y="48434"/>
                  </a:lnTo>
                  <a:lnTo>
                    <a:pt x="5438" y="44100"/>
                  </a:lnTo>
                  <a:lnTo>
                    <a:pt x="7229" y="39766"/>
                  </a:lnTo>
                  <a:lnTo>
                    <a:pt x="9429" y="35652"/>
                  </a:lnTo>
                  <a:lnTo>
                    <a:pt x="12039" y="31746"/>
                  </a:lnTo>
                  <a:lnTo>
                    <a:pt x="14639" y="27851"/>
                  </a:lnTo>
                  <a:lnTo>
                    <a:pt x="17602" y="24241"/>
                  </a:lnTo>
                  <a:lnTo>
                    <a:pt x="20926" y="20926"/>
                  </a:lnTo>
                  <a:lnTo>
                    <a:pt x="24241" y="17602"/>
                  </a:lnTo>
                  <a:lnTo>
                    <a:pt x="44100" y="5438"/>
                  </a:lnTo>
                  <a:lnTo>
                    <a:pt x="48434" y="3638"/>
                  </a:lnTo>
                  <a:lnTo>
                    <a:pt x="52901" y="2285"/>
                  </a:lnTo>
                  <a:lnTo>
                    <a:pt x="57502" y="1371"/>
                  </a:lnTo>
                  <a:lnTo>
                    <a:pt x="62102" y="457"/>
                  </a:lnTo>
                  <a:lnTo>
                    <a:pt x="66751" y="0"/>
                  </a:lnTo>
                  <a:lnTo>
                    <a:pt x="71437" y="0"/>
                  </a:lnTo>
                  <a:lnTo>
                    <a:pt x="4681537" y="0"/>
                  </a:lnTo>
                  <a:lnTo>
                    <a:pt x="4686204" y="0"/>
                  </a:lnTo>
                  <a:lnTo>
                    <a:pt x="4690872" y="457"/>
                  </a:lnTo>
                  <a:lnTo>
                    <a:pt x="4695444" y="1371"/>
                  </a:lnTo>
                  <a:lnTo>
                    <a:pt x="4700111" y="2285"/>
                  </a:lnTo>
                  <a:lnTo>
                    <a:pt x="4704588" y="3638"/>
                  </a:lnTo>
                  <a:lnTo>
                    <a:pt x="4708874" y="5438"/>
                  </a:lnTo>
                  <a:lnTo>
                    <a:pt x="4713255" y="7229"/>
                  </a:lnTo>
                  <a:lnTo>
                    <a:pt x="4732019" y="20926"/>
                  </a:lnTo>
                  <a:lnTo>
                    <a:pt x="4735353" y="24241"/>
                  </a:lnTo>
                  <a:lnTo>
                    <a:pt x="4747545" y="44100"/>
                  </a:lnTo>
                  <a:lnTo>
                    <a:pt x="4749355" y="48434"/>
                  </a:lnTo>
                  <a:lnTo>
                    <a:pt x="4750688" y="52901"/>
                  </a:lnTo>
                  <a:lnTo>
                    <a:pt x="4751641" y="57502"/>
                  </a:lnTo>
                  <a:lnTo>
                    <a:pt x="4752498" y="62103"/>
                  </a:lnTo>
                  <a:lnTo>
                    <a:pt x="4752975" y="66751"/>
                  </a:lnTo>
                  <a:lnTo>
                    <a:pt x="4752975" y="71437"/>
                  </a:lnTo>
                  <a:lnTo>
                    <a:pt x="4752975" y="2824162"/>
                  </a:lnTo>
                  <a:lnTo>
                    <a:pt x="4752975" y="2828848"/>
                  </a:lnTo>
                  <a:lnTo>
                    <a:pt x="4752498" y="2833497"/>
                  </a:lnTo>
                  <a:lnTo>
                    <a:pt x="4735353" y="2871358"/>
                  </a:lnTo>
                  <a:lnTo>
                    <a:pt x="4732019" y="2874673"/>
                  </a:lnTo>
                  <a:lnTo>
                    <a:pt x="4728781" y="2877988"/>
                  </a:lnTo>
                  <a:lnTo>
                    <a:pt x="4708874" y="2890161"/>
                  </a:lnTo>
                  <a:lnTo>
                    <a:pt x="4704588" y="2891951"/>
                  </a:lnTo>
                  <a:lnTo>
                    <a:pt x="4700111" y="2893314"/>
                  </a:lnTo>
                  <a:lnTo>
                    <a:pt x="4695444" y="2894228"/>
                  </a:lnTo>
                  <a:lnTo>
                    <a:pt x="4690872" y="2895142"/>
                  </a:lnTo>
                  <a:lnTo>
                    <a:pt x="4686204" y="2895600"/>
                  </a:lnTo>
                  <a:lnTo>
                    <a:pt x="4681537" y="2895600"/>
                  </a:lnTo>
                  <a:lnTo>
                    <a:pt x="71437" y="2895600"/>
                  </a:lnTo>
                  <a:lnTo>
                    <a:pt x="66751" y="2895600"/>
                  </a:lnTo>
                  <a:lnTo>
                    <a:pt x="62102" y="2895142"/>
                  </a:lnTo>
                  <a:lnTo>
                    <a:pt x="57502" y="2894228"/>
                  </a:lnTo>
                  <a:lnTo>
                    <a:pt x="52901" y="2893314"/>
                  </a:lnTo>
                  <a:lnTo>
                    <a:pt x="48434" y="2891951"/>
                  </a:lnTo>
                  <a:lnTo>
                    <a:pt x="44100" y="2890161"/>
                  </a:lnTo>
                  <a:lnTo>
                    <a:pt x="39766" y="2888370"/>
                  </a:lnTo>
                  <a:lnTo>
                    <a:pt x="20926" y="2874673"/>
                  </a:lnTo>
                  <a:lnTo>
                    <a:pt x="17602" y="2871358"/>
                  </a:lnTo>
                  <a:lnTo>
                    <a:pt x="14639" y="2867748"/>
                  </a:lnTo>
                  <a:lnTo>
                    <a:pt x="12039" y="2863853"/>
                  </a:lnTo>
                  <a:lnTo>
                    <a:pt x="9429" y="2859947"/>
                  </a:lnTo>
                  <a:lnTo>
                    <a:pt x="7229" y="2855833"/>
                  </a:lnTo>
                  <a:lnTo>
                    <a:pt x="5438" y="2851499"/>
                  </a:lnTo>
                  <a:lnTo>
                    <a:pt x="3638" y="2847165"/>
                  </a:lnTo>
                  <a:lnTo>
                    <a:pt x="2286" y="2842698"/>
                  </a:lnTo>
                  <a:lnTo>
                    <a:pt x="1371" y="2838097"/>
                  </a:lnTo>
                  <a:lnTo>
                    <a:pt x="457" y="2833497"/>
                  </a:lnTo>
                  <a:lnTo>
                    <a:pt x="0" y="2828848"/>
                  </a:lnTo>
                  <a:lnTo>
                    <a:pt x="0" y="2824162"/>
                  </a:lnTo>
                  <a:close/>
                </a:path>
              </a:pathLst>
            </a:custGeom>
            <a:ln w="9525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48524" y="1171574"/>
              <a:ext cx="152400" cy="13335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48524" y="1447799"/>
              <a:ext cx="228600" cy="2286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48524" y="2162175"/>
              <a:ext cx="228600" cy="2286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48524" y="2714624"/>
              <a:ext cx="228600" cy="2286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48524" y="3267074"/>
              <a:ext cx="228600" cy="22860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7317082" y="1130300"/>
            <a:ext cx="3894454" cy="2555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1D3A5E"/>
                </a:solidFill>
                <a:latin typeface="Segoe UI"/>
                <a:cs typeface="Segoe UI"/>
              </a:rPr>
              <a:t>Test</a:t>
            </a:r>
            <a:r>
              <a:rPr sz="1200" b="1" spc="-3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Execution</a:t>
            </a:r>
            <a:r>
              <a:rPr sz="1200" b="1" spc="-3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20" dirty="0">
                <a:solidFill>
                  <a:srgbClr val="1D3A5E"/>
                </a:solidFill>
                <a:latin typeface="Segoe UI"/>
                <a:cs typeface="Segoe UI"/>
              </a:rPr>
              <a:t>Steps</a:t>
            </a:r>
            <a:endParaRPr sz="1200">
              <a:latin typeface="Segoe UI"/>
              <a:cs typeface="Segoe UI"/>
            </a:endParaRPr>
          </a:p>
          <a:p>
            <a:pPr marL="254635" indent="-232410">
              <a:lnSpc>
                <a:spcPct val="100000"/>
              </a:lnSpc>
              <a:spcBef>
                <a:spcPts val="1035"/>
              </a:spcBef>
              <a:buClr>
                <a:srgbClr val="FFFFFF"/>
              </a:buClr>
              <a:buSzPct val="75000"/>
              <a:buAutoNum type="arabicPlain"/>
              <a:tabLst>
                <a:tab pos="254635" algn="l"/>
              </a:tabLst>
            </a:pPr>
            <a:r>
              <a:rPr sz="1200" dirty="0">
                <a:solidFill>
                  <a:srgbClr val="1D3A5E"/>
                </a:solidFill>
                <a:latin typeface="Segoe UI Semibold"/>
                <a:cs typeface="Segoe UI Semibold"/>
              </a:rPr>
              <a:t>Copy</a:t>
            </a:r>
            <a:r>
              <a:rPr sz="1200" spc="-4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1200" spc="-20" dirty="0">
                <a:solidFill>
                  <a:srgbClr val="1D3A5E"/>
                </a:solidFill>
                <a:latin typeface="Segoe UI Semibold"/>
                <a:cs typeface="Segoe UI Semibold"/>
              </a:rPr>
              <a:t>Test</a:t>
            </a:r>
            <a:r>
              <a:rPr sz="1200" spc="-3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1200" spc="-20" dirty="0">
                <a:solidFill>
                  <a:srgbClr val="1D3A5E"/>
                </a:solidFill>
                <a:latin typeface="Segoe UI Semibold"/>
                <a:cs typeface="Segoe UI Semibold"/>
              </a:rPr>
              <a:t>Files</a:t>
            </a:r>
            <a:endParaRPr sz="1200">
              <a:latin typeface="Segoe UI Semibold"/>
              <a:cs typeface="Segoe UI Semibold"/>
            </a:endParaRPr>
          </a:p>
          <a:p>
            <a:pPr marL="255270" marR="5080">
              <a:lnSpc>
                <a:spcPct val="111800"/>
              </a:lnSpc>
              <a:spcBef>
                <a:spcPts val="400"/>
              </a:spcBef>
            </a:pPr>
            <a:r>
              <a:rPr sz="950" spc="10" dirty="0">
                <a:solidFill>
                  <a:srgbClr val="64738B"/>
                </a:solidFill>
                <a:latin typeface="Segoe UI"/>
                <a:cs typeface="Segoe UI"/>
              </a:rPr>
              <a:t>Copy</a:t>
            </a:r>
            <a:r>
              <a:rPr sz="950" spc="5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spc="10" dirty="0">
                <a:solidFill>
                  <a:srgbClr val="64738B"/>
                </a:solidFill>
                <a:latin typeface="Segoe UI"/>
                <a:cs typeface="Segoe UI"/>
              </a:rPr>
              <a:t>PSMGenericClientDriver.dll,</a:t>
            </a:r>
            <a:r>
              <a:rPr sz="950" spc="6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spc="10" dirty="0">
                <a:solidFill>
                  <a:srgbClr val="64738B"/>
                </a:solidFill>
                <a:latin typeface="Segoe UI"/>
                <a:cs typeface="Segoe UI"/>
              </a:rPr>
              <a:t>PSMGenericClientDriver.xml,</a:t>
            </a:r>
            <a:r>
              <a:rPr sz="950" spc="5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spc="-25" dirty="0">
                <a:solidFill>
                  <a:srgbClr val="64738B"/>
                </a:solidFill>
                <a:latin typeface="Segoe UI"/>
                <a:cs typeface="Segoe UI"/>
              </a:rPr>
              <a:t>and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PSMGenericClientWrapper.au3</a:t>
            </a:r>
            <a:r>
              <a:rPr sz="950" spc="10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50" spc="1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your</a:t>
            </a:r>
            <a:r>
              <a:rPr sz="950" spc="1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development</a:t>
            </a:r>
            <a:r>
              <a:rPr sz="950" spc="10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64738B"/>
                </a:solidFill>
                <a:latin typeface="Segoe UI"/>
                <a:cs typeface="Segoe UI"/>
              </a:rPr>
              <a:t>folder</a:t>
            </a:r>
            <a:endParaRPr sz="950">
              <a:latin typeface="Segoe UI"/>
              <a:cs typeface="Segoe UI"/>
            </a:endParaRPr>
          </a:p>
          <a:p>
            <a:pPr marL="254635" indent="-241300">
              <a:lnSpc>
                <a:spcPct val="100000"/>
              </a:lnSpc>
              <a:spcBef>
                <a:spcPts val="1235"/>
              </a:spcBef>
              <a:buClr>
                <a:srgbClr val="FFFFFF"/>
              </a:buClr>
              <a:buSzPct val="75000"/>
              <a:buAutoNum type="arabicPlain" startAt="2"/>
              <a:tabLst>
                <a:tab pos="254635" algn="l"/>
              </a:tabLst>
            </a:pPr>
            <a:r>
              <a:rPr sz="1200" dirty="0">
                <a:solidFill>
                  <a:srgbClr val="1D3A5E"/>
                </a:solidFill>
                <a:latin typeface="Segoe UI Semibold"/>
                <a:cs typeface="Segoe UI Semibold"/>
              </a:rPr>
              <a:t>Configure</a:t>
            </a:r>
            <a:r>
              <a:rPr sz="1200" spc="-3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1200" dirty="0">
                <a:solidFill>
                  <a:srgbClr val="1D3A5E"/>
                </a:solidFill>
                <a:latin typeface="Segoe UI Semibold"/>
                <a:cs typeface="Segoe UI Semibold"/>
              </a:rPr>
              <a:t>Session</a:t>
            </a:r>
            <a:r>
              <a:rPr sz="1200" spc="-3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120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Properties</a:t>
            </a:r>
            <a:endParaRPr sz="1200">
              <a:latin typeface="Segoe UI Semibold"/>
              <a:cs typeface="Segoe UI Semibold"/>
            </a:endParaRPr>
          </a:p>
          <a:p>
            <a:pPr marL="255270">
              <a:lnSpc>
                <a:spcPct val="100000"/>
              </a:lnSpc>
              <a:spcBef>
                <a:spcPts val="535"/>
              </a:spcBef>
            </a:pP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Update</a:t>
            </a:r>
            <a:r>
              <a:rPr sz="950" spc="6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SessionProperties</a:t>
            </a:r>
            <a:r>
              <a:rPr sz="950" spc="6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in</a:t>
            </a:r>
            <a:r>
              <a:rPr sz="950" spc="6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XML</a:t>
            </a:r>
            <a:r>
              <a:rPr sz="950" spc="7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with</a:t>
            </a:r>
            <a:r>
              <a:rPr sz="950" spc="6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realistic</a:t>
            </a:r>
            <a:r>
              <a:rPr sz="950" spc="6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test</a:t>
            </a:r>
            <a:r>
              <a:rPr sz="950" spc="7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64738B"/>
                </a:solidFill>
                <a:latin typeface="Segoe UI"/>
                <a:cs typeface="Segoe UI"/>
              </a:rPr>
              <a:t>values</a:t>
            </a:r>
            <a:endParaRPr sz="950">
              <a:latin typeface="Segoe UI"/>
              <a:cs typeface="Segoe UI"/>
            </a:endParaRPr>
          </a:p>
          <a:p>
            <a:pPr marL="254635" indent="-241300">
              <a:lnSpc>
                <a:spcPct val="100000"/>
              </a:lnSpc>
              <a:spcBef>
                <a:spcPts val="1235"/>
              </a:spcBef>
              <a:buClr>
                <a:srgbClr val="FFFFFF"/>
              </a:buClr>
              <a:buSzPct val="75000"/>
              <a:buAutoNum type="arabicPlain" startAt="3"/>
              <a:tabLst>
                <a:tab pos="254635" algn="l"/>
              </a:tabLst>
            </a:pPr>
            <a:r>
              <a:rPr sz="1200" dirty="0">
                <a:solidFill>
                  <a:srgbClr val="1D3A5E"/>
                </a:solidFill>
                <a:latin typeface="Segoe UI Semibold"/>
                <a:cs typeface="Segoe UI Semibold"/>
              </a:rPr>
              <a:t>Run</a:t>
            </a:r>
            <a:r>
              <a:rPr sz="1200" spc="-3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1200" spc="-20" dirty="0">
                <a:solidFill>
                  <a:srgbClr val="1D3A5E"/>
                </a:solidFill>
                <a:latin typeface="Segoe UI Semibold"/>
                <a:cs typeface="Segoe UI Semibold"/>
              </a:rPr>
              <a:t>Test</a:t>
            </a:r>
            <a:r>
              <a:rPr sz="1200" spc="-3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120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Command</a:t>
            </a:r>
            <a:endParaRPr sz="1200">
              <a:latin typeface="Segoe UI Semibold"/>
              <a:cs typeface="Segoe UI Semibold"/>
            </a:endParaRPr>
          </a:p>
          <a:p>
            <a:pPr marL="255270">
              <a:lnSpc>
                <a:spcPct val="100000"/>
              </a:lnSpc>
              <a:spcBef>
                <a:spcPts val="535"/>
              </a:spcBef>
            </a:pP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Execute</a:t>
            </a:r>
            <a:r>
              <a:rPr sz="950" spc="4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50" spc="4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AutoIt</a:t>
            </a:r>
            <a:r>
              <a:rPr sz="950" spc="4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script</a:t>
            </a:r>
            <a:r>
              <a:rPr sz="950" spc="5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with</a:t>
            </a:r>
            <a:r>
              <a:rPr sz="950" spc="4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50" spc="4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/test</a:t>
            </a:r>
            <a:r>
              <a:rPr sz="950" spc="5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64738B"/>
                </a:solidFill>
                <a:latin typeface="Segoe UI"/>
                <a:cs typeface="Segoe UI"/>
              </a:rPr>
              <a:t>parameter</a:t>
            </a:r>
            <a:endParaRPr sz="950">
              <a:latin typeface="Segoe UI"/>
              <a:cs typeface="Segoe UI"/>
            </a:endParaRPr>
          </a:p>
          <a:p>
            <a:pPr marL="254635" indent="-241935">
              <a:lnSpc>
                <a:spcPct val="100000"/>
              </a:lnSpc>
              <a:spcBef>
                <a:spcPts val="1235"/>
              </a:spcBef>
              <a:buClr>
                <a:srgbClr val="FFFFFF"/>
              </a:buClr>
              <a:buSzPct val="75000"/>
              <a:buAutoNum type="arabicPlain" startAt="4"/>
              <a:tabLst>
                <a:tab pos="254635" algn="l"/>
              </a:tabLst>
            </a:pPr>
            <a:r>
              <a:rPr sz="1200" dirty="0">
                <a:solidFill>
                  <a:srgbClr val="1D3A5E"/>
                </a:solidFill>
                <a:latin typeface="Segoe UI Semibold"/>
                <a:cs typeface="Segoe UI Semibold"/>
              </a:rPr>
              <a:t>Review</a:t>
            </a:r>
            <a:r>
              <a:rPr sz="1200" spc="-7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1200" spc="-20" dirty="0">
                <a:solidFill>
                  <a:srgbClr val="1D3A5E"/>
                </a:solidFill>
                <a:latin typeface="Segoe UI Semibold"/>
                <a:cs typeface="Segoe UI Semibold"/>
              </a:rPr>
              <a:t>Logs</a:t>
            </a:r>
            <a:endParaRPr sz="1200">
              <a:latin typeface="Segoe UI Semibold"/>
              <a:cs typeface="Segoe UI Semibold"/>
            </a:endParaRPr>
          </a:p>
          <a:p>
            <a:pPr marL="255270">
              <a:lnSpc>
                <a:spcPct val="100000"/>
              </a:lnSpc>
              <a:spcBef>
                <a:spcPts val="535"/>
              </a:spcBef>
            </a:pP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Check</a:t>
            </a:r>
            <a:r>
              <a:rPr sz="950" spc="8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PSMGenericClientDriver.txt</a:t>
            </a:r>
            <a:r>
              <a:rPr sz="950" spc="8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for</a:t>
            </a:r>
            <a:r>
              <a:rPr sz="950" spc="8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output</a:t>
            </a:r>
            <a:r>
              <a:rPr sz="950" spc="8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and</a:t>
            </a:r>
            <a:r>
              <a:rPr sz="950" spc="8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64738B"/>
                </a:solidFill>
                <a:latin typeface="Segoe UI"/>
                <a:cs typeface="Segoe UI"/>
              </a:rPr>
              <a:t>errors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946391" y="3962399"/>
            <a:ext cx="4968240" cy="1892935"/>
            <a:chOff x="6946391" y="3962399"/>
            <a:chExt cx="4968240" cy="1892935"/>
          </a:xfrm>
        </p:grpSpPr>
        <p:sp>
          <p:nvSpPr>
            <p:cNvPr id="38" name="object 38"/>
            <p:cNvSpPr/>
            <p:nvPr/>
          </p:nvSpPr>
          <p:spPr>
            <a:xfrm>
              <a:off x="6946391" y="3962399"/>
              <a:ext cx="4968240" cy="1892935"/>
            </a:xfrm>
            <a:custGeom>
              <a:avLst/>
              <a:gdLst/>
              <a:ahLst/>
              <a:cxnLst/>
              <a:rect l="l" t="t" r="r" b="b"/>
              <a:pathLst>
                <a:path w="4968240" h="1892935">
                  <a:moveTo>
                    <a:pt x="4968239" y="1892807"/>
                  </a:moveTo>
                  <a:lnTo>
                    <a:pt x="0" y="1892807"/>
                  </a:lnTo>
                  <a:lnTo>
                    <a:pt x="0" y="0"/>
                  </a:lnTo>
                  <a:lnTo>
                    <a:pt x="4968239" y="0"/>
                  </a:lnTo>
                  <a:lnTo>
                    <a:pt x="4968239" y="95249"/>
                  </a:lnTo>
                  <a:lnTo>
                    <a:pt x="178307" y="95249"/>
                  </a:lnTo>
                  <a:lnTo>
                    <a:pt x="171741" y="95569"/>
                  </a:lnTo>
                  <a:lnTo>
                    <a:pt x="136024" y="110369"/>
                  </a:lnTo>
                  <a:lnTo>
                    <a:pt x="114485" y="142587"/>
                  </a:lnTo>
                  <a:lnTo>
                    <a:pt x="111617" y="161909"/>
                  </a:lnTo>
                  <a:lnTo>
                    <a:pt x="111617" y="1695449"/>
                  </a:lnTo>
                  <a:lnTo>
                    <a:pt x="122857" y="1732502"/>
                  </a:lnTo>
                  <a:lnTo>
                    <a:pt x="152796" y="1757050"/>
                  </a:lnTo>
                  <a:lnTo>
                    <a:pt x="178307" y="1762140"/>
                  </a:lnTo>
                  <a:lnTo>
                    <a:pt x="4968239" y="1762140"/>
                  </a:lnTo>
                  <a:lnTo>
                    <a:pt x="4968239" y="1892807"/>
                  </a:lnTo>
                  <a:close/>
                </a:path>
                <a:path w="4968240" h="1892935">
                  <a:moveTo>
                    <a:pt x="4968239" y="1762140"/>
                  </a:moveTo>
                  <a:lnTo>
                    <a:pt x="4788407" y="1762140"/>
                  </a:lnTo>
                  <a:lnTo>
                    <a:pt x="4794974" y="1761807"/>
                  </a:lnTo>
                  <a:lnTo>
                    <a:pt x="4801415" y="1760852"/>
                  </a:lnTo>
                  <a:lnTo>
                    <a:pt x="4835560" y="1742602"/>
                  </a:lnTo>
                  <a:lnTo>
                    <a:pt x="4853810" y="1708457"/>
                  </a:lnTo>
                  <a:lnTo>
                    <a:pt x="4855098" y="1695449"/>
                  </a:lnTo>
                  <a:lnTo>
                    <a:pt x="4855098" y="161909"/>
                  </a:lnTo>
                  <a:lnTo>
                    <a:pt x="4843858" y="124872"/>
                  </a:lnTo>
                  <a:lnTo>
                    <a:pt x="4813919" y="100340"/>
                  </a:lnTo>
                  <a:lnTo>
                    <a:pt x="4788407" y="95249"/>
                  </a:lnTo>
                  <a:lnTo>
                    <a:pt x="4968239" y="95249"/>
                  </a:lnTo>
                  <a:lnTo>
                    <a:pt x="4968239" y="176214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053262" y="4052887"/>
              <a:ext cx="4752975" cy="1676400"/>
            </a:xfrm>
            <a:custGeom>
              <a:avLst/>
              <a:gdLst/>
              <a:ahLst/>
              <a:cxnLst/>
              <a:rect l="l" t="t" r="r" b="b"/>
              <a:pathLst>
                <a:path w="4752975" h="1676400">
                  <a:moveTo>
                    <a:pt x="4686204" y="1676400"/>
                  </a:moveTo>
                  <a:lnTo>
                    <a:pt x="66751" y="1676400"/>
                  </a:lnTo>
                  <a:lnTo>
                    <a:pt x="62102" y="1675942"/>
                  </a:lnTo>
                  <a:lnTo>
                    <a:pt x="24241" y="1658788"/>
                  </a:lnTo>
                  <a:lnTo>
                    <a:pt x="2286" y="1623498"/>
                  </a:lnTo>
                  <a:lnTo>
                    <a:pt x="0" y="1609648"/>
                  </a:lnTo>
                  <a:lnTo>
                    <a:pt x="0" y="1604962"/>
                  </a:lnTo>
                  <a:lnTo>
                    <a:pt x="0" y="66751"/>
                  </a:lnTo>
                  <a:lnTo>
                    <a:pt x="14639" y="27851"/>
                  </a:lnTo>
                  <a:lnTo>
                    <a:pt x="48434" y="3638"/>
                  </a:lnTo>
                  <a:lnTo>
                    <a:pt x="66751" y="0"/>
                  </a:lnTo>
                  <a:lnTo>
                    <a:pt x="4686204" y="0"/>
                  </a:lnTo>
                  <a:lnTo>
                    <a:pt x="4725161" y="14649"/>
                  </a:lnTo>
                  <a:lnTo>
                    <a:pt x="4749355" y="48434"/>
                  </a:lnTo>
                  <a:lnTo>
                    <a:pt x="4752975" y="66751"/>
                  </a:lnTo>
                  <a:lnTo>
                    <a:pt x="4752975" y="1609648"/>
                  </a:lnTo>
                  <a:lnTo>
                    <a:pt x="4738306" y="1648548"/>
                  </a:lnTo>
                  <a:lnTo>
                    <a:pt x="4704588" y="1672751"/>
                  </a:lnTo>
                  <a:lnTo>
                    <a:pt x="4690872" y="1675942"/>
                  </a:lnTo>
                  <a:lnTo>
                    <a:pt x="4686204" y="1676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053262" y="4052887"/>
              <a:ext cx="4752975" cy="1676400"/>
            </a:xfrm>
            <a:custGeom>
              <a:avLst/>
              <a:gdLst/>
              <a:ahLst/>
              <a:cxnLst/>
              <a:rect l="l" t="t" r="r" b="b"/>
              <a:pathLst>
                <a:path w="4752975" h="1676400">
                  <a:moveTo>
                    <a:pt x="0" y="1604962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102"/>
                  </a:lnTo>
                  <a:lnTo>
                    <a:pt x="1371" y="57502"/>
                  </a:lnTo>
                  <a:lnTo>
                    <a:pt x="2286" y="52901"/>
                  </a:lnTo>
                  <a:lnTo>
                    <a:pt x="3638" y="48434"/>
                  </a:lnTo>
                  <a:lnTo>
                    <a:pt x="5438" y="44100"/>
                  </a:lnTo>
                  <a:lnTo>
                    <a:pt x="7229" y="39766"/>
                  </a:lnTo>
                  <a:lnTo>
                    <a:pt x="9429" y="35652"/>
                  </a:lnTo>
                  <a:lnTo>
                    <a:pt x="12039" y="31746"/>
                  </a:lnTo>
                  <a:lnTo>
                    <a:pt x="14639" y="27851"/>
                  </a:lnTo>
                  <a:lnTo>
                    <a:pt x="17602" y="24241"/>
                  </a:lnTo>
                  <a:lnTo>
                    <a:pt x="20926" y="20926"/>
                  </a:lnTo>
                  <a:lnTo>
                    <a:pt x="24241" y="17602"/>
                  </a:lnTo>
                  <a:lnTo>
                    <a:pt x="44100" y="5438"/>
                  </a:lnTo>
                  <a:lnTo>
                    <a:pt x="48434" y="3638"/>
                  </a:lnTo>
                  <a:lnTo>
                    <a:pt x="52901" y="2286"/>
                  </a:lnTo>
                  <a:lnTo>
                    <a:pt x="57502" y="1371"/>
                  </a:lnTo>
                  <a:lnTo>
                    <a:pt x="62102" y="457"/>
                  </a:lnTo>
                  <a:lnTo>
                    <a:pt x="66751" y="0"/>
                  </a:lnTo>
                  <a:lnTo>
                    <a:pt x="71437" y="0"/>
                  </a:lnTo>
                  <a:lnTo>
                    <a:pt x="4681537" y="0"/>
                  </a:lnTo>
                  <a:lnTo>
                    <a:pt x="4686204" y="0"/>
                  </a:lnTo>
                  <a:lnTo>
                    <a:pt x="4690872" y="457"/>
                  </a:lnTo>
                  <a:lnTo>
                    <a:pt x="4695444" y="1371"/>
                  </a:lnTo>
                  <a:lnTo>
                    <a:pt x="4700111" y="2286"/>
                  </a:lnTo>
                  <a:lnTo>
                    <a:pt x="4704588" y="3638"/>
                  </a:lnTo>
                  <a:lnTo>
                    <a:pt x="4708874" y="5438"/>
                  </a:lnTo>
                  <a:lnTo>
                    <a:pt x="4713255" y="7229"/>
                  </a:lnTo>
                  <a:lnTo>
                    <a:pt x="4732019" y="20926"/>
                  </a:lnTo>
                  <a:lnTo>
                    <a:pt x="4735353" y="24241"/>
                  </a:lnTo>
                  <a:lnTo>
                    <a:pt x="4752498" y="62102"/>
                  </a:lnTo>
                  <a:lnTo>
                    <a:pt x="4752975" y="66751"/>
                  </a:lnTo>
                  <a:lnTo>
                    <a:pt x="4752975" y="71437"/>
                  </a:lnTo>
                  <a:lnTo>
                    <a:pt x="4752975" y="1604962"/>
                  </a:lnTo>
                  <a:lnTo>
                    <a:pt x="4752975" y="1609648"/>
                  </a:lnTo>
                  <a:lnTo>
                    <a:pt x="4752498" y="1614297"/>
                  </a:lnTo>
                  <a:lnTo>
                    <a:pt x="4735353" y="1652158"/>
                  </a:lnTo>
                  <a:lnTo>
                    <a:pt x="4732019" y="1655473"/>
                  </a:lnTo>
                  <a:lnTo>
                    <a:pt x="4728781" y="1658788"/>
                  </a:lnTo>
                  <a:lnTo>
                    <a:pt x="4708874" y="1670961"/>
                  </a:lnTo>
                  <a:lnTo>
                    <a:pt x="4704588" y="1672751"/>
                  </a:lnTo>
                  <a:lnTo>
                    <a:pt x="4700111" y="1674114"/>
                  </a:lnTo>
                  <a:lnTo>
                    <a:pt x="4695444" y="1675028"/>
                  </a:lnTo>
                  <a:lnTo>
                    <a:pt x="4690872" y="1675942"/>
                  </a:lnTo>
                  <a:lnTo>
                    <a:pt x="4686204" y="1676400"/>
                  </a:lnTo>
                  <a:lnTo>
                    <a:pt x="4681537" y="1676400"/>
                  </a:lnTo>
                  <a:lnTo>
                    <a:pt x="71437" y="1676400"/>
                  </a:lnTo>
                  <a:lnTo>
                    <a:pt x="66751" y="1676400"/>
                  </a:lnTo>
                  <a:lnTo>
                    <a:pt x="62102" y="1675942"/>
                  </a:lnTo>
                  <a:lnTo>
                    <a:pt x="57502" y="1675028"/>
                  </a:lnTo>
                  <a:lnTo>
                    <a:pt x="52901" y="1674114"/>
                  </a:lnTo>
                  <a:lnTo>
                    <a:pt x="48434" y="1672751"/>
                  </a:lnTo>
                  <a:lnTo>
                    <a:pt x="44100" y="1670961"/>
                  </a:lnTo>
                  <a:lnTo>
                    <a:pt x="39766" y="1669170"/>
                  </a:lnTo>
                  <a:lnTo>
                    <a:pt x="20926" y="1655473"/>
                  </a:lnTo>
                  <a:lnTo>
                    <a:pt x="17602" y="1652158"/>
                  </a:lnTo>
                  <a:lnTo>
                    <a:pt x="14639" y="1648548"/>
                  </a:lnTo>
                  <a:lnTo>
                    <a:pt x="12039" y="1644653"/>
                  </a:lnTo>
                  <a:lnTo>
                    <a:pt x="9429" y="1640747"/>
                  </a:lnTo>
                  <a:lnTo>
                    <a:pt x="7229" y="1636633"/>
                  </a:lnTo>
                  <a:lnTo>
                    <a:pt x="5438" y="1632299"/>
                  </a:lnTo>
                  <a:lnTo>
                    <a:pt x="3638" y="1627965"/>
                  </a:lnTo>
                  <a:lnTo>
                    <a:pt x="2286" y="1623498"/>
                  </a:lnTo>
                  <a:lnTo>
                    <a:pt x="1371" y="1618897"/>
                  </a:lnTo>
                  <a:lnTo>
                    <a:pt x="457" y="1614297"/>
                  </a:lnTo>
                  <a:lnTo>
                    <a:pt x="0" y="1609648"/>
                  </a:lnTo>
                  <a:lnTo>
                    <a:pt x="0" y="1604962"/>
                  </a:lnTo>
                  <a:close/>
                </a:path>
              </a:pathLst>
            </a:custGeom>
            <a:ln w="9525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48524" y="4257674"/>
              <a:ext cx="152400" cy="1524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48524" y="4622799"/>
              <a:ext cx="117475" cy="8572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48524" y="4956174"/>
              <a:ext cx="117475" cy="8572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48524" y="5299074"/>
              <a:ext cx="117475" cy="85725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7447756" y="4225925"/>
            <a:ext cx="3315335" cy="1176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Key</a:t>
            </a:r>
            <a:r>
              <a:rPr sz="1200" b="1" spc="-3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Notes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050" spc="-20" dirty="0">
                <a:solidFill>
                  <a:srgbClr val="334054"/>
                </a:solidFill>
                <a:latin typeface="Segoe UI"/>
                <a:cs typeface="Segoe UI"/>
              </a:rPr>
              <a:t>Test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driver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simulates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PSM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environment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for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development</a:t>
            </a:r>
            <a:endParaRPr sz="1050">
              <a:latin typeface="Segoe UI"/>
              <a:cs typeface="Segoe UI"/>
            </a:endParaRPr>
          </a:p>
          <a:p>
            <a:pPr marL="12700" marR="502284">
              <a:lnSpc>
                <a:spcPts val="2700"/>
              </a:lnSpc>
              <a:spcBef>
                <a:spcPts val="55"/>
              </a:spcBef>
            </a:pP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No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actual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PSM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session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is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created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during</a:t>
            </a:r>
            <a:r>
              <a:rPr sz="1050" spc="-10" dirty="0">
                <a:solidFill>
                  <a:srgbClr val="334054"/>
                </a:solidFill>
                <a:latin typeface="Segoe UI"/>
                <a:cs typeface="Segoe UI"/>
              </a:rPr>
              <a:t> testing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Use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for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debugging before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4054"/>
                </a:solidFill>
                <a:latin typeface="Segoe UI"/>
                <a:cs typeface="Segoe UI"/>
              </a:rPr>
              <a:t>deploying to</a:t>
            </a:r>
            <a:r>
              <a:rPr sz="1050" spc="-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1050" spc="-25" dirty="0">
                <a:solidFill>
                  <a:srgbClr val="334054"/>
                </a:solidFill>
                <a:latin typeface="Segoe UI"/>
                <a:cs typeface="Segoe UI"/>
              </a:rPr>
              <a:t>PSM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0" y="6793991"/>
            <a:ext cx="12192000" cy="64135"/>
          </a:xfrm>
          <a:custGeom>
            <a:avLst/>
            <a:gdLst/>
            <a:ahLst/>
            <a:cxnLst/>
            <a:rect l="l" t="t" r="r" b="b"/>
            <a:pathLst>
              <a:path w="12192000" h="64134">
                <a:moveTo>
                  <a:pt x="0" y="0"/>
                </a:moveTo>
                <a:lnTo>
                  <a:pt x="12191999" y="0"/>
                </a:lnTo>
                <a:lnTo>
                  <a:pt x="12191999" y="64008"/>
                </a:ln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215900"/>
            <a:ext cx="32715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Packaging</a:t>
            </a:r>
            <a:r>
              <a:rPr spc="195" dirty="0"/>
              <a:t> </a:t>
            </a:r>
            <a:r>
              <a:rPr dirty="0"/>
              <a:t>the</a:t>
            </a:r>
            <a:r>
              <a:rPr spc="200" dirty="0"/>
              <a:t> </a:t>
            </a:r>
            <a:r>
              <a:rPr spc="-10" dirty="0"/>
              <a:t>Connector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09358" y="292100"/>
            <a:ext cx="153035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ZIP Archive 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Requirements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6636" y="292100"/>
            <a:ext cx="3771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4738B"/>
                </a:solidFill>
                <a:latin typeface="Segoe UI Semibold"/>
                <a:cs typeface="Segoe UI Semibold"/>
              </a:rPr>
              <a:t>26/30</a:t>
            </a:r>
            <a:endParaRPr sz="1050">
              <a:latin typeface="Segoe UI Semibold"/>
              <a:cs typeface="Segoe UI Semibold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7368" y="868679"/>
            <a:ext cx="11637645" cy="4417060"/>
            <a:chOff x="277368" y="868679"/>
            <a:chExt cx="11637645" cy="44170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368" y="868679"/>
              <a:ext cx="11637263" cy="441655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025" y="1149349"/>
              <a:ext cx="142875" cy="1270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87400" y="1111250"/>
            <a:ext cx="139128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solidFill>
                  <a:srgbClr val="1D3A5E"/>
                </a:solidFill>
                <a:latin typeface="Segoe UI"/>
                <a:cs typeface="Segoe UI"/>
              </a:rPr>
              <a:t>Required</a:t>
            </a:r>
            <a:r>
              <a:rPr sz="1100" b="1" spc="4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100" b="1" dirty="0">
                <a:solidFill>
                  <a:srgbClr val="1D3A5E"/>
                </a:solidFill>
                <a:latin typeface="Segoe UI"/>
                <a:cs typeface="Segoe UI"/>
              </a:rPr>
              <a:t>Files</a:t>
            </a:r>
            <a:r>
              <a:rPr sz="1100" b="1" spc="4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100" b="1" dirty="0">
                <a:solidFill>
                  <a:srgbClr val="1D3A5E"/>
                </a:solidFill>
                <a:latin typeface="Segoe UI"/>
                <a:cs typeface="Segoe UI"/>
              </a:rPr>
              <a:t>in</a:t>
            </a:r>
            <a:r>
              <a:rPr sz="1100" b="1" spc="4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100" b="1" spc="-25" dirty="0">
                <a:solidFill>
                  <a:srgbClr val="1D3A5E"/>
                </a:solidFill>
                <a:latin typeface="Segoe UI"/>
                <a:cs typeface="Segoe UI"/>
              </a:rPr>
              <a:t>ZIP</a:t>
            </a:r>
            <a:endParaRPr sz="11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6450" y="1473026"/>
            <a:ext cx="1898650" cy="3708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Dispatcher</a:t>
            </a:r>
            <a:r>
              <a:rPr sz="950" spc="7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Executable</a:t>
            </a:r>
            <a:r>
              <a:rPr sz="950" spc="7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(.exe)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Compiled</a:t>
            </a:r>
            <a:r>
              <a:rPr sz="800" spc="4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AutoIt</a:t>
            </a:r>
            <a:r>
              <a:rPr sz="800" spc="4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script</a:t>
            </a:r>
            <a:r>
              <a:rPr sz="800" spc="4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for</a:t>
            </a:r>
            <a:r>
              <a:rPr sz="800" spc="4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800" spc="5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64738B"/>
                </a:solidFill>
                <a:latin typeface="Segoe UI"/>
                <a:cs typeface="Segoe UI"/>
              </a:rPr>
              <a:t>connector</a:t>
            </a:r>
            <a:endParaRPr sz="80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90035" y="1616075"/>
            <a:ext cx="45212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166533"/>
                </a:solidFill>
                <a:latin typeface="Segoe UI Semibold"/>
                <a:cs typeface="Segoe UI Semibold"/>
              </a:rPr>
              <a:t>Required</a:t>
            </a:r>
            <a:endParaRPr sz="800">
              <a:latin typeface="Segoe UI Semibold"/>
              <a:cs typeface="Segoe UI Semibol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6450" y="2063576"/>
            <a:ext cx="2134235" cy="3708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package.json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AppLocker</a:t>
            </a:r>
            <a:r>
              <a:rPr sz="800" spc="8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configuration</a:t>
            </a:r>
            <a:r>
              <a:rPr sz="800" spc="8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for</a:t>
            </a:r>
            <a:r>
              <a:rPr sz="800" spc="8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executable</a:t>
            </a:r>
            <a:r>
              <a:rPr sz="800" spc="8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64738B"/>
                </a:solidFill>
                <a:latin typeface="Segoe UI"/>
                <a:cs typeface="Segoe UI"/>
              </a:rPr>
              <a:t>paths</a:t>
            </a:r>
            <a:endParaRPr sz="800"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90035" y="2206625"/>
            <a:ext cx="45212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166533"/>
                </a:solidFill>
                <a:latin typeface="Segoe UI Semibold"/>
                <a:cs typeface="Segoe UI Semibold"/>
              </a:rPr>
              <a:t>Required</a:t>
            </a:r>
            <a:endParaRPr sz="800">
              <a:latin typeface="Segoe UI Semibold"/>
              <a:cs typeface="Segoe UI Semibold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81025" y="2790825"/>
            <a:ext cx="257175" cy="1562100"/>
            <a:chOff x="581025" y="2790825"/>
            <a:chExt cx="257175" cy="156210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3900" y="2790825"/>
              <a:ext cx="114300" cy="1524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3900" y="3381375"/>
              <a:ext cx="114300" cy="1524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1025" y="4206875"/>
              <a:ext cx="142875" cy="14605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920750" y="2654126"/>
            <a:ext cx="1668780" cy="3708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PSMDispatcherUtils.dll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PSM</a:t>
            </a:r>
            <a:r>
              <a:rPr sz="800" spc="3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utility</a:t>
            </a:r>
            <a:r>
              <a:rPr sz="800" spc="4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library</a:t>
            </a:r>
            <a:r>
              <a:rPr sz="800" spc="3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for</a:t>
            </a:r>
            <a:r>
              <a:rPr sz="800" spc="4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800" spc="4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64738B"/>
                </a:solidFill>
                <a:latin typeface="Segoe UI"/>
                <a:cs typeface="Segoe UI"/>
              </a:rPr>
              <a:t>connector</a:t>
            </a:r>
            <a:endParaRPr sz="800">
              <a:latin typeface="Segoe UI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90035" y="2797175"/>
            <a:ext cx="45212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166533"/>
                </a:solidFill>
                <a:latin typeface="Segoe UI Semibold"/>
                <a:cs typeface="Segoe UI Semibold"/>
              </a:rPr>
              <a:t>Required</a:t>
            </a:r>
            <a:endParaRPr sz="800">
              <a:latin typeface="Segoe UI Semibold"/>
              <a:cs typeface="Segoe UI Semibold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20750" y="3244676"/>
            <a:ext cx="2047875" cy="3708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Additional</a:t>
            </a:r>
            <a:r>
              <a:rPr sz="950" spc="9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Dependencies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Any</a:t>
            </a:r>
            <a:r>
              <a:rPr sz="800" spc="4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DLLs</a:t>
            </a:r>
            <a:r>
              <a:rPr sz="800" spc="4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or</a:t>
            </a:r>
            <a:r>
              <a:rPr sz="800" spc="5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EXEs</a:t>
            </a:r>
            <a:r>
              <a:rPr sz="800" spc="4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required</a:t>
            </a:r>
            <a:r>
              <a:rPr sz="800" spc="5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by</a:t>
            </a:r>
            <a:r>
              <a:rPr sz="800" spc="4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800" spc="4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64738B"/>
                </a:solidFill>
                <a:latin typeface="Segoe UI"/>
                <a:cs typeface="Segoe UI"/>
              </a:rPr>
              <a:t>connector</a:t>
            </a:r>
            <a:endParaRPr sz="800">
              <a:latin typeface="Segoe UI"/>
              <a:cs typeface="Segoe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03132" y="3387725"/>
            <a:ext cx="438784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91400D"/>
                </a:solidFill>
                <a:latin typeface="Segoe UI Semibold"/>
                <a:cs typeface="Segoe UI Semibold"/>
              </a:rPr>
              <a:t>Optional</a:t>
            </a:r>
            <a:endParaRPr sz="800">
              <a:latin typeface="Segoe UI Semibold"/>
              <a:cs typeface="Segoe UI Semibold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1675" y="4178300"/>
            <a:ext cx="4754245" cy="7245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solidFill>
                  <a:srgbClr val="1D3A5E"/>
                </a:solidFill>
                <a:latin typeface="Segoe UI"/>
                <a:cs typeface="Segoe UI"/>
              </a:rPr>
              <a:t>Key</a:t>
            </a:r>
            <a:r>
              <a:rPr sz="1100" b="1" spc="2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100" b="1" spc="-10" dirty="0">
                <a:solidFill>
                  <a:srgbClr val="1D3A5E"/>
                </a:solidFill>
                <a:latin typeface="Segoe UI"/>
                <a:cs typeface="Segoe UI"/>
              </a:rPr>
              <a:t>Requirements</a:t>
            </a:r>
            <a:endParaRPr sz="11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100">
              <a:latin typeface="Segoe UI"/>
              <a:cs typeface="Segoe UI"/>
            </a:endParaRPr>
          </a:p>
          <a:p>
            <a:pPr marL="12700" marR="5080">
              <a:lnSpc>
                <a:spcPct val="118100"/>
              </a:lnSpc>
            </a:pPr>
            <a:r>
              <a:rPr sz="900" b="1" dirty="0">
                <a:solidFill>
                  <a:srgbClr val="1D3A5E"/>
                </a:solidFill>
                <a:latin typeface="Segoe UI"/>
                <a:cs typeface="Segoe UI"/>
              </a:rPr>
              <a:t>Important:</a:t>
            </a:r>
            <a:r>
              <a:rPr sz="900" b="1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Do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not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place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the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executable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directly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under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C:\.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Place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it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in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a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dedicated</a:t>
            </a:r>
            <a:r>
              <a:rPr sz="900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subfolder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1D3A5E"/>
                </a:solidFill>
                <a:latin typeface="Segoe UI"/>
                <a:cs typeface="Segoe UI"/>
              </a:rPr>
              <a:t>to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avoid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security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issues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and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ensure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proper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AppLocker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integration.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1139825"/>
            <a:ext cx="12192000" cy="5718175"/>
            <a:chOff x="0" y="1139825"/>
            <a:chExt cx="12192000" cy="5718175"/>
          </a:xfrm>
        </p:grpSpPr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72225" y="1139825"/>
              <a:ext cx="161925" cy="14605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96050" y="1562100"/>
              <a:ext cx="114300" cy="10477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86550" y="2146300"/>
              <a:ext cx="85725" cy="11747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86550" y="2327275"/>
              <a:ext cx="85725" cy="11747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69050" y="3121025"/>
              <a:ext cx="149225" cy="1270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0" y="6793991"/>
              <a:ext cx="12192000" cy="64135"/>
            </a:xfrm>
            <a:custGeom>
              <a:avLst/>
              <a:gdLst/>
              <a:ahLst/>
              <a:cxnLst/>
              <a:rect l="l" t="t" r="r" b="b"/>
              <a:pathLst>
                <a:path w="12192000" h="64134">
                  <a:moveTo>
                    <a:pt x="0" y="0"/>
                  </a:moveTo>
                  <a:lnTo>
                    <a:pt x="12191999" y="0"/>
                  </a:lnTo>
                  <a:lnTo>
                    <a:pt x="12191999" y="64008"/>
                  </a:lnTo>
                  <a:lnTo>
                    <a:pt x="0" y="64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596459" y="1111250"/>
            <a:ext cx="131508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solidFill>
                  <a:srgbClr val="1D3A5E"/>
                </a:solidFill>
                <a:latin typeface="Segoe UI"/>
                <a:cs typeface="Segoe UI"/>
              </a:rPr>
              <a:t>Directory</a:t>
            </a:r>
            <a:r>
              <a:rPr sz="1100" b="1" spc="14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100" b="1" spc="-10" dirty="0">
                <a:solidFill>
                  <a:srgbClr val="1D3A5E"/>
                </a:solidFill>
                <a:latin typeface="Segoe UI"/>
                <a:cs typeface="Segoe UI"/>
              </a:rPr>
              <a:t>Structure</a:t>
            </a:r>
            <a:endParaRPr sz="1100">
              <a:latin typeface="Segoe UI"/>
              <a:cs typeface="Segoe U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73850" y="1530350"/>
            <a:ext cx="1397635" cy="562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1D3A5E"/>
                </a:solidFill>
                <a:latin typeface="Courier New"/>
                <a:cs typeface="Courier New"/>
              </a:rPr>
              <a:t>PSMConnectorPackage/</a:t>
            </a:r>
            <a:endParaRPr sz="900">
              <a:latin typeface="Courier New"/>
              <a:cs typeface="Courier New"/>
            </a:endParaRPr>
          </a:p>
          <a:p>
            <a:pPr marL="88900" marR="203200">
              <a:lnSpc>
                <a:spcPct val="131900"/>
              </a:lnSpc>
              <a:spcBef>
                <a:spcPts val="300"/>
              </a:spcBef>
            </a:pPr>
            <a:r>
              <a:rPr sz="900" spc="-10" dirty="0">
                <a:solidFill>
                  <a:srgbClr val="64738B"/>
                </a:solidFill>
                <a:latin typeface="Courier New"/>
                <a:cs typeface="Courier New"/>
              </a:rPr>
              <a:t>MyDispatcher.exe package.json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835775" y="2077085"/>
            <a:ext cx="1534795" cy="387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</a:pPr>
            <a:r>
              <a:rPr sz="900" spc="-10" dirty="0">
                <a:solidFill>
                  <a:srgbClr val="64738B"/>
                </a:solidFill>
                <a:latin typeface="Courier New"/>
                <a:cs typeface="Courier New"/>
              </a:rPr>
              <a:t>PSMDispatcherUtils.dll </a:t>
            </a:r>
            <a:r>
              <a:rPr sz="900" dirty="0">
                <a:solidFill>
                  <a:srgbClr val="64738B"/>
                </a:solidFill>
                <a:latin typeface="Courier New"/>
                <a:cs typeface="Courier New"/>
              </a:rPr>
              <a:t>Additional </a:t>
            </a:r>
            <a:r>
              <a:rPr sz="900" spc="-10" dirty="0">
                <a:solidFill>
                  <a:srgbClr val="64738B"/>
                </a:solidFill>
                <a:latin typeface="Courier New"/>
                <a:cs typeface="Courier New"/>
              </a:rPr>
              <a:t>files...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578600" y="3092450"/>
            <a:ext cx="100330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solidFill>
                  <a:srgbClr val="1D3A5E"/>
                </a:solidFill>
                <a:latin typeface="Segoe UI"/>
                <a:cs typeface="Segoe UI"/>
              </a:rPr>
              <a:t>Security</a:t>
            </a:r>
            <a:r>
              <a:rPr sz="1100" b="1" spc="8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100" b="1" spc="-10" dirty="0">
                <a:solidFill>
                  <a:srgbClr val="1D3A5E"/>
                </a:solidFill>
                <a:latin typeface="Segoe UI"/>
                <a:cs typeface="Segoe UI"/>
              </a:rPr>
              <a:t>Notes</a:t>
            </a:r>
            <a:endParaRPr sz="1100">
              <a:latin typeface="Segoe UI"/>
              <a:cs typeface="Segoe U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92875" y="3467734"/>
            <a:ext cx="5010785" cy="34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91400D"/>
                </a:solidFill>
                <a:latin typeface="Segoe UI"/>
                <a:cs typeface="Segoe UI"/>
              </a:rPr>
              <a:t>Warning:</a:t>
            </a:r>
            <a:r>
              <a:rPr sz="900" b="1" spc="-2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The</a:t>
            </a:r>
            <a:r>
              <a:rPr sz="900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package.json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file</a:t>
            </a:r>
            <a:r>
              <a:rPr sz="900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must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appear</a:t>
            </a:r>
            <a:r>
              <a:rPr sz="900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at</a:t>
            </a:r>
            <a:r>
              <a:rPr sz="900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the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root</a:t>
            </a:r>
            <a:r>
              <a:rPr sz="900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of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the</a:t>
            </a:r>
            <a:r>
              <a:rPr sz="900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ZIP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archive.</a:t>
            </a:r>
            <a:r>
              <a:rPr sz="900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Special</a:t>
            </a:r>
            <a:r>
              <a:rPr sz="900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characters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[</a:t>
            </a:r>
            <a:r>
              <a:rPr sz="900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]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91400D"/>
                </a:solidFill>
                <a:latin typeface="Segoe UI"/>
                <a:cs typeface="Segoe UI"/>
              </a:rPr>
              <a:t>are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not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supported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in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the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package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name.</a:t>
            </a:r>
            <a:endParaRPr sz="9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package.json</a:t>
            </a:r>
            <a:r>
              <a:rPr spc="235" dirty="0"/>
              <a:t> </a:t>
            </a:r>
            <a:r>
              <a:rPr dirty="0"/>
              <a:t>for</a:t>
            </a:r>
            <a:r>
              <a:rPr spc="240" dirty="0"/>
              <a:t> </a:t>
            </a:r>
            <a:r>
              <a:rPr spc="-10" dirty="0"/>
              <a:t>AppLocker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68775" y="292100"/>
            <a:ext cx="176720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ClientAppPaths</a:t>
            </a:r>
            <a:r>
              <a:rPr sz="1050" spc="-60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Configuration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9494" y="292100"/>
            <a:ext cx="37465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4738B"/>
                </a:solidFill>
                <a:latin typeface="Segoe UI Semibold"/>
                <a:cs typeface="Segoe UI Semibold"/>
              </a:rPr>
              <a:t>27/30</a:t>
            </a:r>
            <a:endParaRPr sz="1050">
              <a:latin typeface="Segoe UI Semibold"/>
              <a:cs typeface="Segoe UI Semibold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7368" y="868679"/>
            <a:ext cx="11637645" cy="4425950"/>
            <a:chOff x="277368" y="868679"/>
            <a:chExt cx="11637645" cy="44259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368" y="868679"/>
              <a:ext cx="11637263" cy="442569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400" y="1133474"/>
              <a:ext cx="114300" cy="1524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11200" y="1101725"/>
            <a:ext cx="2058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Configuration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Requirements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6706" y="1530350"/>
            <a:ext cx="717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1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9325" y="1457166"/>
            <a:ext cx="2226945" cy="3790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PackageName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Unique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identifier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for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connector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package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7925" y="2111375"/>
            <a:ext cx="88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2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9325" y="2038191"/>
            <a:ext cx="2523490" cy="3790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ClientAppPaths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Array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of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paths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applications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for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AppLocker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rules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7925" y="2692400"/>
            <a:ext cx="88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3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9325" y="2619216"/>
            <a:ext cx="1353185" cy="3790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spc="-20" dirty="0">
                <a:solidFill>
                  <a:srgbClr val="1D3A5E"/>
                </a:solidFill>
                <a:latin typeface="Segoe UI Semibold"/>
                <a:cs typeface="Segoe UI Semibold"/>
              </a:rPr>
              <a:t>Path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Full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path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executable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file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6735" y="3273425"/>
            <a:ext cx="914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4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9325" y="3200241"/>
            <a:ext cx="1524635" cy="3790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Placement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Must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be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at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root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of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ZIP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archive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400" y="4219575"/>
            <a:ext cx="152400" cy="15240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54050" y="4187825"/>
            <a:ext cx="4862195" cy="73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Key</a:t>
            </a:r>
            <a:r>
              <a:rPr sz="1200" b="1" spc="-3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Points</a:t>
            </a:r>
            <a:endParaRPr sz="1200">
              <a:latin typeface="Segoe UI"/>
              <a:cs typeface="Segoe UI"/>
            </a:endParaRPr>
          </a:p>
          <a:p>
            <a:pPr marL="12700" marR="5080">
              <a:lnSpc>
                <a:spcPct val="118100"/>
              </a:lnSpc>
              <a:spcBef>
                <a:spcPts val="1590"/>
              </a:spcBef>
            </a:pPr>
            <a:r>
              <a:rPr sz="900" b="1" dirty="0">
                <a:solidFill>
                  <a:srgbClr val="1D3A5E"/>
                </a:solidFill>
                <a:latin typeface="Segoe UI"/>
                <a:cs typeface="Segoe UI"/>
              </a:rPr>
              <a:t>AppLocker</a:t>
            </a:r>
            <a:r>
              <a:rPr sz="900" b="1" spc="-2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b="1" dirty="0">
                <a:solidFill>
                  <a:srgbClr val="1D3A5E"/>
                </a:solidFill>
                <a:latin typeface="Segoe UI"/>
                <a:cs typeface="Segoe UI"/>
              </a:rPr>
              <a:t>Integration:</a:t>
            </a:r>
            <a:r>
              <a:rPr sz="900" b="1" spc="-2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The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package.json</a:t>
            </a:r>
            <a:r>
              <a:rPr sz="900" spc="-2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is</a:t>
            </a:r>
            <a:r>
              <a:rPr sz="900" spc="-2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critical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for</a:t>
            </a:r>
            <a:r>
              <a:rPr sz="900" spc="-2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PSM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to</a:t>
            </a:r>
            <a:r>
              <a:rPr sz="900" spc="-2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automatically</a:t>
            </a:r>
            <a:r>
              <a:rPr sz="900" spc="-2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update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AppLocker rules.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1130300"/>
            <a:ext cx="12192000" cy="5727700"/>
            <a:chOff x="0" y="1130300"/>
            <a:chExt cx="12192000" cy="572770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8400" y="1130300"/>
              <a:ext cx="190500" cy="15875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51575" y="3495675"/>
              <a:ext cx="107950" cy="1524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0" y="6793991"/>
              <a:ext cx="12192000" cy="64135"/>
            </a:xfrm>
            <a:custGeom>
              <a:avLst/>
              <a:gdLst/>
              <a:ahLst/>
              <a:cxnLst/>
              <a:rect l="l" t="t" r="r" b="b"/>
              <a:pathLst>
                <a:path w="12192000" h="64134">
                  <a:moveTo>
                    <a:pt x="0" y="0"/>
                  </a:moveTo>
                  <a:lnTo>
                    <a:pt x="12191999" y="0"/>
                  </a:lnTo>
                  <a:lnTo>
                    <a:pt x="12191999" y="64008"/>
                  </a:lnTo>
                  <a:lnTo>
                    <a:pt x="0" y="64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502400" y="1101725"/>
            <a:ext cx="1604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package.json</a:t>
            </a:r>
            <a:r>
              <a:rPr sz="1200" b="1" spc="3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Example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350000" y="1511300"/>
            <a:ext cx="882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E2E7F0"/>
                </a:solidFill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75685" y="1648460"/>
            <a:ext cx="4110990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87475">
              <a:lnSpc>
                <a:spcPct val="125000"/>
              </a:lnSpc>
              <a:spcBef>
                <a:spcPts val="100"/>
              </a:spcBef>
            </a:pPr>
            <a:r>
              <a:rPr sz="900" spc="-10" dirty="0">
                <a:solidFill>
                  <a:srgbClr val="A5F2FB"/>
                </a:solidFill>
                <a:latin typeface="Consolas"/>
                <a:cs typeface="Consolas"/>
              </a:rPr>
              <a:t>"PackageName"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:</a:t>
            </a:r>
            <a:r>
              <a:rPr sz="900" spc="-10" dirty="0">
                <a:solidFill>
                  <a:srgbClr val="A5F2FB"/>
                </a:solidFill>
                <a:latin typeface="Consolas"/>
                <a:cs typeface="Consolas"/>
              </a:rPr>
              <a:t>"PSMRealVNCDispatcherSample"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, </a:t>
            </a:r>
            <a:r>
              <a:rPr sz="900" spc="-10" dirty="0">
                <a:solidFill>
                  <a:srgbClr val="A5F2FB"/>
                </a:solidFill>
                <a:latin typeface="Consolas"/>
                <a:cs typeface="Consolas"/>
              </a:rPr>
              <a:t>"ClientAppPaths"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:</a:t>
            </a:r>
            <a:r>
              <a:rPr sz="900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00" spc="-50" dirty="0">
                <a:solidFill>
                  <a:srgbClr val="E2E7F0"/>
                </a:solidFill>
                <a:latin typeface="Consolas"/>
                <a:cs typeface="Consolas"/>
              </a:rPr>
              <a:t>[</a:t>
            </a:r>
            <a:endParaRPr sz="900">
              <a:latin typeface="Consolas"/>
              <a:cs typeface="Consolas"/>
            </a:endParaRPr>
          </a:p>
          <a:p>
            <a:pPr marL="137795">
              <a:lnSpc>
                <a:spcPct val="100000"/>
              </a:lnSpc>
              <a:spcBef>
                <a:spcPts val="270"/>
              </a:spcBef>
            </a:pPr>
            <a:r>
              <a:rPr sz="900" spc="-50" dirty="0">
                <a:solidFill>
                  <a:srgbClr val="E2E7F0"/>
                </a:solidFill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263525">
              <a:lnSpc>
                <a:spcPct val="100000"/>
              </a:lnSpc>
              <a:spcBef>
                <a:spcPts val="270"/>
              </a:spcBef>
            </a:pPr>
            <a:r>
              <a:rPr sz="900" spc="-10" dirty="0">
                <a:solidFill>
                  <a:srgbClr val="A5F2FB"/>
                </a:solidFill>
                <a:latin typeface="Consolas"/>
                <a:cs typeface="Consolas"/>
              </a:rPr>
              <a:t>"Path"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:</a:t>
            </a:r>
            <a:r>
              <a:rPr sz="900" spc="-10" dirty="0">
                <a:solidFill>
                  <a:srgbClr val="A5F2FB"/>
                </a:solidFill>
                <a:latin typeface="Consolas"/>
                <a:cs typeface="Consolas"/>
              </a:rPr>
              <a:t>"C:\\NewSubfolder\\VNC-Viewer-5.0.5-Windows-64bit.exe"</a:t>
            </a:r>
            <a:endParaRPr sz="900">
              <a:latin typeface="Consolas"/>
              <a:cs typeface="Consolas"/>
            </a:endParaRPr>
          </a:p>
          <a:p>
            <a:pPr marL="137795">
              <a:lnSpc>
                <a:spcPct val="100000"/>
              </a:lnSpc>
              <a:spcBef>
                <a:spcPts val="270"/>
              </a:spcBef>
            </a:pPr>
            <a:r>
              <a:rPr sz="900" spc="-50" dirty="0">
                <a:solidFill>
                  <a:srgbClr val="E2E7F0"/>
                </a:solidFill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900" spc="-50" dirty="0">
                <a:solidFill>
                  <a:srgbClr val="E2E7F0"/>
                </a:solidFill>
                <a:latin typeface="Consolas"/>
                <a:cs typeface="Consolas"/>
              </a:rPr>
              <a:t>]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350000" y="2711450"/>
            <a:ext cx="882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E2E7F0"/>
                </a:solidFill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26200" y="3463925"/>
            <a:ext cx="1223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Important</a:t>
            </a:r>
            <a:r>
              <a:rPr sz="1200" b="1" spc="-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Notes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369050" y="3873500"/>
            <a:ext cx="51435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91400D"/>
                </a:solidFill>
                <a:latin typeface="Segoe UI"/>
                <a:cs typeface="Segoe UI"/>
              </a:rPr>
              <a:t>Warning:</a:t>
            </a:r>
            <a:r>
              <a:rPr sz="900" b="1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Do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not</a:t>
            </a:r>
            <a:r>
              <a:rPr sz="900" spc="-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place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the</a:t>
            </a:r>
            <a:r>
              <a:rPr sz="900" spc="-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executable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directly</a:t>
            </a:r>
            <a:r>
              <a:rPr sz="900" spc="-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under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C:\.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Place</a:t>
            </a:r>
            <a:r>
              <a:rPr sz="900" spc="-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it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in</a:t>
            </a:r>
            <a:r>
              <a:rPr sz="900" spc="-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a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dedicated</a:t>
            </a:r>
            <a:r>
              <a:rPr sz="900" spc="-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subfolder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for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security.</a:t>
            </a:r>
            <a:endParaRPr sz="9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215900"/>
            <a:ext cx="565023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Deployment</a:t>
            </a:r>
            <a:r>
              <a:rPr spc="225" dirty="0"/>
              <a:t> </a:t>
            </a:r>
            <a:r>
              <a:rPr dirty="0"/>
              <a:t>Strategy:</a:t>
            </a:r>
            <a:r>
              <a:rPr spc="225" dirty="0"/>
              <a:t> </a:t>
            </a:r>
            <a:r>
              <a:rPr dirty="0"/>
              <a:t>Single</a:t>
            </a:r>
            <a:r>
              <a:rPr spc="225" dirty="0"/>
              <a:t> </a:t>
            </a:r>
            <a:r>
              <a:rPr dirty="0"/>
              <a:t>PSM</a:t>
            </a:r>
            <a:r>
              <a:rPr spc="225" dirty="0"/>
              <a:t> </a:t>
            </a:r>
            <a:r>
              <a:rPr spc="-10" dirty="0"/>
              <a:t>(Manual)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88370" y="292100"/>
            <a:ext cx="248285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Manual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deployment</a:t>
            </a:r>
            <a:r>
              <a:rPr sz="1050" spc="-5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for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single</a:t>
            </a:r>
            <a:r>
              <a:rPr sz="1050" spc="-5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PSM</a:t>
            </a:r>
            <a:r>
              <a:rPr sz="1050" spc="-5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server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6922" y="292100"/>
            <a:ext cx="3771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4738B"/>
                </a:solidFill>
                <a:latin typeface="Segoe UI Semibold"/>
                <a:cs typeface="Segoe UI Semibold"/>
              </a:rPr>
              <a:t>28/30</a:t>
            </a:r>
            <a:endParaRPr sz="1050">
              <a:latin typeface="Segoe UI Semibold"/>
              <a:cs typeface="Segoe UI Semibold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7368" y="868679"/>
            <a:ext cx="11637263" cy="4520183"/>
            <a:chOff x="277368" y="868679"/>
            <a:chExt cx="11637263" cy="4520183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368" y="868679"/>
              <a:ext cx="11637263" cy="452018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025" y="1152524"/>
              <a:ext cx="152400" cy="13335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96925" y="1111250"/>
            <a:ext cx="1333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Deployment</a:t>
            </a:r>
            <a:r>
              <a:rPr sz="1200" b="1" spc="-7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20" dirty="0">
                <a:solidFill>
                  <a:srgbClr val="1D3A5E"/>
                </a:solidFill>
                <a:latin typeface="Segoe UI"/>
                <a:cs typeface="Segoe UI"/>
              </a:rPr>
              <a:t>Steps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1659" y="1597025"/>
            <a:ext cx="914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63625" y="1574800"/>
            <a:ext cx="158750" cy="831850"/>
            <a:chOff x="1063625" y="1574800"/>
            <a:chExt cx="158750" cy="83185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3625" y="1574800"/>
              <a:ext cx="146050" cy="1111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6800" y="2282825"/>
              <a:ext cx="155575" cy="12382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250553" y="1549400"/>
            <a:ext cx="143192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Place</a:t>
            </a:r>
            <a:r>
              <a:rPr sz="950" spc="8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Connector</a:t>
            </a:r>
            <a:r>
              <a:rPr sz="950" spc="9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Package</a:t>
            </a:r>
            <a:endParaRPr sz="950">
              <a:latin typeface="Segoe UI Semibold"/>
              <a:cs typeface="Segoe UI Semibold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74865" y="1558925"/>
            <a:ext cx="54864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166533"/>
                </a:solidFill>
                <a:latin typeface="Segoe UI Semibold"/>
                <a:cs typeface="Segoe UI Semibold"/>
              </a:rPr>
              <a:t>Completed</a:t>
            </a:r>
            <a:endParaRPr sz="800">
              <a:latin typeface="Segoe UI Semibold"/>
              <a:cs typeface="Segoe UI Semibold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54100" y="1758950"/>
            <a:ext cx="4817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Copy</a:t>
            </a:r>
            <a:r>
              <a:rPr sz="900" spc="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your</a:t>
            </a:r>
            <a:r>
              <a:rPr sz="900" spc="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connector</a:t>
            </a:r>
            <a:r>
              <a:rPr sz="900" spc="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executable/package</a:t>
            </a:r>
            <a:r>
              <a:rPr sz="900" spc="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00" spc="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PSM\Components</a:t>
            </a:r>
            <a:r>
              <a:rPr sz="900" spc="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folder</a:t>
            </a:r>
            <a:r>
              <a:rPr sz="900" spc="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on</a:t>
            </a:r>
            <a:r>
              <a:rPr sz="900" spc="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target</a:t>
            </a:r>
            <a:r>
              <a:rPr sz="900" spc="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PSM</a:t>
            </a:r>
            <a:r>
              <a:rPr sz="900" spc="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server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1659" y="2311400"/>
            <a:ext cx="914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08215" y="2273300"/>
            <a:ext cx="41529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91400D"/>
                </a:solidFill>
                <a:latin typeface="Segoe UI Semibold"/>
                <a:cs typeface="Segoe UI Semibold"/>
              </a:rPr>
              <a:t>Pending</a:t>
            </a:r>
            <a:endParaRPr sz="800">
              <a:latin typeface="Segoe UI Semibold"/>
              <a:cs typeface="Segoe UI Semibold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54100" y="2197735"/>
            <a:ext cx="4288155" cy="43815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224154">
              <a:lnSpc>
                <a:spcPct val="100000"/>
              </a:lnSpc>
              <a:spcBef>
                <a:spcPts val="645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Configure</a:t>
            </a:r>
            <a:r>
              <a:rPr sz="950" spc="12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ClientDispatcher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In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PVWA,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configure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Target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Settings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&gt;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ClientDispatcher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point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your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compiled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Segoe UI"/>
                <a:cs typeface="Segoe UI"/>
              </a:rPr>
              <a:t>EXE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1659" y="3025775"/>
            <a:ext cx="914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66800" y="2994025"/>
            <a:ext cx="95250" cy="12700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5408215" y="2987675"/>
            <a:ext cx="41529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91400D"/>
                </a:solidFill>
                <a:latin typeface="Segoe UI Semibold"/>
                <a:cs typeface="Segoe UI Semibold"/>
              </a:rPr>
              <a:t>Pending</a:t>
            </a:r>
            <a:endParaRPr sz="800">
              <a:latin typeface="Segoe UI Semibold"/>
              <a:cs typeface="Segoe UI Semibold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54100" y="2912110"/>
            <a:ext cx="3380104" cy="43815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645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Add</a:t>
            </a:r>
            <a:r>
              <a:rPr sz="950" spc="3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to</a:t>
            </a:r>
            <a:r>
              <a:rPr sz="950" spc="3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Platform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Add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Connection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Component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target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platform(s)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in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PVWA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02835" y="1597025"/>
            <a:ext cx="914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solidFill>
                  <a:srgbClr val="FFFFFF"/>
                </a:solidFill>
                <a:latin typeface="Segoe UI"/>
                <a:cs typeface="Segoe UI"/>
              </a:rPr>
              <a:t>4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57975" y="1565275"/>
            <a:ext cx="123825" cy="127000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0999437" y="1558925"/>
            <a:ext cx="41529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91400D"/>
                </a:solidFill>
                <a:latin typeface="Segoe UI Semibold"/>
                <a:cs typeface="Segoe UI Semibold"/>
              </a:rPr>
              <a:t>Pending</a:t>
            </a:r>
            <a:endParaRPr sz="800">
              <a:latin typeface="Segoe UI Semibold"/>
              <a:cs typeface="Segoe UI Semibold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45275" y="1483360"/>
            <a:ext cx="3198495" cy="43815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93675">
              <a:lnSpc>
                <a:spcPct val="100000"/>
              </a:lnSpc>
              <a:spcBef>
                <a:spcPts val="645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Verify</a:t>
            </a:r>
            <a:r>
              <a:rPr sz="950" spc="1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Configuration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Test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connection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ensure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connector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works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as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expected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02835" y="2311400"/>
            <a:ext cx="914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solidFill>
                  <a:srgbClr val="FFFFFF"/>
                </a:solidFill>
                <a:latin typeface="Segoe UI"/>
                <a:cs typeface="Segoe UI"/>
              </a:rPr>
              <a:t>5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28" name="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57975" y="2279650"/>
            <a:ext cx="111125" cy="12700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0999437" y="2273300"/>
            <a:ext cx="41529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91400D"/>
                </a:solidFill>
                <a:latin typeface="Segoe UI Semibold"/>
                <a:cs typeface="Segoe UI Semibold"/>
              </a:rPr>
              <a:t>Pending</a:t>
            </a:r>
            <a:endParaRPr sz="800">
              <a:latin typeface="Segoe UI Semibold"/>
              <a:cs typeface="Segoe UI Semibold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45275" y="2197735"/>
            <a:ext cx="3604895" cy="43815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645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Lock</a:t>
            </a:r>
            <a:r>
              <a:rPr sz="950" spc="7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Application</a:t>
            </a:r>
            <a:r>
              <a:rPr sz="950" spc="7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Window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Configure MainWindowTitle and</a:t>
            </a:r>
            <a:r>
              <a:rPr sz="900" spc="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MainWindowClass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 for window</a:t>
            </a:r>
            <a:r>
              <a:rPr sz="900" spc="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locking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81025" y="4111625"/>
            <a:ext cx="190500" cy="158750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682625" y="4092575"/>
            <a:ext cx="4806950" cy="884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Configuration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Example</a:t>
            </a:r>
            <a:endParaRPr sz="12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2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rgbClr val="0FB981"/>
                </a:solidFill>
                <a:latin typeface="Consolas"/>
                <a:cs typeface="Consolas"/>
              </a:rPr>
              <a:t>PSM\Components\</a:t>
            </a:r>
            <a:r>
              <a:rPr sz="800" spc="-10" dirty="0">
                <a:solidFill>
                  <a:srgbClr val="E2E7F0"/>
                </a:solidFill>
                <a:latin typeface="Consolas"/>
                <a:cs typeface="Consolas"/>
              </a:rPr>
              <a:t>PSMRealVNCDispatcher.exe</a:t>
            </a:r>
            <a:endParaRPr sz="800" dirty="0">
              <a:latin typeface="Consolas"/>
              <a:cs typeface="Consolas"/>
            </a:endParaRPr>
          </a:p>
          <a:p>
            <a:pPr marL="12700" marR="5080">
              <a:lnSpc>
                <a:spcPts val="1280"/>
              </a:lnSpc>
              <a:spcBef>
                <a:spcPts val="20"/>
              </a:spcBef>
            </a:pPr>
            <a:r>
              <a:rPr sz="800" dirty="0">
                <a:solidFill>
                  <a:srgbClr val="64738B"/>
                </a:solidFill>
                <a:latin typeface="Consolas"/>
                <a:cs typeface="Consolas"/>
              </a:rPr>
              <a:t>#</a:t>
            </a:r>
            <a:r>
              <a:rPr sz="800" spc="90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64738B"/>
                </a:solidFill>
                <a:latin typeface="Consolas"/>
                <a:cs typeface="Consolas"/>
              </a:rPr>
              <a:t>Configure</a:t>
            </a:r>
            <a:r>
              <a:rPr sz="800" spc="95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64738B"/>
                </a:solidFill>
                <a:latin typeface="Consolas"/>
                <a:cs typeface="Consolas"/>
              </a:rPr>
              <a:t>in</a:t>
            </a:r>
            <a:r>
              <a:rPr sz="800" spc="90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64738B"/>
                </a:solidFill>
                <a:latin typeface="Consolas"/>
                <a:cs typeface="Consolas"/>
              </a:rPr>
              <a:t>PVWA:</a:t>
            </a:r>
            <a:r>
              <a:rPr sz="800" spc="95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64738B"/>
                </a:solidFill>
                <a:latin typeface="Consolas"/>
                <a:cs typeface="Consolas"/>
              </a:rPr>
              <a:t>Administration</a:t>
            </a:r>
            <a:r>
              <a:rPr sz="800" spc="90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64738B"/>
                </a:solidFill>
                <a:latin typeface="Consolas"/>
                <a:cs typeface="Consolas"/>
              </a:rPr>
              <a:t>&gt;</a:t>
            </a:r>
            <a:r>
              <a:rPr sz="800" spc="95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64738B"/>
                </a:solidFill>
                <a:latin typeface="Consolas"/>
                <a:cs typeface="Consolas"/>
              </a:rPr>
              <a:t>Configuration</a:t>
            </a:r>
            <a:r>
              <a:rPr sz="800" spc="90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64738B"/>
                </a:solidFill>
                <a:latin typeface="Consolas"/>
                <a:cs typeface="Consolas"/>
              </a:rPr>
              <a:t>Options</a:t>
            </a:r>
            <a:r>
              <a:rPr sz="800" spc="95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64738B"/>
                </a:solidFill>
                <a:latin typeface="Consolas"/>
                <a:cs typeface="Consolas"/>
              </a:rPr>
              <a:t>&gt;</a:t>
            </a:r>
            <a:r>
              <a:rPr sz="800" spc="90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64738B"/>
                </a:solidFill>
                <a:latin typeface="Consolas"/>
                <a:cs typeface="Consolas"/>
              </a:rPr>
              <a:t>Connection</a:t>
            </a:r>
            <a:r>
              <a:rPr sz="800" spc="95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64738B"/>
                </a:solidFill>
                <a:latin typeface="Consolas"/>
                <a:cs typeface="Consolas"/>
              </a:rPr>
              <a:t>Components </a:t>
            </a:r>
            <a:r>
              <a:rPr sz="800" dirty="0">
                <a:solidFill>
                  <a:srgbClr val="64738B"/>
                </a:solidFill>
                <a:latin typeface="Consolas"/>
                <a:cs typeface="Consolas"/>
              </a:rPr>
              <a:t>#</a:t>
            </a:r>
            <a:r>
              <a:rPr sz="800" spc="95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64738B"/>
                </a:solidFill>
                <a:latin typeface="Consolas"/>
                <a:cs typeface="Consolas"/>
              </a:rPr>
              <a:t>Target</a:t>
            </a:r>
            <a:r>
              <a:rPr sz="800" spc="95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64738B"/>
                </a:solidFill>
                <a:latin typeface="Consolas"/>
                <a:cs typeface="Consolas"/>
              </a:rPr>
              <a:t>Settings</a:t>
            </a:r>
            <a:r>
              <a:rPr sz="800" spc="95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64738B"/>
                </a:solidFill>
                <a:latin typeface="Consolas"/>
                <a:cs typeface="Consolas"/>
              </a:rPr>
              <a:t>&gt;</a:t>
            </a:r>
            <a:r>
              <a:rPr sz="800" spc="100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64738B"/>
                </a:solidFill>
                <a:latin typeface="Consolas"/>
                <a:cs typeface="Consolas"/>
              </a:rPr>
              <a:t>ClientDispatcher:</a:t>
            </a:r>
            <a:r>
              <a:rPr sz="800" spc="95" dirty="0">
                <a:solidFill>
                  <a:srgbClr val="64738B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64738B"/>
                </a:solidFill>
                <a:latin typeface="Consolas"/>
                <a:cs typeface="Consolas"/>
              </a:rPr>
              <a:t>PSMRealVNCDispatcher.exe</a:t>
            </a:r>
            <a:endParaRPr sz="800" dirty="0">
              <a:latin typeface="Consolas"/>
              <a:cs typeface="Consola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0" y="6793991"/>
            <a:ext cx="12192000" cy="64135"/>
          </a:xfrm>
          <a:custGeom>
            <a:avLst/>
            <a:gdLst/>
            <a:ahLst/>
            <a:cxnLst/>
            <a:rect l="l" t="t" r="r" b="b"/>
            <a:pathLst>
              <a:path w="12192000" h="64134">
                <a:moveTo>
                  <a:pt x="0" y="0"/>
                </a:moveTo>
                <a:lnTo>
                  <a:pt x="12191999" y="0"/>
                </a:lnTo>
                <a:lnTo>
                  <a:pt x="12191999" y="64008"/>
                </a:ln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215900"/>
            <a:ext cx="52304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Shared/Automatic</a:t>
            </a:r>
            <a:r>
              <a:rPr spc="400" dirty="0"/>
              <a:t> </a:t>
            </a:r>
            <a:r>
              <a:rPr dirty="0"/>
              <a:t>Deployment</a:t>
            </a:r>
            <a:r>
              <a:rPr spc="400" dirty="0"/>
              <a:t> </a:t>
            </a:r>
            <a:r>
              <a:rPr spc="-10" dirty="0"/>
              <a:t>Strategy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68232" y="292100"/>
            <a:ext cx="31578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PSMUniversalConnectors</a:t>
            </a:r>
            <a:r>
              <a:rPr sz="1050" spc="20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Safe</a:t>
            </a:r>
            <a:r>
              <a:rPr sz="1050" spc="20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with</a:t>
            </a:r>
            <a:r>
              <a:rPr sz="1050" spc="20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10-minute</a:t>
            </a:r>
            <a:r>
              <a:rPr sz="1050" spc="20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refresh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6636" y="292100"/>
            <a:ext cx="3771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4738B"/>
                </a:solidFill>
                <a:latin typeface="Segoe UI Semibold"/>
                <a:cs typeface="Segoe UI Semibold"/>
              </a:rPr>
              <a:t>29/30</a:t>
            </a:r>
            <a:endParaRPr sz="1050">
              <a:latin typeface="Segoe UI Semibold"/>
              <a:cs typeface="Segoe UI Semibold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7368" y="868679"/>
            <a:ext cx="6590030" cy="5398135"/>
            <a:chOff x="277368" y="868679"/>
            <a:chExt cx="6590030" cy="53981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368" y="868679"/>
              <a:ext cx="6589775" cy="539800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025" y="1190624"/>
              <a:ext cx="190500" cy="13335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35025" y="1149350"/>
            <a:ext cx="41960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Centralized</a:t>
            </a:r>
            <a:r>
              <a:rPr sz="1200" b="1" spc="-3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Deployment</a:t>
            </a:r>
            <a:r>
              <a:rPr sz="1200" b="1" spc="-2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via</a:t>
            </a:r>
            <a:r>
              <a:rPr sz="1200" b="1" spc="-3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PSMUniversalConnectors</a:t>
            </a:r>
            <a:r>
              <a:rPr sz="1200" b="1" spc="-2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20" dirty="0">
                <a:solidFill>
                  <a:srgbClr val="1D3A5E"/>
                </a:solidFill>
                <a:latin typeface="Segoe UI"/>
                <a:cs typeface="Segoe UI"/>
              </a:rPr>
              <a:t>Safe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4262" y="1597025"/>
            <a:ext cx="793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1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4142" y="2120900"/>
            <a:ext cx="996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2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4142" y="2644775"/>
            <a:ext cx="996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3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8375" y="1447702"/>
            <a:ext cx="5438775" cy="148590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200" dirty="0">
                <a:solidFill>
                  <a:srgbClr val="1D3A5E"/>
                </a:solidFill>
                <a:latin typeface="Segoe UI Semibold"/>
                <a:cs typeface="Segoe UI Semibold"/>
              </a:rPr>
              <a:t>Upload</a:t>
            </a:r>
            <a:r>
              <a:rPr sz="1200" spc="-3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1200" dirty="0">
                <a:solidFill>
                  <a:srgbClr val="1D3A5E"/>
                </a:solidFill>
                <a:latin typeface="Segoe UI Semibold"/>
                <a:cs typeface="Segoe UI Semibold"/>
              </a:rPr>
              <a:t>Package</a:t>
            </a:r>
            <a:r>
              <a:rPr sz="1200" spc="-3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1200" dirty="0">
                <a:solidFill>
                  <a:srgbClr val="1D3A5E"/>
                </a:solidFill>
                <a:latin typeface="Segoe UI Semibold"/>
                <a:cs typeface="Segoe UI Semibold"/>
              </a:rPr>
              <a:t>to</a:t>
            </a:r>
            <a:r>
              <a:rPr sz="1200" spc="-3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1200" spc="-20" dirty="0">
                <a:solidFill>
                  <a:srgbClr val="1D3A5E"/>
                </a:solidFill>
                <a:latin typeface="Segoe UI Semibold"/>
                <a:cs typeface="Segoe UI Semibold"/>
              </a:rPr>
              <a:t>Safe</a:t>
            </a:r>
            <a:endParaRPr sz="12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Upload</a:t>
            </a:r>
            <a:r>
              <a:rPr sz="950" spc="6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50" spc="7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connector</a:t>
            </a:r>
            <a:r>
              <a:rPr sz="950" spc="6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package</a:t>
            </a:r>
            <a:r>
              <a:rPr sz="950" spc="7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50" spc="7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50" spc="6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PSMUniversalConnectors</a:t>
            </a:r>
            <a:r>
              <a:rPr sz="950" spc="7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Safe</a:t>
            </a:r>
            <a:r>
              <a:rPr sz="950" spc="7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for</a:t>
            </a:r>
            <a:r>
              <a:rPr sz="950" spc="6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automatic</a:t>
            </a:r>
            <a:r>
              <a:rPr sz="950" spc="7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64738B"/>
                </a:solidFill>
                <a:latin typeface="Segoe UI"/>
                <a:cs typeface="Segoe UI"/>
              </a:rPr>
              <a:t>distribution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200" dirty="0">
                <a:solidFill>
                  <a:srgbClr val="1D3A5E"/>
                </a:solidFill>
                <a:latin typeface="Segoe UI Semibold"/>
                <a:cs typeface="Segoe UI Semibold"/>
              </a:rPr>
              <a:t>Automatic</a:t>
            </a:r>
            <a:r>
              <a:rPr sz="120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 Deployment</a:t>
            </a:r>
            <a:endParaRPr sz="12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All</a:t>
            </a:r>
            <a:r>
              <a:rPr sz="950" spc="5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universal</a:t>
            </a:r>
            <a:r>
              <a:rPr sz="950" spc="6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connectors</a:t>
            </a:r>
            <a:r>
              <a:rPr sz="950" spc="5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in</a:t>
            </a:r>
            <a:r>
              <a:rPr sz="950" spc="6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50" spc="5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Safe</a:t>
            </a:r>
            <a:r>
              <a:rPr sz="950" spc="6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are</a:t>
            </a:r>
            <a:r>
              <a:rPr sz="950" spc="6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deployed</a:t>
            </a:r>
            <a:r>
              <a:rPr sz="950" spc="5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during</a:t>
            </a:r>
            <a:r>
              <a:rPr sz="950" spc="6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50" spc="5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next</a:t>
            </a:r>
            <a:r>
              <a:rPr sz="950" spc="6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configuration</a:t>
            </a:r>
            <a:r>
              <a:rPr sz="950" spc="5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refresh</a:t>
            </a:r>
            <a:r>
              <a:rPr sz="950" spc="6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(10</a:t>
            </a:r>
            <a:r>
              <a:rPr sz="950" spc="6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64738B"/>
                </a:solidFill>
                <a:latin typeface="Segoe UI"/>
                <a:cs typeface="Segoe UI"/>
              </a:rPr>
              <a:t>minutes)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20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Version</a:t>
            </a:r>
            <a:r>
              <a:rPr sz="1200" spc="-2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120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Management</a:t>
            </a:r>
            <a:endParaRPr sz="12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If</a:t>
            </a:r>
            <a:r>
              <a:rPr sz="950" spc="4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50" spc="4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package</a:t>
            </a:r>
            <a:r>
              <a:rPr sz="950" spc="4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is</a:t>
            </a:r>
            <a:r>
              <a:rPr sz="950" spc="4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updated,</a:t>
            </a:r>
            <a:r>
              <a:rPr sz="950" spc="4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it</a:t>
            </a:r>
            <a:r>
              <a:rPr sz="950" spc="4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is</a:t>
            </a:r>
            <a:r>
              <a:rPr sz="950" spc="4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deployed</a:t>
            </a:r>
            <a:r>
              <a:rPr sz="950" spc="4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50" spc="4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all</a:t>
            </a:r>
            <a:r>
              <a:rPr sz="950" spc="4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PSMs;</a:t>
            </a:r>
            <a:r>
              <a:rPr sz="950" spc="4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if</a:t>
            </a:r>
            <a:r>
              <a:rPr sz="950" spc="4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deleted,</a:t>
            </a:r>
            <a:r>
              <a:rPr sz="950" spc="4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it</a:t>
            </a:r>
            <a:r>
              <a:rPr sz="950" spc="4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is</a:t>
            </a:r>
            <a:r>
              <a:rPr sz="950" spc="4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removed</a:t>
            </a:r>
            <a:r>
              <a:rPr sz="950" spc="4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64738B"/>
                </a:solidFill>
                <a:latin typeface="Segoe UI"/>
                <a:cs typeface="Segoe UI"/>
              </a:rPr>
              <a:t>from</a:t>
            </a:r>
            <a:r>
              <a:rPr sz="950" spc="4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50" spc="-25" dirty="0">
                <a:solidFill>
                  <a:srgbClr val="64738B"/>
                </a:solidFill>
                <a:latin typeface="Segoe UI"/>
                <a:cs typeface="Segoe UI"/>
              </a:rPr>
              <a:t>PSM</a:t>
            </a:r>
            <a:endParaRPr sz="950">
              <a:latin typeface="Segoe UI"/>
              <a:cs typeface="Segoe U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3425" y="3213100"/>
            <a:ext cx="123825" cy="12700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20725" y="3145789"/>
            <a:ext cx="531304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7480">
              <a:lnSpc>
                <a:spcPct val="131600"/>
              </a:lnSpc>
              <a:spcBef>
                <a:spcPts val="95"/>
              </a:spcBef>
            </a:pPr>
            <a:r>
              <a:rPr sz="950" b="1" dirty="0">
                <a:solidFill>
                  <a:srgbClr val="1D3A5E"/>
                </a:solidFill>
                <a:latin typeface="Segoe UI"/>
                <a:cs typeface="Segoe UI"/>
              </a:rPr>
              <a:t>Key</a:t>
            </a:r>
            <a:r>
              <a:rPr sz="950" b="1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b="1" dirty="0">
                <a:solidFill>
                  <a:srgbClr val="1D3A5E"/>
                </a:solidFill>
                <a:latin typeface="Segoe UI"/>
                <a:cs typeface="Segoe UI"/>
              </a:rPr>
              <a:t>Point:</a:t>
            </a:r>
            <a:r>
              <a:rPr sz="950" b="1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This</a:t>
            </a:r>
            <a:r>
              <a:rPr sz="950" spc="6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method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simplifies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management</a:t>
            </a:r>
            <a:r>
              <a:rPr sz="950" spc="6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of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PSM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connectors</a:t>
            </a:r>
            <a:r>
              <a:rPr sz="950" spc="6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and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ensures</a:t>
            </a:r>
            <a:r>
              <a:rPr sz="950" spc="6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all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servers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-25" dirty="0">
                <a:solidFill>
                  <a:srgbClr val="1D3A5E"/>
                </a:solidFill>
                <a:latin typeface="Segoe UI"/>
                <a:cs typeface="Segoe UI"/>
              </a:rPr>
              <a:t>are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aligned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with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"/>
                <a:cs typeface="Segoe UI"/>
              </a:rPr>
              <a:t>identical</a:t>
            </a:r>
            <a:r>
              <a:rPr sz="950" spc="6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"/>
                <a:cs typeface="Segoe UI"/>
              </a:rPr>
              <a:t>connectors.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81025" y="4286250"/>
            <a:ext cx="5981700" cy="1657350"/>
            <a:chOff x="581025" y="4286250"/>
            <a:chExt cx="5981700" cy="1657350"/>
          </a:xfrm>
        </p:grpSpPr>
        <p:sp>
          <p:nvSpPr>
            <p:cNvPr id="16" name="object 16"/>
            <p:cNvSpPr/>
            <p:nvPr/>
          </p:nvSpPr>
          <p:spPr>
            <a:xfrm>
              <a:off x="581025" y="4952999"/>
              <a:ext cx="5981700" cy="990600"/>
            </a:xfrm>
            <a:custGeom>
              <a:avLst/>
              <a:gdLst/>
              <a:ahLst/>
              <a:cxnLst/>
              <a:rect l="l" t="t" r="r" b="b"/>
              <a:pathLst>
                <a:path w="5981700" h="990600">
                  <a:moveTo>
                    <a:pt x="5981700" y="981075"/>
                  </a:moveTo>
                  <a:lnTo>
                    <a:pt x="2771775" y="981075"/>
                  </a:lnTo>
                  <a:lnTo>
                    <a:pt x="1590675" y="981075"/>
                  </a:lnTo>
                  <a:lnTo>
                    <a:pt x="0" y="981075"/>
                  </a:lnTo>
                  <a:lnTo>
                    <a:pt x="0" y="990600"/>
                  </a:lnTo>
                  <a:lnTo>
                    <a:pt x="1590675" y="990600"/>
                  </a:lnTo>
                  <a:lnTo>
                    <a:pt x="2771775" y="990600"/>
                  </a:lnTo>
                  <a:lnTo>
                    <a:pt x="5981700" y="990600"/>
                  </a:lnTo>
                  <a:lnTo>
                    <a:pt x="5981700" y="981075"/>
                  </a:lnTo>
                  <a:close/>
                </a:path>
                <a:path w="5981700" h="990600">
                  <a:moveTo>
                    <a:pt x="5981700" y="657225"/>
                  </a:moveTo>
                  <a:lnTo>
                    <a:pt x="2771775" y="657225"/>
                  </a:lnTo>
                  <a:lnTo>
                    <a:pt x="1590675" y="657225"/>
                  </a:lnTo>
                  <a:lnTo>
                    <a:pt x="0" y="657225"/>
                  </a:lnTo>
                  <a:lnTo>
                    <a:pt x="0" y="666750"/>
                  </a:lnTo>
                  <a:lnTo>
                    <a:pt x="1590675" y="666750"/>
                  </a:lnTo>
                  <a:lnTo>
                    <a:pt x="2771775" y="666750"/>
                  </a:lnTo>
                  <a:lnTo>
                    <a:pt x="5981700" y="666750"/>
                  </a:lnTo>
                  <a:lnTo>
                    <a:pt x="5981700" y="657225"/>
                  </a:lnTo>
                  <a:close/>
                </a:path>
                <a:path w="5981700" h="990600">
                  <a:moveTo>
                    <a:pt x="5981700" y="333375"/>
                  </a:moveTo>
                  <a:lnTo>
                    <a:pt x="2771775" y="333375"/>
                  </a:lnTo>
                  <a:lnTo>
                    <a:pt x="1590675" y="333375"/>
                  </a:lnTo>
                  <a:lnTo>
                    <a:pt x="0" y="333375"/>
                  </a:lnTo>
                  <a:lnTo>
                    <a:pt x="0" y="342900"/>
                  </a:lnTo>
                  <a:lnTo>
                    <a:pt x="1590675" y="342900"/>
                  </a:lnTo>
                  <a:lnTo>
                    <a:pt x="2771775" y="342900"/>
                  </a:lnTo>
                  <a:lnTo>
                    <a:pt x="5981700" y="342900"/>
                  </a:lnTo>
                  <a:lnTo>
                    <a:pt x="5981700" y="333375"/>
                  </a:lnTo>
                  <a:close/>
                </a:path>
                <a:path w="5981700" h="990600">
                  <a:moveTo>
                    <a:pt x="5981700" y="0"/>
                  </a:moveTo>
                  <a:lnTo>
                    <a:pt x="2771775" y="0"/>
                  </a:lnTo>
                  <a:lnTo>
                    <a:pt x="1590675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1590675" y="19050"/>
                  </a:lnTo>
                  <a:lnTo>
                    <a:pt x="2771775" y="19050"/>
                  </a:lnTo>
                  <a:lnTo>
                    <a:pt x="5981700" y="19050"/>
                  </a:lnTo>
                  <a:lnTo>
                    <a:pt x="5981700" y="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1025" y="4286250"/>
              <a:ext cx="152400" cy="1524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96925" y="4254500"/>
            <a:ext cx="2200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Configuration</a:t>
            </a:r>
            <a:r>
              <a:rPr sz="1200" b="1" spc="-4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Refresh</a:t>
            </a:r>
            <a:r>
              <a:rPr sz="1200" b="1" spc="-4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Interval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3575" y="4692650"/>
            <a:ext cx="60071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Parameter</a:t>
            </a:r>
            <a:endParaRPr sz="950">
              <a:latin typeface="Segoe UI Semibold"/>
              <a:cs typeface="Segoe UI Semibold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50830" y="4692650"/>
            <a:ext cx="33083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Value</a:t>
            </a:r>
            <a:endParaRPr sz="950">
              <a:latin typeface="Segoe UI Semibold"/>
              <a:cs typeface="Segoe UI Semibold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52800" y="4600575"/>
            <a:ext cx="3209925" cy="361950"/>
          </a:xfrm>
          <a:prstGeom prst="rect">
            <a:avLst/>
          </a:prstGeom>
          <a:solidFill>
            <a:srgbClr val="F7FAFB"/>
          </a:solidFill>
        </p:spPr>
        <p:txBody>
          <a:bodyPr vert="horz" wrap="square" lIns="0" tIns="10795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850"/>
              </a:spcBef>
            </a:pP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Description</a:t>
            </a:r>
            <a:endParaRPr sz="950">
              <a:latin typeface="Segoe UI Semibold"/>
              <a:cs typeface="Segoe UI Semibold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3575" y="5045075"/>
            <a:ext cx="94678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334054"/>
                </a:solidFill>
                <a:latin typeface="Segoe UI"/>
                <a:cs typeface="Segoe UI"/>
              </a:rPr>
              <a:t>Refresh</a:t>
            </a:r>
            <a:r>
              <a:rPr sz="950" b="1" spc="4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b="1" spc="-10" dirty="0">
                <a:solidFill>
                  <a:srgbClr val="334054"/>
                </a:solidFill>
                <a:latin typeface="Segoe UI"/>
                <a:cs typeface="Segoe UI"/>
              </a:rPr>
              <a:t>Interval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50830" y="5045075"/>
            <a:ext cx="62928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10</a:t>
            </a:r>
            <a:r>
              <a:rPr sz="950" spc="2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334054"/>
                </a:solidFill>
                <a:latin typeface="Segoe UI"/>
                <a:cs typeface="Segoe UI"/>
              </a:rPr>
              <a:t>minutes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30587" y="5045075"/>
            <a:ext cx="236410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Default</a:t>
            </a:r>
            <a:r>
              <a:rPr sz="950" spc="7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time</a:t>
            </a:r>
            <a:r>
              <a:rPr sz="950" spc="7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between</a:t>
            </a:r>
            <a:r>
              <a:rPr sz="950" spc="7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configuration</a:t>
            </a:r>
            <a:r>
              <a:rPr sz="950" spc="7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334054"/>
                </a:solidFill>
                <a:latin typeface="Segoe UI"/>
                <a:cs typeface="Segoe UI"/>
              </a:rPr>
              <a:t>checks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3575" y="5368925"/>
            <a:ext cx="106426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334054"/>
                </a:solidFill>
                <a:latin typeface="Segoe UI"/>
                <a:cs typeface="Segoe UI"/>
              </a:rPr>
              <a:t>Deployment</a:t>
            </a:r>
            <a:r>
              <a:rPr sz="950" b="1" spc="114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b="1" spc="-20" dirty="0">
                <a:solidFill>
                  <a:srgbClr val="334054"/>
                </a:solidFill>
                <a:latin typeface="Segoe UI"/>
                <a:cs typeface="Segoe UI"/>
              </a:rPr>
              <a:t>Time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250830" y="5368925"/>
            <a:ext cx="76327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~2-3</a:t>
            </a:r>
            <a:r>
              <a:rPr sz="950" spc="4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334054"/>
                </a:solidFill>
                <a:latin typeface="Segoe UI"/>
                <a:cs typeface="Segoe UI"/>
              </a:rPr>
              <a:t>minutes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430587" y="5368925"/>
            <a:ext cx="212661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Time</a:t>
            </a:r>
            <a:r>
              <a:rPr sz="950" spc="4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to</a:t>
            </a:r>
            <a:r>
              <a:rPr sz="950" spc="4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deploy</a:t>
            </a:r>
            <a:r>
              <a:rPr sz="950" spc="4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package</a:t>
            </a:r>
            <a:r>
              <a:rPr sz="950" spc="4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to</a:t>
            </a:r>
            <a:r>
              <a:rPr sz="950" spc="4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PSM</a:t>
            </a:r>
            <a:r>
              <a:rPr sz="950" spc="4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334054"/>
                </a:solidFill>
                <a:latin typeface="Segoe UI"/>
                <a:cs typeface="Segoe UI"/>
              </a:rPr>
              <a:t>server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63575" y="5692775"/>
            <a:ext cx="108394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334054"/>
                </a:solidFill>
                <a:latin typeface="Segoe UI"/>
                <a:cs typeface="Segoe UI"/>
              </a:rPr>
              <a:t>Update</a:t>
            </a:r>
            <a:r>
              <a:rPr sz="950" b="1" spc="6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b="1" spc="-10" dirty="0">
                <a:solidFill>
                  <a:srgbClr val="334054"/>
                </a:solidFill>
                <a:latin typeface="Segoe UI"/>
                <a:cs typeface="Segoe UI"/>
              </a:rPr>
              <a:t>Frequency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50830" y="5692775"/>
            <a:ext cx="6210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On</a:t>
            </a:r>
            <a:r>
              <a:rPr sz="950" spc="3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334054"/>
                </a:solidFill>
                <a:latin typeface="Segoe UI"/>
                <a:cs typeface="Segoe UI"/>
              </a:rPr>
              <a:t>change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430587" y="5692775"/>
            <a:ext cx="206565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Immediate</a:t>
            </a:r>
            <a:r>
              <a:rPr sz="950" spc="6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when</a:t>
            </a:r>
            <a:r>
              <a:rPr sz="950" spc="6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package</a:t>
            </a:r>
            <a:r>
              <a:rPr sz="950" spc="6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is</a:t>
            </a:r>
            <a:r>
              <a:rPr sz="950" spc="6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334054"/>
                </a:solidFill>
                <a:latin typeface="Segoe UI"/>
                <a:cs typeface="Segoe UI"/>
              </a:rPr>
              <a:t>modified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946391" y="868679"/>
            <a:ext cx="4968240" cy="4312920"/>
            <a:chOff x="6946391" y="868679"/>
            <a:chExt cx="4968240" cy="4312920"/>
          </a:xfrm>
        </p:grpSpPr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46391" y="868679"/>
              <a:ext cx="4968239" cy="431291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8524" y="1190624"/>
              <a:ext cx="171450" cy="133350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7483475" y="1149350"/>
            <a:ext cx="1832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Deployment</a:t>
            </a:r>
            <a:r>
              <a:rPr sz="1200" b="1" spc="-7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Architecture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673975" y="1654175"/>
            <a:ext cx="1837689" cy="964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D3A5E"/>
                </a:solidFill>
                <a:latin typeface="Segoe UI Semibold"/>
                <a:cs typeface="Segoe UI Semibold"/>
              </a:rPr>
              <a:t>PSMUniversalConnectors</a:t>
            </a:r>
            <a:r>
              <a:rPr sz="1050" spc="-6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1050" spc="-20" dirty="0">
                <a:solidFill>
                  <a:srgbClr val="1D3A5E"/>
                </a:solidFill>
                <a:latin typeface="Segoe UI Semibold"/>
                <a:cs typeface="Segoe UI Semibold"/>
              </a:rPr>
              <a:t>Safe</a:t>
            </a:r>
            <a:endParaRPr sz="1050">
              <a:latin typeface="Segoe UI Semibold"/>
              <a:cs typeface="Segoe UI Semibold"/>
            </a:endParaRPr>
          </a:p>
          <a:p>
            <a:pPr marL="250825">
              <a:lnSpc>
                <a:spcPct val="100000"/>
              </a:lnSpc>
              <a:spcBef>
                <a:spcPts val="940"/>
              </a:spcBef>
            </a:pP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PSM</a:t>
            </a:r>
            <a:r>
              <a:rPr sz="950" spc="6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Server</a:t>
            </a:r>
            <a:r>
              <a:rPr sz="950" spc="6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spc="-50" dirty="0">
                <a:solidFill>
                  <a:srgbClr val="334054"/>
                </a:solidFill>
                <a:latin typeface="Segoe UI"/>
                <a:cs typeface="Segoe UI"/>
              </a:rPr>
              <a:t>1</a:t>
            </a:r>
            <a:endParaRPr sz="950">
              <a:latin typeface="Segoe UI"/>
              <a:cs typeface="Segoe UI"/>
            </a:endParaRPr>
          </a:p>
          <a:p>
            <a:pPr marL="250825">
              <a:lnSpc>
                <a:spcPct val="100000"/>
              </a:lnSpc>
              <a:spcBef>
                <a:spcPts val="885"/>
              </a:spcBef>
            </a:pP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PSM</a:t>
            </a:r>
            <a:r>
              <a:rPr sz="950" spc="6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Server</a:t>
            </a:r>
            <a:r>
              <a:rPr sz="950" spc="6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spc="-50" dirty="0">
                <a:solidFill>
                  <a:srgbClr val="334054"/>
                </a:solidFill>
                <a:latin typeface="Segoe UI"/>
                <a:cs typeface="Segoe UI"/>
              </a:rPr>
              <a:t>2</a:t>
            </a:r>
            <a:endParaRPr sz="950">
              <a:latin typeface="Segoe UI"/>
              <a:cs typeface="Segoe UI"/>
            </a:endParaRPr>
          </a:p>
          <a:p>
            <a:pPr marL="250825">
              <a:lnSpc>
                <a:spcPct val="100000"/>
              </a:lnSpc>
              <a:spcBef>
                <a:spcPts val="885"/>
              </a:spcBef>
            </a:pP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PSM</a:t>
            </a:r>
            <a:r>
              <a:rPr sz="950" spc="60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334054"/>
                </a:solidFill>
                <a:latin typeface="Segoe UI"/>
                <a:cs typeface="Segoe UI"/>
              </a:rPr>
              <a:t>Server</a:t>
            </a:r>
            <a:r>
              <a:rPr sz="950" spc="65" dirty="0">
                <a:solidFill>
                  <a:srgbClr val="334054"/>
                </a:solidFill>
                <a:latin typeface="Segoe UI"/>
                <a:cs typeface="Segoe UI"/>
              </a:rPr>
              <a:t> </a:t>
            </a:r>
            <a:r>
              <a:rPr sz="950" spc="-50" dirty="0">
                <a:solidFill>
                  <a:srgbClr val="334054"/>
                </a:solidFill>
                <a:latin typeface="Segoe UI"/>
                <a:cs typeface="Segoe UI"/>
              </a:rPr>
              <a:t>3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0" y="3381375"/>
            <a:ext cx="12192000" cy="3476625"/>
            <a:chOff x="0" y="3381375"/>
            <a:chExt cx="12192000" cy="3476625"/>
          </a:xfrm>
        </p:grpSpPr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51700" y="3381375"/>
              <a:ext cx="146050" cy="15240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0" y="6793991"/>
              <a:ext cx="12192000" cy="64135"/>
            </a:xfrm>
            <a:custGeom>
              <a:avLst/>
              <a:gdLst/>
              <a:ahLst/>
              <a:cxnLst/>
              <a:rect l="l" t="t" r="r" b="b"/>
              <a:pathLst>
                <a:path w="12192000" h="64134">
                  <a:moveTo>
                    <a:pt x="0" y="0"/>
                  </a:moveTo>
                  <a:lnTo>
                    <a:pt x="12191999" y="0"/>
                  </a:lnTo>
                  <a:lnTo>
                    <a:pt x="12191999" y="64008"/>
                  </a:lnTo>
                  <a:lnTo>
                    <a:pt x="0" y="64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7464425" y="3349625"/>
            <a:ext cx="1329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Key</a:t>
            </a:r>
            <a:r>
              <a:rPr sz="1200" b="1" spc="-3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Configuration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378700" y="3745865"/>
            <a:ext cx="3566160" cy="90170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#</a:t>
            </a:r>
            <a:r>
              <a:rPr sz="950" spc="6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PowerShell</a:t>
            </a:r>
            <a:r>
              <a:rPr sz="950" spc="6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script</a:t>
            </a:r>
            <a:r>
              <a:rPr sz="950" spc="6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94A2B8"/>
                </a:solidFill>
                <a:latin typeface="Consolas"/>
                <a:cs typeface="Consolas"/>
              </a:rPr>
              <a:t>for</a:t>
            </a:r>
            <a:r>
              <a:rPr sz="950" spc="6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94A2B8"/>
                </a:solidFill>
                <a:latin typeface="Consolas"/>
                <a:cs typeface="Consolas"/>
              </a:rPr>
              <a:t>deployment</a:t>
            </a:r>
            <a:endParaRPr sz="9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950" dirty="0">
                <a:solidFill>
                  <a:srgbClr val="60A5FA"/>
                </a:solidFill>
                <a:latin typeface="Consolas"/>
                <a:cs typeface="Consolas"/>
              </a:rPr>
              <a:t>$SafeName</a:t>
            </a:r>
            <a:r>
              <a:rPr sz="950" spc="60" dirty="0">
                <a:solidFill>
                  <a:srgbClr val="60A5FA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950" spc="65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A5F2FB"/>
                </a:solidFill>
                <a:latin typeface="Consolas"/>
                <a:cs typeface="Consolas"/>
              </a:rPr>
              <a:t>"PSMUniversalConnectors"</a:t>
            </a:r>
            <a:endParaRPr sz="9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950" dirty="0">
                <a:solidFill>
                  <a:srgbClr val="60A5FA"/>
                </a:solidFill>
                <a:latin typeface="Consolas"/>
                <a:cs typeface="Consolas"/>
              </a:rPr>
              <a:t>$PackagePath</a:t>
            </a:r>
            <a:r>
              <a:rPr sz="950" spc="75" dirty="0">
                <a:solidFill>
                  <a:srgbClr val="60A5FA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=</a:t>
            </a:r>
            <a:r>
              <a:rPr sz="950" spc="80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A5F2FB"/>
                </a:solidFill>
                <a:latin typeface="Consolas"/>
                <a:cs typeface="Consolas"/>
              </a:rPr>
              <a:t>"C:\Connectors\MyConnector.zip"</a:t>
            </a:r>
            <a:endParaRPr sz="9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950" dirty="0">
                <a:solidFill>
                  <a:srgbClr val="60A5FA"/>
                </a:solidFill>
                <a:latin typeface="Consolas"/>
                <a:cs typeface="Consolas"/>
              </a:rPr>
              <a:t>Upload-PVFile</a:t>
            </a:r>
            <a:r>
              <a:rPr sz="950" spc="100" dirty="0">
                <a:solidFill>
                  <a:srgbClr val="60A5FA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-Safe</a:t>
            </a:r>
            <a:r>
              <a:rPr sz="950" spc="105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$SafeName</a:t>
            </a:r>
            <a:r>
              <a:rPr sz="950" spc="105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E2E7F0"/>
                </a:solidFill>
                <a:latin typeface="Consolas"/>
                <a:cs typeface="Consolas"/>
              </a:rPr>
              <a:t>-FilePath</a:t>
            </a:r>
            <a:r>
              <a:rPr sz="950" spc="105" dirty="0">
                <a:solidFill>
                  <a:srgbClr val="E2E7F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E2E7F0"/>
                </a:solidFill>
                <a:latin typeface="Consolas"/>
                <a:cs typeface="Consolas"/>
              </a:rPr>
              <a:t>$PackagePath</a:t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215900"/>
            <a:ext cx="549529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Deploy-Connectors.ps1</a:t>
            </a:r>
            <a:r>
              <a:rPr spc="204" dirty="0"/>
              <a:t> </a:t>
            </a:r>
            <a:r>
              <a:rPr dirty="0"/>
              <a:t>-</a:t>
            </a:r>
            <a:r>
              <a:rPr spc="204" dirty="0"/>
              <a:t> </a:t>
            </a:r>
            <a:r>
              <a:rPr dirty="0"/>
              <a:t>Test</a:t>
            </a:r>
            <a:r>
              <a:rPr spc="210" dirty="0"/>
              <a:t> </a:t>
            </a:r>
            <a:r>
              <a:rPr spc="-10" dirty="0"/>
              <a:t>Deployment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33446" y="292100"/>
            <a:ext cx="234124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PowerShell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Script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for</a:t>
            </a:r>
            <a:r>
              <a:rPr sz="1050" spc="-5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Connector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 Testing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6922" y="292100"/>
            <a:ext cx="3771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4738B"/>
                </a:solidFill>
                <a:latin typeface="Segoe UI Semibold"/>
                <a:cs typeface="Segoe UI Semibold"/>
              </a:rPr>
              <a:t>30/30</a:t>
            </a:r>
            <a:endParaRPr sz="1050">
              <a:latin typeface="Segoe UI Semibold"/>
              <a:cs typeface="Segoe UI Semibold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7368" y="868679"/>
            <a:ext cx="11637645" cy="4578350"/>
            <a:chOff x="277368" y="868679"/>
            <a:chExt cx="11637645" cy="45783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368" y="868679"/>
              <a:ext cx="11637263" cy="457809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400" y="1142999"/>
              <a:ext cx="171450" cy="13335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68350" y="1101725"/>
            <a:ext cx="18122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1D3A5E"/>
                </a:solidFill>
                <a:latin typeface="Segoe UI"/>
                <a:cs typeface="Segoe UI"/>
              </a:rPr>
              <a:t>Test</a:t>
            </a:r>
            <a:r>
              <a:rPr sz="1200" b="1" spc="-5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Deployment</a:t>
            </a:r>
            <a:r>
              <a:rPr sz="1200" b="1" spc="-5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Process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6706" y="1530350"/>
            <a:ext cx="717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1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9325" y="1457166"/>
            <a:ext cx="4229735" cy="3790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Copy</a:t>
            </a:r>
            <a:r>
              <a:rPr sz="950" spc="4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Package</a:t>
            </a:r>
            <a:r>
              <a:rPr sz="950" spc="4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to</a:t>
            </a:r>
            <a:r>
              <a:rPr sz="950" spc="4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PSM\Packages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Place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your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connector package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in the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PSM\Packages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 folder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on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 target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PSM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server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7925" y="2111375"/>
            <a:ext cx="88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2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9325" y="2038191"/>
            <a:ext cx="3766185" cy="3790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Navigate</a:t>
            </a:r>
            <a:r>
              <a:rPr sz="950" spc="5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to</a:t>
            </a:r>
            <a:r>
              <a:rPr sz="950" spc="5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Scripts</a:t>
            </a:r>
            <a:r>
              <a:rPr sz="950" spc="5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Directory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Change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PSM\Scripts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folder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where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Deploy-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Connectors.ps1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is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located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7925" y="2692400"/>
            <a:ext cx="88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3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9325" y="2619216"/>
            <a:ext cx="3341370" cy="3790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Run</a:t>
            </a:r>
            <a:r>
              <a:rPr sz="950" spc="8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Deployment</a:t>
            </a:r>
            <a:r>
              <a:rPr sz="950" spc="8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Script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Execute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script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with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optional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-Verbose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flag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for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detailed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logging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6735" y="3273425"/>
            <a:ext cx="914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4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9325" y="3200241"/>
            <a:ext cx="2628900" cy="3790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dirty="0">
                <a:solidFill>
                  <a:srgbClr val="1D3A5E"/>
                </a:solidFill>
                <a:latin typeface="Segoe UI Semibold"/>
                <a:cs typeface="Segoe UI Semibold"/>
              </a:rPr>
              <a:t>Verify</a:t>
            </a:r>
            <a:r>
              <a:rPr sz="950" spc="1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9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Deployment</a:t>
            </a:r>
            <a:endParaRPr sz="9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Check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logs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in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PSM\Logs\Scripts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for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troubleshooting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400" y="4219575"/>
            <a:ext cx="152400" cy="15240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54050" y="4187825"/>
            <a:ext cx="4026535" cy="895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Key</a:t>
            </a:r>
            <a:r>
              <a:rPr sz="1200" b="1" spc="-3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Points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900" b="1" dirty="0">
                <a:solidFill>
                  <a:srgbClr val="1D3A5E"/>
                </a:solidFill>
                <a:latin typeface="Segoe UI"/>
                <a:cs typeface="Segoe UI"/>
              </a:rPr>
              <a:t>Location:</a:t>
            </a:r>
            <a:r>
              <a:rPr sz="900" b="1" spc="-2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C:\Program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Files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(x86)\CyberArk\PSM\Scripts\Deploy-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Connectors.ps1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900" b="1" dirty="0">
                <a:solidFill>
                  <a:srgbClr val="1D3A5E"/>
                </a:solidFill>
                <a:latin typeface="Segoe UI"/>
                <a:cs typeface="Segoe UI"/>
              </a:rPr>
              <a:t>Purpose:</a:t>
            </a:r>
            <a:r>
              <a:rPr sz="900" b="1" spc="-2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spc="-20" dirty="0">
                <a:solidFill>
                  <a:srgbClr val="1D3A5E"/>
                </a:solidFill>
                <a:latin typeface="Segoe UI"/>
                <a:cs typeface="Segoe UI"/>
              </a:rPr>
              <a:t>Test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connector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before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distributing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to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all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spc="-20" dirty="0">
                <a:solidFill>
                  <a:srgbClr val="1D3A5E"/>
                </a:solidFill>
                <a:latin typeface="Segoe UI"/>
                <a:cs typeface="Segoe UI"/>
              </a:rPr>
              <a:t>PSMs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900" b="1" dirty="0">
                <a:solidFill>
                  <a:srgbClr val="1D3A5E"/>
                </a:solidFill>
                <a:latin typeface="Segoe UI"/>
                <a:cs typeface="Segoe UI"/>
              </a:rPr>
              <a:t>Logs:</a:t>
            </a:r>
            <a:r>
              <a:rPr sz="900" b="1" spc="-2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Check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PSM\Logs\Scripts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for</a:t>
            </a:r>
            <a:r>
              <a:rPr sz="900" spc="-1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1D3A5E"/>
                </a:solidFill>
                <a:latin typeface="Segoe UI"/>
                <a:cs typeface="Segoe UI"/>
              </a:rPr>
              <a:t>detailed</a:t>
            </a:r>
            <a:r>
              <a:rPr sz="900" spc="-10" dirty="0">
                <a:solidFill>
                  <a:srgbClr val="1D3A5E"/>
                </a:solidFill>
                <a:latin typeface="Segoe UI"/>
                <a:cs typeface="Segoe UI"/>
              </a:rPr>
              <a:t> output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24650" y="1133475"/>
            <a:ext cx="114300" cy="15240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826250" y="1101725"/>
            <a:ext cx="4550410" cy="1886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PowerShell</a:t>
            </a:r>
            <a:r>
              <a:rPr sz="1200" b="1" spc="-40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Script</a:t>
            </a:r>
            <a:r>
              <a:rPr sz="1200" b="1" spc="-35" dirty="0">
                <a:solidFill>
                  <a:srgbClr val="1D3A5E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Usage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#</a:t>
            </a:r>
            <a:r>
              <a:rPr sz="900" spc="-4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Navigate</a:t>
            </a:r>
            <a:r>
              <a:rPr sz="90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to</a:t>
            </a:r>
            <a:r>
              <a:rPr sz="900" spc="-4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PSM</a:t>
            </a:r>
            <a:r>
              <a:rPr sz="90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Scripts</a:t>
            </a:r>
            <a:r>
              <a:rPr sz="90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94A2B8"/>
                </a:solidFill>
                <a:latin typeface="Consolas"/>
                <a:cs typeface="Consolas"/>
              </a:rPr>
              <a:t>directory</a:t>
            </a:r>
            <a:endParaRPr sz="9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900" spc="-10" dirty="0">
                <a:solidFill>
                  <a:srgbClr val="60A5FA"/>
                </a:solidFill>
                <a:latin typeface="Consolas"/>
                <a:cs typeface="Consolas"/>
              </a:rPr>
              <a:t>Set-Location</a:t>
            </a:r>
            <a:r>
              <a:rPr sz="900" spc="-10" dirty="0">
                <a:solidFill>
                  <a:srgbClr val="A5F2FB"/>
                </a:solidFill>
                <a:latin typeface="Consolas"/>
                <a:cs typeface="Consolas"/>
              </a:rPr>
              <a:t>"C:\Program</a:t>
            </a:r>
            <a:r>
              <a:rPr sz="900" spc="-2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Files</a:t>
            </a:r>
            <a:r>
              <a:rPr sz="900" spc="-2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5F2FB"/>
                </a:solidFill>
                <a:latin typeface="Consolas"/>
                <a:cs typeface="Consolas"/>
              </a:rPr>
              <a:t>(x86)\CyberArk\PSM\Scripts"</a:t>
            </a:r>
            <a:endParaRPr sz="9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#</a:t>
            </a:r>
            <a:r>
              <a:rPr sz="900" spc="-6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Run</a:t>
            </a:r>
            <a:r>
              <a:rPr sz="900" spc="-5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deployment</a:t>
            </a:r>
            <a:r>
              <a:rPr sz="900" spc="-5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script</a:t>
            </a:r>
            <a:r>
              <a:rPr sz="900" spc="-5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with</a:t>
            </a:r>
            <a:r>
              <a:rPr sz="900" spc="-5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verbose</a:t>
            </a:r>
            <a:r>
              <a:rPr sz="900" spc="-5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94A2B8"/>
                </a:solidFill>
                <a:latin typeface="Consolas"/>
                <a:cs typeface="Consolas"/>
              </a:rPr>
              <a:t>output</a:t>
            </a:r>
            <a:endParaRPr sz="9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.</a:t>
            </a:r>
            <a:r>
              <a:rPr sz="900" spc="-10" dirty="0">
                <a:solidFill>
                  <a:srgbClr val="F59D0A"/>
                </a:solidFill>
                <a:latin typeface="Consolas"/>
                <a:cs typeface="Consolas"/>
              </a:rPr>
              <a:t>/Deploy-Connectors.ps1</a:t>
            </a: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-Verbose</a:t>
            </a:r>
            <a:endParaRPr sz="9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#</a:t>
            </a:r>
            <a:r>
              <a:rPr sz="900" spc="-4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Or</a:t>
            </a:r>
            <a:r>
              <a:rPr sz="900" spc="-4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run</a:t>
            </a:r>
            <a:r>
              <a:rPr sz="90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without</a:t>
            </a:r>
            <a:r>
              <a:rPr sz="900" spc="-4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verbose</a:t>
            </a:r>
            <a:r>
              <a:rPr sz="90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for</a:t>
            </a:r>
            <a:r>
              <a:rPr sz="900" spc="-4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minimal</a:t>
            </a:r>
            <a:r>
              <a:rPr sz="900" spc="-4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94A2B8"/>
                </a:solidFill>
                <a:latin typeface="Consolas"/>
                <a:cs typeface="Consolas"/>
              </a:rPr>
              <a:t>output</a:t>
            </a:r>
            <a:endParaRPr sz="9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900" spc="-10" dirty="0">
                <a:solidFill>
                  <a:srgbClr val="E2E7F0"/>
                </a:solidFill>
                <a:latin typeface="Consolas"/>
                <a:cs typeface="Consolas"/>
              </a:rPr>
              <a:t>.</a:t>
            </a:r>
            <a:r>
              <a:rPr sz="900" spc="-10" dirty="0">
                <a:solidFill>
                  <a:srgbClr val="F59D0A"/>
                </a:solidFill>
                <a:latin typeface="Consolas"/>
                <a:cs typeface="Consolas"/>
              </a:rPr>
              <a:t>/Deploy-Connectors.ps1</a:t>
            </a:r>
            <a:endParaRPr sz="9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#</a:t>
            </a:r>
            <a:r>
              <a:rPr sz="900" spc="-6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Check</a:t>
            </a:r>
            <a:r>
              <a:rPr sz="900" spc="-55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94A2B8"/>
                </a:solidFill>
                <a:latin typeface="Consolas"/>
                <a:cs typeface="Consolas"/>
              </a:rPr>
              <a:t>deployment</a:t>
            </a:r>
            <a:r>
              <a:rPr sz="900" spc="-50" dirty="0">
                <a:solidFill>
                  <a:srgbClr val="94A2B8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94A2B8"/>
                </a:solidFill>
                <a:latin typeface="Consolas"/>
                <a:cs typeface="Consolas"/>
              </a:rPr>
              <a:t>status</a:t>
            </a:r>
            <a:endParaRPr sz="9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900" spc="-10" dirty="0">
                <a:solidFill>
                  <a:srgbClr val="F59D0A"/>
                </a:solidFill>
                <a:latin typeface="Consolas"/>
                <a:cs typeface="Consolas"/>
              </a:rPr>
              <a:t>Get-ChildItem</a:t>
            </a:r>
            <a:r>
              <a:rPr sz="900" spc="-10" dirty="0">
                <a:solidFill>
                  <a:srgbClr val="A5F2FB"/>
                </a:solidFill>
                <a:latin typeface="Consolas"/>
                <a:cs typeface="Consolas"/>
              </a:rPr>
              <a:t>"C:\Program</a:t>
            </a:r>
            <a:r>
              <a:rPr sz="900" spc="-2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5F2FB"/>
                </a:solidFill>
                <a:latin typeface="Consolas"/>
                <a:cs typeface="Consolas"/>
              </a:rPr>
              <a:t>Files</a:t>
            </a:r>
            <a:r>
              <a:rPr sz="900" spc="-25" dirty="0">
                <a:solidFill>
                  <a:srgbClr val="A5F2FB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5F2FB"/>
                </a:solidFill>
                <a:latin typeface="Consolas"/>
                <a:cs typeface="Consolas"/>
              </a:rPr>
              <a:t>(x86)\CyberArk\PSM\Components\Connectors"</a:t>
            </a:r>
            <a:endParaRPr sz="900">
              <a:latin typeface="Consolas"/>
              <a:cs typeface="Consola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609975"/>
            <a:ext cx="12192000" cy="3248025"/>
            <a:chOff x="0" y="3609975"/>
            <a:chExt cx="12192000" cy="3248025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27825" y="3609975"/>
              <a:ext cx="107950" cy="15240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793991"/>
              <a:ext cx="12192000" cy="64135"/>
            </a:xfrm>
            <a:custGeom>
              <a:avLst/>
              <a:gdLst/>
              <a:ahLst/>
              <a:cxnLst/>
              <a:rect l="l" t="t" r="r" b="b"/>
              <a:pathLst>
                <a:path w="12192000" h="64134">
                  <a:moveTo>
                    <a:pt x="0" y="0"/>
                  </a:moveTo>
                  <a:lnTo>
                    <a:pt x="12191999" y="0"/>
                  </a:lnTo>
                  <a:lnTo>
                    <a:pt x="12191999" y="64008"/>
                  </a:lnTo>
                  <a:lnTo>
                    <a:pt x="0" y="64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902450" y="3578225"/>
            <a:ext cx="10090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Best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Practices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45300" y="3963034"/>
            <a:ext cx="4401820" cy="34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sz="900" b="1" dirty="0">
                <a:solidFill>
                  <a:srgbClr val="91400D"/>
                </a:solidFill>
                <a:latin typeface="Segoe UI"/>
                <a:cs typeface="Segoe UI"/>
              </a:rPr>
              <a:t>Important:</a:t>
            </a:r>
            <a:r>
              <a:rPr sz="900" b="1" spc="-1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Always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test</a:t>
            </a:r>
            <a:r>
              <a:rPr sz="900" spc="-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connectors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in</a:t>
            </a:r>
            <a:r>
              <a:rPr sz="900" spc="-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a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development</a:t>
            </a:r>
            <a:r>
              <a:rPr sz="900" spc="-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environment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before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deploying</a:t>
            </a:r>
            <a:r>
              <a:rPr sz="900" spc="-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91400D"/>
                </a:solidFill>
                <a:latin typeface="Segoe UI"/>
                <a:cs typeface="Segoe UI"/>
              </a:rPr>
              <a:t>to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production.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Use</a:t>
            </a:r>
            <a:r>
              <a:rPr sz="900" spc="-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-Verbose</a:t>
            </a:r>
            <a:r>
              <a:rPr sz="900" spc="-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flag</a:t>
            </a:r>
            <a:r>
              <a:rPr sz="900" spc="-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for</a:t>
            </a:r>
            <a:r>
              <a:rPr sz="900" spc="-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detailed</a:t>
            </a:r>
            <a:r>
              <a:rPr sz="900" spc="-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logging</a:t>
            </a:r>
            <a:r>
              <a:rPr sz="900" spc="-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91400D"/>
                </a:solidFill>
                <a:latin typeface="Segoe UI"/>
                <a:cs typeface="Segoe UI"/>
              </a:rPr>
              <a:t>during</a:t>
            </a:r>
            <a:r>
              <a:rPr sz="900" spc="-5" dirty="0">
                <a:solidFill>
                  <a:srgbClr val="91400D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91400D"/>
                </a:solidFill>
                <a:latin typeface="Segoe UI"/>
                <a:cs typeface="Segoe UI"/>
              </a:rPr>
              <a:t>troubleshooting.</a:t>
            </a:r>
            <a:endParaRPr sz="9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215900"/>
            <a:ext cx="29381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Security</a:t>
            </a:r>
            <a:r>
              <a:rPr spc="210" dirty="0"/>
              <a:t> </a:t>
            </a:r>
            <a:r>
              <a:rPr dirty="0"/>
              <a:t>Best</a:t>
            </a:r>
            <a:r>
              <a:rPr spc="215" dirty="0"/>
              <a:t> </a:t>
            </a:r>
            <a:r>
              <a:rPr spc="-10" dirty="0"/>
              <a:t>Practices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5983" y="292100"/>
            <a:ext cx="2015489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PSM</a:t>
            </a:r>
            <a:r>
              <a:rPr sz="1050" spc="-35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Universal</a:t>
            </a:r>
            <a:r>
              <a:rPr sz="1050" spc="-30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94A2B8"/>
                </a:solidFill>
                <a:latin typeface="Segoe UI"/>
                <a:cs typeface="Segoe UI"/>
              </a:rPr>
              <a:t>Connector</a:t>
            </a:r>
            <a:r>
              <a:rPr sz="1050" spc="-30" dirty="0">
                <a:solidFill>
                  <a:srgbClr val="94A2B8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94A2B8"/>
                </a:solidFill>
                <a:latin typeface="Segoe UI"/>
                <a:cs typeface="Segoe UI"/>
              </a:rPr>
              <a:t>Security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67306" y="292100"/>
            <a:ext cx="3568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4738B"/>
                </a:solidFill>
                <a:latin typeface="Segoe UI Semibold"/>
                <a:cs typeface="Segoe UI Semibold"/>
              </a:rPr>
              <a:t>31/30</a:t>
            </a:r>
            <a:endParaRPr sz="1050">
              <a:latin typeface="Segoe UI Semibold"/>
              <a:cs typeface="Segoe UI Semibold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7368" y="886967"/>
            <a:ext cx="11637645" cy="4676140"/>
            <a:chOff x="277368" y="886967"/>
            <a:chExt cx="11637645" cy="46761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368" y="886967"/>
              <a:ext cx="11637263" cy="46756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200" y="1162049"/>
              <a:ext cx="146050" cy="1555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000" y="1606550"/>
              <a:ext cx="168275" cy="13652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374135" y="1597025"/>
            <a:ext cx="4394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166533"/>
                </a:solidFill>
                <a:latin typeface="Segoe UI Semibold"/>
                <a:cs typeface="Segoe UI Semibold"/>
              </a:rPr>
              <a:t>Enabled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9300" y="1130300"/>
            <a:ext cx="4898390" cy="1313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Critical Security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Controls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200">
              <a:latin typeface="Segoe UI"/>
              <a:cs typeface="Segoe UI"/>
            </a:endParaRPr>
          </a:p>
          <a:p>
            <a:pPr marL="255270">
              <a:lnSpc>
                <a:spcPct val="100000"/>
              </a:lnSpc>
            </a:pPr>
            <a:r>
              <a:rPr sz="10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BlockUserInput</a:t>
            </a:r>
            <a:endParaRPr sz="1050">
              <a:latin typeface="Segoe UI Semibold"/>
              <a:cs typeface="Segoe UI Semibold"/>
            </a:endParaRPr>
          </a:p>
          <a:p>
            <a:pPr marL="12700" marR="5080">
              <a:lnSpc>
                <a:spcPct val="111100"/>
              </a:lnSpc>
              <a:spcBef>
                <a:spcPts val="65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PSM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blocks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user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input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during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login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until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SendPID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is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called.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This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prevents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user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interference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during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credential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entry.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900">
              <a:latin typeface="Segoe UI"/>
              <a:cs typeface="Segoe UI"/>
            </a:endParaRPr>
          </a:p>
          <a:p>
            <a:pPr marL="196215" indent="-114300">
              <a:lnSpc>
                <a:spcPct val="100000"/>
              </a:lnSpc>
              <a:buFont typeface="MS PGothic"/>
              <a:buChar char="✓"/>
              <a:tabLst>
                <a:tab pos="196215" algn="l"/>
              </a:tabLst>
            </a:pPr>
            <a:r>
              <a:rPr sz="800" b="1" dirty="0">
                <a:solidFill>
                  <a:srgbClr val="465469"/>
                </a:solidFill>
                <a:latin typeface="Segoe UI"/>
                <a:cs typeface="Segoe UI"/>
              </a:rPr>
              <a:t>Best</a:t>
            </a:r>
            <a:r>
              <a:rPr sz="800" b="1" spc="6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b="1" dirty="0">
                <a:solidFill>
                  <a:srgbClr val="465469"/>
                </a:solidFill>
                <a:latin typeface="Segoe UI"/>
                <a:cs typeface="Segoe UI"/>
              </a:rPr>
              <a:t>Practice:</a:t>
            </a:r>
            <a:r>
              <a:rPr sz="800" b="1" spc="6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Keep</a:t>
            </a:r>
            <a:r>
              <a:rPr sz="800" spc="6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BlockUserInput</a:t>
            </a:r>
            <a:r>
              <a:rPr sz="800" spc="6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enabled</a:t>
            </a:r>
            <a:r>
              <a:rPr sz="800" spc="6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unless</a:t>
            </a:r>
            <a:r>
              <a:rPr sz="800" spc="6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user</a:t>
            </a:r>
            <a:r>
              <a:rPr sz="800" spc="6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input</a:t>
            </a:r>
            <a:r>
              <a:rPr sz="800" spc="6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is</a:t>
            </a:r>
            <a:r>
              <a:rPr sz="800" spc="6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required</a:t>
            </a:r>
            <a:r>
              <a:rPr sz="800" spc="6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during</a:t>
            </a:r>
            <a:r>
              <a:rPr sz="800" spc="6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465469"/>
                </a:solidFill>
                <a:latin typeface="Segoe UI"/>
                <a:cs typeface="Segoe UI"/>
              </a:rPr>
              <a:t>login</a:t>
            </a:r>
            <a:endParaRPr sz="800">
              <a:latin typeface="Segoe UI"/>
              <a:cs typeface="Segoe U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2000" y="2930525"/>
            <a:ext cx="133350" cy="13652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430389" y="2921000"/>
            <a:ext cx="3835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91400D"/>
                </a:solidFill>
                <a:latin typeface="Segoe UI Semibold"/>
                <a:cs typeface="Segoe UI Semibold"/>
              </a:rPr>
              <a:t>Critical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9300" y="2901950"/>
            <a:ext cx="5055870" cy="865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D3A5E"/>
                </a:solidFill>
                <a:latin typeface="Segoe UI Semibold"/>
                <a:cs typeface="Segoe UI Semibold"/>
              </a:rPr>
              <a:t>SendPID</a:t>
            </a:r>
            <a:r>
              <a:rPr sz="1050" spc="-45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10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Timing</a:t>
            </a:r>
            <a:endParaRPr sz="1050">
              <a:latin typeface="Segoe UI Semibold"/>
              <a:cs typeface="Segoe UI Semibold"/>
            </a:endParaRPr>
          </a:p>
          <a:p>
            <a:pPr marL="12700" marR="5080">
              <a:lnSpc>
                <a:spcPct val="111100"/>
              </a:lnSpc>
              <a:spcBef>
                <a:spcPts val="72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Call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SendPID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only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AFTER login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procedure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completes to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ensure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user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input is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blocked</a:t>
            </a:r>
            <a:r>
              <a:rPr sz="900" spc="-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correctly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during automation.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900">
              <a:latin typeface="Segoe UI"/>
              <a:cs typeface="Segoe UI"/>
            </a:endParaRPr>
          </a:p>
          <a:p>
            <a:pPr marL="88900">
              <a:lnSpc>
                <a:spcPct val="100000"/>
              </a:lnSpc>
            </a:pPr>
            <a:r>
              <a:rPr sz="800" dirty="0">
                <a:solidFill>
                  <a:srgbClr val="465469"/>
                </a:solidFill>
                <a:latin typeface="Segoe UI Emoji"/>
                <a:cs typeface="Segoe UI Emoji"/>
              </a:rPr>
              <a:t>⚠</a:t>
            </a:r>
            <a:r>
              <a:rPr sz="800" spc="60" dirty="0">
                <a:solidFill>
                  <a:srgbClr val="465469"/>
                </a:solidFill>
                <a:latin typeface="Segoe UI Emoji"/>
                <a:cs typeface="Segoe UI Emoji"/>
              </a:rPr>
              <a:t> </a:t>
            </a:r>
            <a:r>
              <a:rPr sz="800" b="1" dirty="0">
                <a:solidFill>
                  <a:srgbClr val="465469"/>
                </a:solidFill>
                <a:latin typeface="Segoe UI"/>
                <a:cs typeface="Segoe UI"/>
              </a:rPr>
              <a:t>Important:</a:t>
            </a:r>
            <a:r>
              <a:rPr sz="800" b="1" spc="6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SendPID</a:t>
            </a:r>
            <a:r>
              <a:rPr sz="800" spc="6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must</a:t>
            </a:r>
            <a:r>
              <a:rPr sz="800" spc="6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be</a:t>
            </a:r>
            <a:r>
              <a:rPr sz="800" spc="6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called</a:t>
            </a:r>
            <a:r>
              <a:rPr sz="800" spc="6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after</a:t>
            </a:r>
            <a:r>
              <a:rPr sz="800" spc="6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login</a:t>
            </a:r>
            <a:r>
              <a:rPr sz="800" spc="6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465469"/>
                </a:solidFill>
                <a:latin typeface="Segoe UI"/>
                <a:cs typeface="Segoe UI"/>
              </a:rPr>
              <a:t>completes</a:t>
            </a:r>
            <a:endParaRPr sz="800">
              <a:latin typeface="Segoe UI"/>
              <a:cs typeface="Segoe U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53175" y="1606550"/>
            <a:ext cx="133350" cy="13652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033728" y="1597025"/>
            <a:ext cx="3708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166533"/>
                </a:solidFill>
                <a:latin typeface="Segoe UI Semibold"/>
                <a:cs typeface="Segoe UI Semibold"/>
              </a:rPr>
              <a:t>Secure</a:t>
            </a:r>
            <a:endParaRPr sz="900">
              <a:latin typeface="Segoe UI Semibold"/>
              <a:cs typeface="Segoe UI Semibol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40475" y="1587500"/>
            <a:ext cx="4660265" cy="4197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Password</a:t>
            </a:r>
            <a:r>
              <a:rPr sz="105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1050" spc="-10" dirty="0">
                <a:solidFill>
                  <a:srgbClr val="1D3A5E"/>
                </a:solidFill>
                <a:latin typeface="Segoe UI Semibold"/>
                <a:cs typeface="Segoe UI Semibold"/>
              </a:rPr>
              <a:t>Protection</a:t>
            </a:r>
            <a:endParaRPr sz="10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Ensure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password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used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by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PSM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Universal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Connector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cannot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be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exposed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00" spc="-2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user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interface.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16675" y="2139950"/>
            <a:ext cx="254825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0014" indent="-114300">
              <a:lnSpc>
                <a:spcPct val="100000"/>
              </a:lnSpc>
              <a:spcBef>
                <a:spcPts val="125"/>
              </a:spcBef>
              <a:buFont typeface="MS PGothic"/>
              <a:buChar char="✓"/>
              <a:tabLst>
                <a:tab pos="120014" algn="l"/>
              </a:tabLst>
            </a:pPr>
            <a:r>
              <a:rPr sz="800" b="1" dirty="0">
                <a:solidFill>
                  <a:srgbClr val="465469"/>
                </a:solidFill>
                <a:latin typeface="Segoe UI"/>
                <a:cs typeface="Segoe UI"/>
              </a:rPr>
              <a:t>Best</a:t>
            </a:r>
            <a:r>
              <a:rPr sz="800" b="1" spc="5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b="1" dirty="0">
                <a:solidFill>
                  <a:srgbClr val="465469"/>
                </a:solidFill>
                <a:latin typeface="Segoe UI"/>
                <a:cs typeface="Segoe UI"/>
              </a:rPr>
              <a:t>Practice:</a:t>
            </a:r>
            <a:r>
              <a:rPr sz="800" b="1" spc="5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Never</a:t>
            </a:r>
            <a:r>
              <a:rPr sz="800" spc="5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display</a:t>
            </a:r>
            <a:r>
              <a:rPr sz="800" spc="5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passwords</a:t>
            </a:r>
            <a:r>
              <a:rPr sz="800" spc="5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in</a:t>
            </a:r>
            <a:r>
              <a:rPr sz="800" spc="5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UI</a:t>
            </a:r>
            <a:r>
              <a:rPr sz="800" spc="5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or</a:t>
            </a:r>
            <a:r>
              <a:rPr sz="800" spc="5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spc="-20" dirty="0">
                <a:solidFill>
                  <a:srgbClr val="465469"/>
                </a:solidFill>
                <a:latin typeface="Segoe UI"/>
                <a:cs typeface="Segoe UI"/>
              </a:rPr>
              <a:t>logs</a:t>
            </a:r>
            <a:endParaRPr sz="800">
              <a:latin typeface="Segoe UI"/>
              <a:cs typeface="Segoe U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353175" y="2768600"/>
            <a:ext cx="117475" cy="13652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533356" y="2749550"/>
            <a:ext cx="12522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D3A5E"/>
                </a:solidFill>
                <a:latin typeface="Segoe UI Semibold"/>
                <a:cs typeface="Segoe UI Semibold"/>
              </a:rPr>
              <a:t>Clean</a:t>
            </a:r>
            <a:r>
              <a:rPr sz="1050" spc="-4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1050" dirty="0">
                <a:solidFill>
                  <a:srgbClr val="1D3A5E"/>
                </a:solidFill>
                <a:latin typeface="Segoe UI Semibold"/>
                <a:cs typeface="Segoe UI Semibold"/>
              </a:rPr>
              <a:t>Sensitive</a:t>
            </a:r>
            <a:r>
              <a:rPr sz="1050" spc="-40" dirty="0">
                <a:solidFill>
                  <a:srgbClr val="1D3A5E"/>
                </a:solidFill>
                <a:latin typeface="Segoe UI Semibold"/>
                <a:cs typeface="Segoe UI Semibold"/>
              </a:rPr>
              <a:t> </a:t>
            </a:r>
            <a:r>
              <a:rPr sz="1050" spc="-20" dirty="0">
                <a:solidFill>
                  <a:srgbClr val="1D3A5E"/>
                </a:solidFill>
                <a:latin typeface="Segoe UI Semibold"/>
                <a:cs typeface="Segoe UI Semibold"/>
              </a:rPr>
              <a:t>Data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40475" y="2759075"/>
            <a:ext cx="5064125" cy="703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991B1B"/>
                </a:solidFill>
                <a:latin typeface="Segoe UI Semibold"/>
                <a:cs typeface="Segoe UI Semibold"/>
              </a:rPr>
              <a:t>Critical</a:t>
            </a:r>
            <a:endParaRPr sz="9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Make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sure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sensitive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data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is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not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saved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to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disk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during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the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session;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clean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data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as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part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of</a:t>
            </a:r>
            <a:r>
              <a:rPr sz="900" spc="-15" dirty="0">
                <a:solidFill>
                  <a:srgbClr val="64738B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4738B"/>
                </a:solidFill>
                <a:latin typeface="Segoe UI"/>
                <a:cs typeface="Segoe UI"/>
              </a:rPr>
              <a:t>AutoIt</a:t>
            </a:r>
            <a:r>
              <a:rPr sz="900" spc="-10" dirty="0">
                <a:solidFill>
                  <a:srgbClr val="64738B"/>
                </a:solidFill>
                <a:latin typeface="Segoe UI"/>
                <a:cs typeface="Segoe UI"/>
              </a:rPr>
              <a:t> script.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900">
              <a:latin typeface="Segoe UI"/>
              <a:cs typeface="Segoe UI"/>
            </a:endParaRPr>
          </a:p>
          <a:p>
            <a:pPr marL="88900">
              <a:lnSpc>
                <a:spcPct val="100000"/>
              </a:lnSpc>
            </a:pPr>
            <a:r>
              <a:rPr sz="800" dirty="0">
                <a:solidFill>
                  <a:srgbClr val="465469"/>
                </a:solidFill>
                <a:latin typeface="Segoe UI Emoji"/>
                <a:cs typeface="Segoe UI Emoji"/>
              </a:rPr>
              <a:t>⚠</a:t>
            </a:r>
            <a:r>
              <a:rPr sz="800" spc="50" dirty="0">
                <a:solidFill>
                  <a:srgbClr val="465469"/>
                </a:solidFill>
                <a:latin typeface="Segoe UI Emoji"/>
                <a:cs typeface="Segoe UI Emoji"/>
              </a:rPr>
              <a:t> </a:t>
            </a:r>
            <a:r>
              <a:rPr sz="800" b="1" dirty="0">
                <a:solidFill>
                  <a:srgbClr val="465469"/>
                </a:solidFill>
                <a:latin typeface="Segoe UI"/>
                <a:cs typeface="Segoe UI"/>
              </a:rPr>
              <a:t>Critical:</a:t>
            </a:r>
            <a:r>
              <a:rPr sz="800" b="1" spc="5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Clean</a:t>
            </a:r>
            <a:r>
              <a:rPr sz="800" spc="5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sensitive</a:t>
            </a:r>
            <a:r>
              <a:rPr sz="800" spc="5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data</a:t>
            </a:r>
            <a:r>
              <a:rPr sz="800" spc="5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from</a:t>
            </a:r>
            <a:r>
              <a:rPr sz="800" spc="5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disk</a:t>
            </a:r>
            <a:r>
              <a:rPr sz="800" spc="50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465469"/>
                </a:solidFill>
                <a:latin typeface="Segoe UI"/>
                <a:cs typeface="Segoe UI"/>
              </a:rPr>
              <a:t>after</a:t>
            </a:r>
            <a:r>
              <a:rPr sz="800" spc="55" dirty="0">
                <a:solidFill>
                  <a:srgbClr val="465469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465469"/>
                </a:solidFill>
                <a:latin typeface="Segoe UI"/>
                <a:cs typeface="Segoe UI"/>
              </a:rPr>
              <a:t>session</a:t>
            </a:r>
            <a:endParaRPr sz="800">
              <a:latin typeface="Segoe UI"/>
              <a:cs typeface="Segoe U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81025" y="4591050"/>
            <a:ext cx="152400" cy="663575"/>
            <a:chOff x="581025" y="4591050"/>
            <a:chExt cx="152400" cy="663575"/>
          </a:xfrm>
        </p:grpSpPr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1025" y="4591050"/>
              <a:ext cx="152400" cy="1524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1025" y="4889500"/>
              <a:ext cx="114300" cy="11747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1025" y="5137150"/>
              <a:ext cx="114300" cy="117475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96925" y="4559300"/>
            <a:ext cx="2480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3A5E"/>
                </a:solidFill>
                <a:latin typeface="Segoe UI"/>
                <a:cs typeface="Segoe UI"/>
              </a:rPr>
              <a:t>Security Implementation </a:t>
            </a:r>
            <a:r>
              <a:rPr sz="1200" b="1" spc="-10" dirty="0">
                <a:solidFill>
                  <a:srgbClr val="1D3A5E"/>
                </a:solidFill>
                <a:latin typeface="Segoe UI"/>
                <a:cs typeface="Segoe UI"/>
              </a:rPr>
              <a:t>Checklist</a:t>
            </a:r>
            <a:endParaRPr sz="1200">
              <a:latin typeface="Segoe UI"/>
              <a:cs typeface="Segoe UI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720725" y="4877283"/>
          <a:ext cx="9697084" cy="398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1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6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8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2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7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93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90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Enable BlockUserInput during </a:t>
                      </a:r>
                      <a:r>
                        <a:rPr sz="900" spc="-1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login</a:t>
                      </a:r>
                      <a:endParaRPr sz="900">
                        <a:latin typeface="Segoe UI"/>
                        <a:cs typeface="Segoe UI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90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Call</a:t>
                      </a:r>
                      <a:r>
                        <a:rPr sz="900" spc="-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0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SendPID</a:t>
                      </a:r>
                      <a:r>
                        <a:rPr sz="900" spc="-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0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after</a:t>
                      </a:r>
                      <a:r>
                        <a:rPr sz="900" spc="-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0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login</a:t>
                      </a:r>
                      <a:r>
                        <a:rPr sz="900" spc="-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00" spc="-1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completes</a:t>
                      </a:r>
                      <a:endParaRPr sz="900">
                        <a:latin typeface="Segoe UI"/>
                        <a:cs typeface="Segoe UI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90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Hide</a:t>
                      </a:r>
                      <a:r>
                        <a:rPr sz="900" spc="-2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0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passwords</a:t>
                      </a:r>
                      <a:r>
                        <a:rPr sz="900" spc="-1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0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from</a:t>
                      </a:r>
                      <a:r>
                        <a:rPr sz="900" spc="-1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0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UI</a:t>
                      </a:r>
                      <a:r>
                        <a:rPr sz="900" spc="-1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00" spc="-1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exposure</a:t>
                      </a:r>
                      <a:endParaRPr sz="900">
                        <a:latin typeface="Segoe UI"/>
                        <a:cs typeface="Segoe UI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90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Clean</a:t>
                      </a:r>
                      <a:r>
                        <a:rPr sz="900" spc="-2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0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sensitive</a:t>
                      </a:r>
                      <a:r>
                        <a:rPr sz="900" spc="-2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0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r>
                        <a:rPr sz="900" spc="-2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0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from</a:t>
                      </a:r>
                      <a:r>
                        <a:rPr sz="900" spc="-2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disk</a:t>
                      </a:r>
                      <a:endParaRPr sz="900">
                        <a:latin typeface="Segoe UI"/>
                        <a:cs typeface="Segoe UI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90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Use</a:t>
                      </a:r>
                      <a:r>
                        <a:rPr sz="900" spc="-1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0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secure</a:t>
                      </a:r>
                      <a:r>
                        <a:rPr sz="900" spc="-1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0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credential</a:t>
                      </a:r>
                      <a:r>
                        <a:rPr sz="900" spc="-1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00" spc="-1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handling</a:t>
                      </a:r>
                      <a:endParaRPr sz="900">
                        <a:latin typeface="Segoe UI"/>
                        <a:cs typeface="Segoe UI"/>
                      </a:endParaRPr>
                    </a:p>
                  </a:txBody>
                  <a:tcPr marL="0" marR="0" marT="889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 marL="31750">
                        <a:lnSpc>
                          <a:spcPts val="1025"/>
                        </a:lnSpc>
                        <a:spcBef>
                          <a:spcPts val="445"/>
                        </a:spcBef>
                      </a:pPr>
                      <a:r>
                        <a:rPr sz="90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Implement</a:t>
                      </a:r>
                      <a:r>
                        <a:rPr sz="900" spc="-1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0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proper</a:t>
                      </a:r>
                      <a:r>
                        <a:rPr sz="900" spc="-1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0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session</a:t>
                      </a:r>
                      <a:r>
                        <a:rPr sz="900" spc="-1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cleanup</a:t>
                      </a:r>
                      <a:endParaRPr sz="900">
                        <a:latin typeface="Segoe UI"/>
                        <a:cs typeface="Segoe UI"/>
                      </a:endParaRPr>
                    </a:p>
                  </a:txBody>
                  <a:tcPr marL="0" marR="0" marT="56515" marB="0"/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ts val="1025"/>
                        </a:lnSpc>
                        <a:spcBef>
                          <a:spcPts val="445"/>
                        </a:spcBef>
                      </a:pPr>
                      <a:r>
                        <a:rPr sz="900" spc="-1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Validate</a:t>
                      </a:r>
                      <a:r>
                        <a:rPr sz="90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window </a:t>
                      </a:r>
                      <a:r>
                        <a:rPr sz="900" spc="-1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titles/classes</a:t>
                      </a:r>
                      <a:endParaRPr sz="900">
                        <a:latin typeface="Segoe UI"/>
                        <a:cs typeface="Segoe UI"/>
                      </a:endParaRPr>
                    </a:p>
                  </a:txBody>
                  <a:tcPr marL="0" marR="0" marT="56515" marB="0"/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025"/>
                        </a:lnSpc>
                        <a:spcBef>
                          <a:spcPts val="445"/>
                        </a:spcBef>
                      </a:pPr>
                      <a:r>
                        <a:rPr sz="90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Use</a:t>
                      </a:r>
                      <a:r>
                        <a:rPr sz="900" spc="-15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0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compiled</a:t>
                      </a:r>
                      <a:r>
                        <a:rPr sz="900" spc="-1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0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.exe</a:t>
                      </a:r>
                      <a:r>
                        <a:rPr sz="900" spc="-1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90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sz="900" spc="-10" dirty="0">
                          <a:solidFill>
                            <a:srgbClr val="334054"/>
                          </a:solidFill>
                          <a:latin typeface="Segoe UI"/>
                          <a:cs typeface="Segoe UI"/>
                        </a:rPr>
                        <a:t> deployment</a:t>
                      </a:r>
                      <a:endParaRPr sz="900">
                        <a:latin typeface="Segoe UI"/>
                        <a:cs typeface="Segoe UI"/>
                      </a:endParaRPr>
                    </a:p>
                  </a:txBody>
                  <a:tcPr marL="0" marR="0" marT="565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7" name="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00927" y="4889500"/>
            <a:ext cx="114300" cy="11747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86903" y="4889500"/>
            <a:ext cx="114300" cy="11747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827491" y="4889500"/>
            <a:ext cx="114300" cy="117475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670426" y="4889500"/>
            <a:ext cx="114300" cy="117475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63275" y="5137150"/>
            <a:ext cx="114300" cy="117475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90294" y="5137150"/>
            <a:ext cx="114300" cy="1174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7B1C5-A5D3-45E3-AF4C-66D59622D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85D2-B8F6-4486-25CB-D660DBEA44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577341"/>
            <a:ext cx="11506200" cy="4431983"/>
          </a:xfrm>
        </p:spPr>
        <p:txBody>
          <a:bodyPr/>
          <a:lstStyle/>
          <a:p>
            <a:r>
              <a:rPr lang="en-US" sz="1200" dirty="0"/>
              <a:t>https://docs.cyberark.com/pam-self-hosted/latest/en/content/pasimp/psm_connectors.htm</a:t>
            </a:r>
          </a:p>
          <a:p>
            <a:endParaRPr lang="en-US" sz="1200" dirty="0"/>
          </a:p>
          <a:p>
            <a:r>
              <a:rPr lang="en-US" sz="1200" dirty="0"/>
              <a:t>https://docs.cyberark.com/pam-self-hosted/latest/en/content/pasimp/psm_cc_connection_components.htm</a:t>
            </a:r>
          </a:p>
          <a:p>
            <a:endParaRPr lang="en-US" sz="1200" dirty="0"/>
          </a:p>
          <a:p>
            <a:r>
              <a:rPr lang="en-US" sz="1200" dirty="0"/>
              <a:t>https://docs.cyberark.com/pam-self-hosted/latest/en/content/psm/psm_universalconnectors.htm</a:t>
            </a:r>
          </a:p>
          <a:p>
            <a:endParaRPr lang="en-US" sz="1200" dirty="0"/>
          </a:p>
          <a:p>
            <a:r>
              <a:rPr lang="en-US" sz="1200" dirty="0"/>
              <a:t>https://community.cyberark.com/s/article/Creating-a-CyberArk-Privileged-Session-Manager-Connection-Component-for-a-Web-Application</a:t>
            </a:r>
          </a:p>
          <a:p>
            <a:endParaRPr lang="en-US" sz="1200" dirty="0"/>
          </a:p>
          <a:p>
            <a:r>
              <a:rPr lang="en-US" sz="1200" dirty="0"/>
              <a:t>https://docs.cyberark.com/pam-self-hosted/latest/en/content/pasimp/psm_develop_universal_connector.htm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https://docs.cyberark.com/pam-self-hosted/latest/en/content/pasimp/psm_webapplication.htm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https://docs.cyberark.com/pam-self-hosted/latest/en/content/pasimp/configurepsmuniversalconnector.htm</a:t>
            </a:r>
          </a:p>
          <a:p>
            <a:endParaRPr lang="en-US" sz="1200" dirty="0"/>
          </a:p>
          <a:p>
            <a:r>
              <a:rPr lang="en-US" sz="1200" dirty="0"/>
              <a:t>https://docs.cyberark.com/pam-self-hosted/latest/en/content/webservices/importconncomponent.htm</a:t>
            </a:r>
          </a:p>
          <a:p>
            <a:endParaRPr lang="en-US" sz="1200" dirty="0"/>
          </a:p>
          <a:p>
            <a:r>
              <a:rPr lang="en-US" sz="1200" dirty="0"/>
              <a:t>https://docs.cyberark.com/pam-self-hosted/latest/en/content/pasimp/psm_configure_universal_connector.htm</a:t>
            </a:r>
          </a:p>
          <a:p>
            <a:endParaRPr lang="en-US" sz="1200" dirty="0"/>
          </a:p>
          <a:p>
            <a:r>
              <a:rPr lang="en-US" sz="1200" dirty="0"/>
              <a:t>===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DF7DC67-3BDA-D607-9C89-D71BE422C4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4476267"/>
              </p:ext>
            </p:extLst>
          </p:nvPr>
        </p:nvGraphicFramePr>
        <p:xfrm>
          <a:off x="5105400" y="3168650"/>
          <a:ext cx="19812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981058" imgH="517956" progId="Package">
                  <p:embed/>
                </p:oleObj>
              </mc:Choice>
              <mc:Fallback>
                <p:oleObj name="Packager Shell Object" showAsIcon="1" r:id="rId2" imgW="1981058" imgH="51795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05400" y="3168650"/>
                        <a:ext cx="1981200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1840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994</TotalTime>
  <Words>4548</Words>
  <Application>Microsoft Office PowerPoint</Application>
  <PresentationFormat>Widescreen</PresentationFormat>
  <Paragraphs>728</Paragraphs>
  <Slides>26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40" baseType="lpstr">
      <vt:lpstr>MS PGothic</vt:lpstr>
      <vt:lpstr>Arial</vt:lpstr>
      <vt:lpstr>Calibri</vt:lpstr>
      <vt:lpstr>Consolas</vt:lpstr>
      <vt:lpstr>Courier New</vt:lpstr>
      <vt:lpstr>Gill Sans MT</vt:lpstr>
      <vt:lpstr>Microsoft Sans Serif</vt:lpstr>
      <vt:lpstr>Segoe UI</vt:lpstr>
      <vt:lpstr>Segoe UI Black</vt:lpstr>
      <vt:lpstr>Segoe UI Emoji</vt:lpstr>
      <vt:lpstr>Segoe UI Semibold</vt:lpstr>
      <vt:lpstr>Times New Roman</vt:lpstr>
      <vt:lpstr>Office Theme</vt:lpstr>
      <vt:lpstr>Package</vt:lpstr>
      <vt:lpstr>PowerPoint Presentation</vt:lpstr>
      <vt:lpstr>PowerPoint Presentation</vt:lpstr>
      <vt:lpstr>PSM Connectors &amp; Connection Components</vt:lpstr>
      <vt:lpstr>OOTB vs Custom Universal Connectors</vt:lpstr>
      <vt:lpstr>Prerequisites: AutoIt3 v3.3.14.2</vt:lpstr>
      <vt:lpstr>Security Considerations: .au3 vs Compiled .exe</vt:lpstr>
      <vt:lpstr>Development Machine Setup</vt:lpstr>
      <vt:lpstr>PSMAutoItDispatcherSkeleton.au3  Overview</vt:lpstr>
      <vt:lpstr>PSM Custom Connector Development Editing $CLIENT_EXECUTABLE Path</vt:lpstr>
      <vt:lpstr>Main() Function Logic</vt:lpstr>
      <vt:lpstr>Code Structure Best Practices</vt:lpstr>
      <vt:lpstr>API: Init and Term Functions</vt:lpstr>
      <vt:lpstr>LogWrite API and LogLevel Constants</vt:lpstr>
      <vt:lpstr>GetSessionProperty  API</vt:lpstr>
      <vt:lpstr>SendPID API and Session Monitoring</vt:lpstr>
      <vt:lpstr>MapTSDrives API Function</vt:lpstr>
      <vt:lpstr>Testing: PSMGenericClientDriver Setup</vt:lpstr>
      <vt:lpstr>Sample PSMGenericClientDriver.xml</vt:lpstr>
      <vt:lpstr>Testing: Running and Debugging</vt:lpstr>
      <vt:lpstr>Packaging the Connector</vt:lpstr>
      <vt:lpstr>package.json for AppLocker</vt:lpstr>
      <vt:lpstr>Deployment Strategy: Single PSM (Manual)</vt:lpstr>
      <vt:lpstr>Shared/Automatic Deployment Strategy</vt:lpstr>
      <vt:lpstr>Deploy-Connectors.ps1 - Test Deployment</vt:lpstr>
      <vt:lpstr>Security Best Practices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Genspark</dc:title>
  <cp:lastModifiedBy>Sarbe Ss</cp:lastModifiedBy>
  <cp:revision>2</cp:revision>
  <dcterms:created xsi:type="dcterms:W3CDTF">2026-04-06T03:22:33Z</dcterms:created>
  <dcterms:modified xsi:type="dcterms:W3CDTF">2026-04-06T20:04:37Z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2026-04-06T00:00:00Z</vt:filetime>
  </property>
  <property fmtid="{D5CDD505-2E9C-101B-9397-08002B2CF9AE}" pid="3" name="Creator">
    <vt:lpwstr>Mozilla/5.0 (Windows NT 10.0; Win64; x64) AppleWebKit/537.36 (KHTML, like Gecko) HeadlessChrome/146.0.0.0 Safari/537.36</vt:lpwstr>
  </property>
  <property fmtid="{D5CDD505-2E9C-101B-9397-08002B2CF9AE}" pid="4" name="LastSaved">
    <vt:filetime>2026-04-06T00:00:00Z</vt:filetime>
  </property>
  <property fmtid="{D5CDD505-2E9C-101B-9397-08002B2CF9AE}" pid="5" name="Producer">
    <vt:lpwstr>3-Heights(TM) PDF Security Shell 4.8.25.2 (http://www.pdf-tools.com)</vt:lpwstr>
  </property>
</Properties>
</file>